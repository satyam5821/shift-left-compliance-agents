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3A4D3-F198-5073-DD0E-643B6A577FC8}" v="15" dt="2026-05-15T07:56:50.426"/>
    <p1510:client id="{33C63EAA-6D0B-2A33-3290-5BDA473E08C2}" v="1052" dt="2026-05-15T07:54:33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20204ca12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e20204ca12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 (Title)</a:t>
            </a:r>
            <a:br>
              <a:rPr lang="en"/>
            </a:br>
            <a:r>
              <a:rPr lang="en"/>
              <a:t>Welcome the panel. Introduce the project: "Shift-Left Compliance Agents is a full-stack DevSecOps automation platform I built during my internship. It automatically detects code quality and security issues, generates AI-powered fixes, applies them via GitHub, and tracks everything on a live dashboard." State the agenda and approximate 15-minute duration.</a:t>
            </a:r>
            <a:endParaRPr/>
          </a:p>
        </p:txBody>
      </p:sp>
      <p:sp>
        <p:nvSpPr>
          <p:cNvPr id="55" name="Google Shape;55;g3e20204ca12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20204ca12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3e20204ca12_2_2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2 (Problem)</a:t>
            </a:r>
            <a:br>
              <a:rPr lang="en"/>
            </a:br>
            <a:r>
              <a:rPr lang="en"/>
              <a:t>Security and compliance bugs are most expensive when caught late. The traditional approach — write code, merge, run CI, get scan report, raise manual ticket, assign developer, fix months later — is slow and error-prone. This project directly addresses that gap.</a:t>
            </a:r>
            <a:endParaRPr/>
          </a:p>
        </p:txBody>
      </p:sp>
      <p:sp>
        <p:nvSpPr>
          <p:cNvPr id="80" name="Google Shape;80;g3e20204ca12_2_2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20204ca12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e20204ca12_2_7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3 (Shift-Left)</a:t>
            </a:r>
            <a:br>
              <a:rPr lang="en"/>
            </a:br>
            <a:r>
              <a:rPr lang="en"/>
              <a:t>Explain the concept clearly. In traditional dev, security is the last gate before release. Shift-left moves it to build/code time. Concrete example: "Instead of a JIRA ticket raised three weeks after code is merged, the developer sees a fix suggested in a PR the moment their pipeline runs."</a:t>
            </a:r>
            <a:endParaRPr/>
          </a:p>
        </p:txBody>
      </p:sp>
      <p:sp>
        <p:nvSpPr>
          <p:cNvPr id="128" name="Google Shape;128;g3e20204ca12_2_7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20204ca12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3e20204ca12_2_13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4 (Objectives)</a:t>
            </a:r>
            <a:br>
              <a:rPr lang="en"/>
            </a:br>
            <a:r>
              <a:rPr lang="en"/>
              <a:t>Six clear objectives define the project scope. Highlight that this is NOT just a static analysis dashboard — it closes the loop: scan → AI fix → GitHub PR → build validation → analytics.</a:t>
            </a:r>
            <a:endParaRPr/>
          </a:p>
        </p:txBody>
      </p:sp>
      <p:sp>
        <p:nvSpPr>
          <p:cNvPr id="188" name="Google Shape;188;g3e20204ca12_2_13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20204ca12_2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e20204ca12_2_19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5 (Architecture)</a:t>
            </a:r>
            <a:br>
              <a:rPr lang="en"/>
            </a:br>
            <a:r>
              <a:rPr lang="en"/>
              <a:t>Walk through the flow left to right. "A developer pushes code. GitHub Actions runs CI including SonarCloud scan. When the workflow completes, GitHub sends a webhook POST to our FastAPI backend. The backend authenticates the webhook, pulls issues from SonarCloud, generates fixes via OpenRouter LLM, applies them to a new branch using GitHub APIs, and records everything in MongoDB. The React dashboard polls this data to show live status."</a:t>
            </a:r>
            <a:endParaRPr/>
          </a:p>
        </p:txBody>
      </p:sp>
      <p:sp>
        <p:nvSpPr>
          <p:cNvPr id="250" name="Google Shape;250;g3e20204ca12_2_19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20204ca12_2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g3e20204ca12_2_28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6 (Tech Stack)</a:t>
            </a:r>
            <a:br>
              <a:rPr lang="en"/>
            </a:br>
            <a:r>
              <a:rPr lang="en"/>
              <a:t>Briefly justify key choices: FastAPI for async performance and auto-generated OpenAPI docs; MongoDB for flexible document storage of heterogeneous scan/fix data; Vite for fast React dev builds. The panel may ask "why not PostgreSQL?" — answer: issue and fix documents have variable shapes; MongoDB's schema-less model is better suited.</a:t>
            </a:r>
            <a:endParaRPr/>
          </a:p>
        </p:txBody>
      </p:sp>
      <p:sp>
        <p:nvSpPr>
          <p:cNvPr id="345" name="Google Shape;345;g3e20204ca12_2_28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20204ca12_2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3e20204ca12_2_37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7 (User Workflow)</a:t>
            </a:r>
            <a:br>
              <a:rPr lang="en"/>
            </a:br>
            <a:r>
              <a:rPr lang="en"/>
              <a:t>This is an end-to-end walkthrough of what a developer actually experiences. Emphasize that steps 4–7 are fully automated — after initial setup, the developer just pushes code and sees a fix PR appear. The only manual action is deciding whether to merge the PR.</a:t>
            </a:r>
            <a:endParaRPr/>
          </a:p>
        </p:txBody>
      </p:sp>
      <p:sp>
        <p:nvSpPr>
          <p:cNvPr id="435" name="Google Shape;435;g3e20204ca12_2_37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e20204ca12_2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8" name="Google Shape;498;g3e20204ca12_2_44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8 (Backend Architecture)</a:t>
            </a:r>
            <a:br>
              <a:rPr lang="en"/>
            </a:br>
            <a:r>
              <a:rPr lang="en"/>
              <a:t>Walk through the four layers: Routes (HTTP endpoints), Clients (external API callers — SonarCloud and GitHub), Services (business logic — LLM prompt building, fix sanitization, patch application), and Core (config/DB/app setup). This separation of concerns makes each part independently testable.</a:t>
            </a:r>
            <a:endParaRPr/>
          </a:p>
        </p:txBody>
      </p:sp>
      <p:sp>
        <p:nvSpPr>
          <p:cNvPr id="499" name="Google Shape;499;g3e20204ca12_2_44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20204ca12_2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g3e20204ca12_2_50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9 (Webhook)</a:t>
            </a:r>
            <a:br>
              <a:rPr lang="en"/>
            </a:br>
            <a:r>
              <a:rPr lang="en"/>
              <a:t>This is the core automation loop. Key security points: webhook signature verification with HMAC-SHA256 prevents fake calls; GitHub App installation tokens are short-lived and scoped to the repo — we never store user repository passwords. The pipeline duration depends on GitHub Actions and SonarCloud scan time.</a:t>
            </a:r>
            <a:endParaRPr/>
          </a:p>
        </p:txBody>
      </p:sp>
      <p:sp>
        <p:nvSpPr>
          <p:cNvPr id="565" name="Google Shape;565;g3e20204ca12_2_50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20204ca12_2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" name="Google Shape;635;g3e20204ca12_2_57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10 (SonarCloud)</a:t>
            </a:r>
            <a:br>
              <a:rPr lang="en"/>
            </a:br>
            <a:r>
              <a:rPr lang="en"/>
              <a:t>We call two SonarCloud endpoints: /api/issues/search (code smells, bugs) and /api/hotspots/search (security hotspots). Each issue has a unique key and component string that maps to the GitHub file path — this mapping is critical for fetching the right code context.</a:t>
            </a:r>
            <a:endParaRPr/>
          </a:p>
        </p:txBody>
      </p:sp>
      <p:sp>
        <p:nvSpPr>
          <p:cNvPr id="636" name="Google Shape;636;g3e20204ca12_2_57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e20204ca12_2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1" name="Google Shape;701;g3e20204ca12_2_64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11 (AI Fix Generation)</a:t>
            </a:r>
            <a:br>
              <a:rPr lang="en"/>
            </a:br>
            <a:r>
              <a:rPr lang="en"/>
              <a:t>Key design decision: the LLM returns JSON, not markdown or prose. This makes the output machine-parseable and allows us to validate every field before any code touches the repository. Also highlight the MongoDB cache — if the same issue appears in the next scan, we reuse the cached fix instead of paying for another LLM call.</a:t>
            </a:r>
            <a:endParaRPr/>
          </a:p>
        </p:txBody>
      </p:sp>
      <p:sp>
        <p:nvSpPr>
          <p:cNvPr id="702" name="Google Shape;702;g3e20204ca12_2_64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e20204ca12_2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1" name="Google Shape;781;g3e20204ca12_2_71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12 (Prompt Engineering)</a:t>
            </a:r>
            <a:br>
              <a:rPr lang="en"/>
            </a:br>
            <a:r>
              <a:rPr lang="en"/>
              <a:t>This is NOT a generic chatbot. The prompt is constructed programmatically from real SonarCloud metadata and actual source code fetched from GitHub. Every prompt includes: the Sonar rule key, the issue message, the exact file path, the affected line number, nearby source code lines, and rule-specific repair guidance. The JSON response format is strictly defined. The panel may ask how you handle hallucinations — answer: if old_code doesn't match the actual source code, the patch is rejected.</a:t>
            </a:r>
            <a:endParaRPr/>
          </a:p>
        </p:txBody>
      </p:sp>
      <p:sp>
        <p:nvSpPr>
          <p:cNvPr id="782" name="Google Shape;782;g3e20204ca12_2_71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e20204ca12_2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5" name="Google Shape;815;g3e20204ca12_2_75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13 (Code Context)</a:t>
            </a:r>
            <a:br>
              <a:rPr lang="en"/>
            </a:br>
            <a:r>
              <a:rPr lang="en"/>
              <a:t>The backend uses GitHub Contents API to fetch the source file and extracts a window of ~20 lines around the issue line number. This context is embedded directly in the prompt. The backend then does a tolerant match: it normalizes whitespace and tries to find old_code in the actual file before applying any change.</a:t>
            </a:r>
            <a:endParaRPr/>
          </a:p>
        </p:txBody>
      </p:sp>
      <p:sp>
        <p:nvSpPr>
          <p:cNvPr id="816" name="Google Shape;816;g3e20204ca12_2_75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e20204ca12_2_8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2" name="Google Shape;872;g3e20204ca12_2_80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14 (Safety Rules)</a:t>
            </a:r>
            <a:br>
              <a:rPr lang="en"/>
            </a:br>
            <a:r>
              <a:rPr lang="en"/>
              <a:t>This slide is important for the panel to understand we're not naively running LLM output on a live codebase. The safety layer is implemented in fixes_service.py and github_apply.py. If any rule is violated, the specific change is skipped and logged to MongoDB. The developer can see exactly which patches were applied, which were skipped, and why.</a:t>
            </a:r>
            <a:endParaRPr/>
          </a:p>
        </p:txBody>
      </p:sp>
      <p:sp>
        <p:nvSpPr>
          <p:cNvPr id="873" name="Google Shape;873;g3e20204ca12_2_80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e20204ca12_2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4" name="Google Shape;924;g3e20204ca12_2_85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15 (Validation Pipeline)</a:t>
            </a:r>
            <a:br>
              <a:rPr lang="en"/>
            </a:br>
            <a:r>
              <a:rPr lang="en"/>
              <a:t>Six layers of validation act as a defense-in-depth approach. Emphasize: the system doesn't just accept whatever SonarCloud or the LLM returns — every layer independently validates before passing to the next. This makes the pipeline robust to network errors, API changes, and LLM hallucinations.</a:t>
            </a:r>
            <a:endParaRPr/>
          </a:p>
        </p:txBody>
      </p:sp>
      <p:sp>
        <p:nvSpPr>
          <p:cNvPr id="925" name="Google Shape;925;g3e20204ca12_2_85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e20204ca12_2_9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5" name="Google Shape;985;g3e20204ca12_2_91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16 (Frontend)</a:t>
            </a:r>
            <a:br>
              <a:rPr lang="en"/>
            </a:br>
            <a:r>
              <a:rPr lang="en"/>
              <a:t>The frontend is a single-page React app with TypeScript. State management uses React hooks and useEffect polling. Recharts handles analytics visualizations. The diff view renders old/new code side by side with color coding, similar to GitHub's PR diff UI. The PDF export captures the dashboard state using html2canvas and writes it with jsPDF.</a:t>
            </a:r>
            <a:endParaRPr/>
          </a:p>
        </p:txBody>
      </p:sp>
      <p:sp>
        <p:nvSpPr>
          <p:cNvPr id="986" name="Google Shape;986;g3e20204ca12_2_91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e20204ca12_2_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5" name="Google Shape;1065;g3e20204ca12_2_99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17 (Database)</a:t>
            </a:r>
            <a:br>
              <a:rPr lang="en"/>
            </a:br>
            <a:r>
              <a:rPr lang="en"/>
              <a:t>MongoDB was chosen because Sonar issue documents have different shapes depending on the rule type, and fix attempt documents grow as we add new operations. A relational schema would require frequent migrations. The "prompts" collection caches the full LLM prompt per issue key to avoid redundant API calls. Key relationship chain: workspace → sonar_connection → scans → scan_issues → scan_fix_attempts.</a:t>
            </a:r>
            <a:endParaRPr/>
          </a:p>
        </p:txBody>
      </p:sp>
      <p:sp>
        <p:nvSpPr>
          <p:cNvPr id="1066" name="Google Shape;1066;g3e20204ca12_2_99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e20204ca12_2_10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7" name="Google Shape;1147;g3e20204ca12_2_107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18 (Security)</a:t>
            </a:r>
            <a:br>
              <a:rPr lang="en"/>
            </a:br>
            <a:r>
              <a:rPr lang="en"/>
              <a:t>Defense-in-depth: authentication (OAuth + JWT), authorization (installation tokens), transport security (webhook HMAC), storage security (Fernet encryption), and output security (AI gating). A common panel question: "What if someone sends a fake webhook?" — answered by HMAC-SHA256 verification using the GitHub webhook secret stored in our backend config.</a:t>
            </a:r>
            <a:endParaRPr/>
          </a:p>
        </p:txBody>
      </p:sp>
      <p:sp>
        <p:nvSpPr>
          <p:cNvPr id="1148" name="Google Shape;1148;g3e20204ca12_2_107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e20204ca12_2_1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7" name="Google Shape;1197;g3e20204ca12_2_112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19 (Demo + Challenges)</a:t>
            </a:r>
            <a:br>
              <a:rPr lang="en"/>
            </a:br>
            <a:r>
              <a:rPr lang="en"/>
              <a:t>Walk through the demo steps in order on a live browser. For the panel: if live demo is not available, show screenshots in order. For challenges: emphasize that the Sonar component → GitHub path mapping was non-trivial (Sonar uses colon-delimited component strings), and that LLM hallucinations required the entire validation pipeline to be built.</a:t>
            </a:r>
            <a:endParaRPr/>
          </a:p>
        </p:txBody>
      </p:sp>
      <p:sp>
        <p:nvSpPr>
          <p:cNvPr id="1198" name="Google Shape;1198;g3e20204ca12_2_112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e20204ca12_2_1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7" name="Google Shape;1267;g3e20204ca12_2_119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 — Slide 20 (Conclusion)</a:t>
            </a:r>
            <a:br>
              <a:rPr lang="en"/>
            </a:br>
            <a:r>
              <a:rPr lang="en"/>
              <a:t>Close by reiterating the core value proposition: "This platform closes the feedback loop between code scanning and remediation — a developer pushes code, gets an AI-generated fix PR automatically, and can see full analytics on their dashboard. The system treats AI as an assistant with guardrails, not as a trusted code committer." Then open for Q&amp;A.</a:t>
            </a:r>
            <a:endParaRPr/>
          </a:p>
        </p:txBody>
      </p:sp>
      <p:sp>
        <p:nvSpPr>
          <p:cNvPr id="1268" name="Google Shape;1268;g3e20204ca12_2_119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85800" y="62179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40080" y="1481328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Shift-Left Compliance Agents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640080" y="2450592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F2FE"/>
              </a:buClr>
              <a:buSzPts val="2100"/>
              <a:buFont typeface="Calibri"/>
              <a:buNone/>
            </a:pPr>
            <a:r>
              <a:rPr lang="en" sz="2100" b="0" i="1" u="none" strike="noStrike" cap="none">
                <a:solidFill>
                  <a:srgbClr val="E0F2FE"/>
                </a:solidFill>
                <a:latin typeface="Calibri"/>
                <a:ea typeface="Calibri"/>
                <a:cs typeface="Calibri"/>
                <a:sym typeface="Calibri"/>
              </a:rPr>
              <a:t>AI-Powered DevSecOps Automation Platform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40080" y="2944368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Final Semester Internship Project Review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40080" y="34564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640080" y="3456432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SonarCloud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993392" y="345643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1993392" y="3456432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OpenRouter LLM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712464" y="345643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3712464" y="34564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Automation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5705856" y="34564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705856" y="345643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6784848" y="345643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784848" y="3456432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7680960" y="34564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680960" y="345643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11480" y="4480560"/>
            <a:ext cx="8732520" cy="662940"/>
          </a:xfrm>
          <a:prstGeom prst="rect">
            <a:avLst/>
          </a:prstGeom>
          <a:solidFill>
            <a:srgbClr val="0A1F3D"/>
          </a:solidFill>
          <a:ln w="12700" cap="flat" cmpd="sng">
            <a:solidFill>
              <a:srgbClr val="0A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411480" y="4480560"/>
            <a:ext cx="8732520" cy="66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" sz="115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DevSecOps  ·  Code Scanning  ·  AI Remediation  ·  GitHub Automation  ·  Build Validation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47472" y="1097280"/>
            <a:ext cx="4133100" cy="1719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347472" y="1097280"/>
            <a:ext cx="50292" cy="1719072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530352" y="1298448"/>
            <a:ext cx="493776" cy="493776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530352" y="1298448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159012" y="1389890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350"/>
              <a:buFont typeface="Calibri"/>
              <a:buNone/>
            </a:pPr>
            <a:r>
              <a:rPr lang="en" sz="13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Security Issues Found Late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273552" y="126187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3273552" y="1261872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High Cost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30339" y="1897370"/>
            <a:ext cx="3804000" cy="138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16664" y="2016215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Bugs found post-release cost up to 30× more to fix than at code-time.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16664" y="2485236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Teams scramble under deadline pressure with poor context.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677153" y="1097243"/>
            <a:ext cx="4133100" cy="1719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681728" y="1097280"/>
            <a:ext cx="50292" cy="171907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4864608" y="1298448"/>
            <a:ext cx="493776" cy="493776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4848600" y="1298500"/>
            <a:ext cx="4938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490943" y="1355602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350"/>
              <a:buFont typeface="Calibri"/>
              <a:buNone/>
            </a:pPr>
            <a:r>
              <a:rPr lang="en" sz="13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Manual Compliance Review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7607808" y="1261872"/>
            <a:ext cx="1005900" cy="237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7607808" y="1261872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Slow Review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846320" y="1897382"/>
            <a:ext cx="3804000" cy="138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850895" y="2016253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Engineers wait days for security review cycles before merging code.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850920" y="2487230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Blocks CI/CD velocity and delays feature delivery.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347472" y="2999232"/>
            <a:ext cx="4133088" cy="17190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347472" y="2999232"/>
            <a:ext cx="50292" cy="171907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30352" y="3200400"/>
            <a:ext cx="493776" cy="493776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530352" y="3200400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1157061" y="3287354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350"/>
              <a:buFont typeface="Calibri"/>
              <a:buNone/>
            </a:pPr>
            <a:r>
              <a:rPr lang="en" sz="13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No Automated Remediation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273552" y="316382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3273552" y="316382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No Fix Guidance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12064" y="3756027"/>
            <a:ext cx="380390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12064" y="392786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Static analysis tools report violations but provide no automated fix.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12064" y="441715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Developers must manually research and implement each fix.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4681728" y="2999232"/>
            <a:ext cx="4133088" cy="17190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4681728" y="2999232"/>
            <a:ext cx="50292" cy="1719072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4864608" y="3200400"/>
            <a:ext cx="493776" cy="493776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4864608" y="3200400"/>
            <a:ext cx="4938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491317" y="3287354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350"/>
              <a:buFont typeface="Calibri"/>
              <a:buNone/>
            </a:pPr>
            <a:r>
              <a:rPr lang="en" sz="13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Fragmented Tooling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7607808" y="316382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7607808" y="3163824"/>
            <a:ext cx="10058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Tool Silos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4867886" y="3777593"/>
            <a:ext cx="380390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4846320" y="3863167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Scan results, fix tickets, and PR workflows live in separate platforms.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813971" y="4417156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unified view creates blind spots and coordination overhead.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What Is Shift-Left Compliance?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347472" y="1115568"/>
            <a:ext cx="1143000" cy="47548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347472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347472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1490472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1563624" y="1115568"/>
            <a:ext cx="1143000" cy="47548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1563624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563624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Write &amp; Commit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2706624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779776" y="1115568"/>
            <a:ext cx="1143000" cy="475488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779776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2779776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 Pipeline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3922776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3995928" y="1115568"/>
            <a:ext cx="1143000" cy="475488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3995928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995928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Unit &amp; Integration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138928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212080" y="1115568"/>
            <a:ext cx="1143000" cy="47548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212080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212080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Pre-prod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355080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428232" y="1115568"/>
            <a:ext cx="1143000" cy="475488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428232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Release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428232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 Deploy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571232" y="1170432"/>
            <a:ext cx="73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644384" y="1115568"/>
            <a:ext cx="1143000" cy="475488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644384" y="11155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644384" y="129844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47472" y="1719072"/>
            <a:ext cx="3639312" cy="5029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347472" y="17739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← Shift checks LEFT (earlier = cheaper)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080760" y="1719072"/>
            <a:ext cx="2423160" cy="50292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6080760" y="177393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Traditional: found here →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347472" y="2121408"/>
            <a:ext cx="2788920" cy="2670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347472" y="2121408"/>
            <a:ext cx="50292" cy="2670048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12064" y="2267712"/>
            <a:ext cx="420624" cy="420624"/>
          </a:xfrm>
          <a:prstGeom prst="ellipse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12064" y="22677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1005840" y="2286000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Traditional Approach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02926" y="2800330"/>
            <a:ext cx="2487300" cy="138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75501" y="2926038"/>
            <a:ext cx="2514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gates at staging or just before release. Issues surface late, context is lost, fixes are rushed and expensive.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3291840" y="2121408"/>
            <a:ext cx="2788920" cy="2670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3291840" y="2121408"/>
            <a:ext cx="50292" cy="267004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3456432" y="2267712"/>
            <a:ext cx="420624" cy="420624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3456432" y="22677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950208" y="2286000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Shift-Left Approach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3515869" y="2800330"/>
            <a:ext cx="2487300" cy="138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3428994" y="2926038"/>
            <a:ext cx="2514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and compliance checks integrated at commit and PR time. Developer fixes issues while context is fresh.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6236208" y="2121408"/>
            <a:ext cx="2788920" cy="26700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6236208" y="2121408"/>
            <a:ext cx="50292" cy="2670048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6400800" y="2267712"/>
            <a:ext cx="420624" cy="420624"/>
          </a:xfrm>
          <a:prstGeom prst="ellipse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6400800" y="22677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6894576" y="2286000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This Platform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6441962" y="2800330"/>
            <a:ext cx="2487300" cy="13800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382512" y="2926038"/>
            <a:ext cx="2514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SonarCloud scan → AI fix → GitHub PR created automatically within minutes of a code push. Zero manual tickets.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47472" y="1078992"/>
            <a:ext cx="2788920" cy="16642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347472" y="1078992"/>
            <a:ext cx="50292" cy="1664208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12064" y="1243584"/>
            <a:ext cx="475488" cy="475488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512064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1060704" y="1243584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Automated Scanning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493776" y="1786099"/>
            <a:ext cx="2487168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15342" y="1913166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Fetch SonarCloud issues on every push via GitHub webhook events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493776" y="24323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493776" y="24323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Early Detection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3291840" y="1078992"/>
            <a:ext cx="2788920" cy="16642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3291840" y="1078992"/>
            <a:ext cx="50292" cy="1664208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3456432" y="1243584"/>
            <a:ext cx="475488" cy="475488"/>
          </a:xfrm>
          <a:prstGeom prst="ellipse">
            <a:avLst/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3456432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005072" y="1243584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AI Fix Generation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438144" y="1796882"/>
            <a:ext cx="2487168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3438144" y="1913166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Generate structured JSON patches using rule-aware, context-rich prompts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3438144" y="24323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3438144" y="24323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Remediation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236208" y="1078992"/>
            <a:ext cx="2788920" cy="16642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6236208" y="1078992"/>
            <a:ext cx="50292" cy="166420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6400800" y="1243584"/>
            <a:ext cx="475488" cy="475488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6400800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7035704" y="1319065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Automation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6382512" y="1807665"/>
            <a:ext cx="2487168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6382512" y="1913166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 branch, apply code patch via Contents API, open Pull Request automatically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382512" y="24323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6382512" y="24323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Pull Request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347472" y="2907792"/>
            <a:ext cx="2788920" cy="16642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347472" y="2907792"/>
            <a:ext cx="50292" cy="166420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512064" y="3072384"/>
            <a:ext cx="475488" cy="475488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512064" y="30723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1146968" y="3147865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Dashboard Analytics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493776" y="3647248"/>
            <a:ext cx="2487168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493776" y="3741966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 severity breakdown, scan trends, fix rates and PR merge status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493776" y="42611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493776" y="42611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3291840" y="2907792"/>
            <a:ext cx="2788920" cy="16642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3291840" y="2907792"/>
            <a:ext cx="50292" cy="166420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3456432" y="3072384"/>
            <a:ext cx="475488" cy="475488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3456432" y="30723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4091336" y="3147865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Build Validation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3438144" y="3636465"/>
            <a:ext cx="2487168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3438144" y="3741966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Run Maven build on fix branch; auto-fix imports and logger fields; re-validate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3438144" y="42611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3438144" y="42611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Quality Gate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6236208" y="2907792"/>
            <a:ext cx="2788920" cy="16642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6236208" y="2907792"/>
            <a:ext cx="50292" cy="1664208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6400800" y="3072384"/>
            <a:ext cx="475488" cy="475488"/>
          </a:xfrm>
          <a:prstGeom prst="ellipse">
            <a:avLst/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6400800" y="30723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7035704" y="3147865"/>
            <a:ext cx="19933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Persistent Tracking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6382512" y="3614899"/>
            <a:ext cx="2487168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6382512" y="3741966"/>
            <a:ext cx="25054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Store every scan event, issue, fix attempt and PR link in MongoDB collections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6382512" y="4261104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6382512" y="42611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Audit Trail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"/>
          <p:cNvSpPr/>
          <p:nvPr/>
        </p:nvSpPr>
        <p:spPr>
          <a:xfrm>
            <a:off x="164161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3181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164161" y="518620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64161" y="1137134"/>
            <a:ext cx="1627632" cy="27432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164161" y="1137134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&amp; CI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164161" y="1411454"/>
            <a:ext cx="1627632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255601" y="1484606"/>
            <a:ext cx="1444752" cy="274320"/>
          </a:xfrm>
          <a:prstGeom prst="rect">
            <a:avLst/>
          </a:prstGeom>
          <a:solidFill>
            <a:srgbClr val="1E293B">
              <a:alpha val="12156"/>
            </a:srgbClr>
          </a:solidFill>
          <a:ln w="12700" cap="flat" cmpd="sng">
            <a:solidFill>
              <a:srgbClr val="1E293B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9"/>
          <p:cNvSpPr/>
          <p:nvPr/>
        </p:nvSpPr>
        <p:spPr>
          <a:xfrm>
            <a:off x="273889" y="148460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Repo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255601" y="1832078"/>
            <a:ext cx="1444752" cy="274320"/>
          </a:xfrm>
          <a:prstGeom prst="rect">
            <a:avLst/>
          </a:prstGeom>
          <a:solidFill>
            <a:srgbClr val="1E293B">
              <a:alpha val="12156"/>
            </a:srgbClr>
          </a:solidFill>
          <a:ln w="12700" cap="flat" cmpd="sng">
            <a:solidFill>
              <a:srgbClr val="1E293B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273889" y="1832078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255601" y="2179550"/>
            <a:ext cx="1444752" cy="274320"/>
          </a:xfrm>
          <a:prstGeom prst="rect">
            <a:avLst/>
          </a:prstGeom>
          <a:solidFill>
            <a:srgbClr val="1E293B">
              <a:alpha val="12156"/>
            </a:srgbClr>
          </a:solidFill>
          <a:ln w="12700" cap="flat" cmpd="sng">
            <a:solidFill>
              <a:srgbClr val="1E293B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273889" y="217955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SonarCloud Scan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1791793" y="1685774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1965529" y="1137134"/>
            <a:ext cx="1627632" cy="27432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1965529" y="1137134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Engine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1965529" y="1411454"/>
            <a:ext cx="1627632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2056969" y="1484606"/>
            <a:ext cx="1444752" cy="274320"/>
          </a:xfrm>
          <a:prstGeom prst="rect">
            <a:avLst/>
          </a:prstGeom>
          <a:solidFill>
            <a:srgbClr val="1D4ED8">
              <a:alpha val="12156"/>
            </a:srgbClr>
          </a:solidFill>
          <a:ln w="12700" cap="flat" cmpd="sng">
            <a:solidFill>
              <a:srgbClr val="1D4ED8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2075257" y="148460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FastAPI + Uvicorn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2056969" y="1832078"/>
            <a:ext cx="1444752" cy="274320"/>
          </a:xfrm>
          <a:prstGeom prst="rect">
            <a:avLst/>
          </a:prstGeom>
          <a:solidFill>
            <a:srgbClr val="1D4ED8">
              <a:alpha val="12156"/>
            </a:srgbClr>
          </a:solidFill>
          <a:ln w="12700" cap="flat" cmpd="sng">
            <a:solidFill>
              <a:srgbClr val="1D4ED8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2075257" y="1832078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Webhook Handler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2056969" y="2179550"/>
            <a:ext cx="1444752" cy="274320"/>
          </a:xfrm>
          <a:prstGeom prst="rect">
            <a:avLst/>
          </a:prstGeom>
          <a:solidFill>
            <a:srgbClr val="1D4ED8">
              <a:alpha val="12156"/>
            </a:srgbClr>
          </a:solidFill>
          <a:ln w="12700" cap="flat" cmpd="sng">
            <a:solidFill>
              <a:srgbClr val="1D4ED8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2075257" y="217955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Route Layer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3593161" y="1685774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3766897" y="1137134"/>
            <a:ext cx="1627632" cy="274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3766897" y="1137134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&amp; Storage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3766897" y="1411454"/>
            <a:ext cx="1627632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3858337" y="1484606"/>
            <a:ext cx="1444752" cy="274320"/>
          </a:xfrm>
          <a:prstGeom prst="rect">
            <a:avLst/>
          </a:prstGeom>
          <a:solidFill>
            <a:srgbClr val="059669">
              <a:alpha val="12156"/>
            </a:srgbClr>
          </a:solidFill>
          <a:ln w="12700" cap="flat" cmpd="sng">
            <a:solidFill>
              <a:srgbClr val="059669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3876625" y="148460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OpenRouter LLM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3858337" y="1832078"/>
            <a:ext cx="1444752" cy="274320"/>
          </a:xfrm>
          <a:prstGeom prst="rect">
            <a:avLst/>
          </a:prstGeom>
          <a:solidFill>
            <a:srgbClr val="059669">
              <a:alpha val="12156"/>
            </a:srgbClr>
          </a:solidFill>
          <a:ln w="12700" cap="flat" cmpd="sng">
            <a:solidFill>
              <a:srgbClr val="059669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3876625" y="1832078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Prompt Builder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3858337" y="2179550"/>
            <a:ext cx="1444752" cy="274320"/>
          </a:xfrm>
          <a:prstGeom prst="rect">
            <a:avLst/>
          </a:prstGeom>
          <a:solidFill>
            <a:srgbClr val="059669">
              <a:alpha val="12156"/>
            </a:srgbClr>
          </a:solidFill>
          <a:ln w="12700" cap="flat" cmpd="sng">
            <a:solidFill>
              <a:srgbClr val="059669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3876625" y="217955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5394529" y="1685774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5568265" y="1137134"/>
            <a:ext cx="1627632" cy="2743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5568265" y="1137134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Automation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568265" y="1411454"/>
            <a:ext cx="1627632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5659705" y="1484606"/>
            <a:ext cx="1444752" cy="274320"/>
          </a:xfrm>
          <a:prstGeom prst="rect">
            <a:avLst/>
          </a:prstGeom>
          <a:solidFill>
            <a:srgbClr val="D97706">
              <a:alpha val="12156"/>
            </a:srgbClr>
          </a:solidFill>
          <a:ln w="12700" cap="flat" cmpd="sng">
            <a:solidFill>
              <a:srgbClr val="D97706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5677993" y="148460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Branch Creator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5659705" y="1832078"/>
            <a:ext cx="1444752" cy="274320"/>
          </a:xfrm>
          <a:prstGeom prst="rect">
            <a:avLst/>
          </a:prstGeom>
          <a:solidFill>
            <a:srgbClr val="D97706">
              <a:alpha val="12156"/>
            </a:srgbClr>
          </a:solidFill>
          <a:ln w="12700" cap="flat" cmpd="sng">
            <a:solidFill>
              <a:srgbClr val="D97706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5677993" y="1832078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Contents API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5659705" y="2179550"/>
            <a:ext cx="1444752" cy="274320"/>
          </a:xfrm>
          <a:prstGeom prst="rect">
            <a:avLst/>
          </a:prstGeom>
          <a:solidFill>
            <a:srgbClr val="D97706">
              <a:alpha val="12156"/>
            </a:srgbClr>
          </a:solidFill>
          <a:ln w="12700" cap="flat" cmpd="sng">
            <a:solidFill>
              <a:srgbClr val="D97706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5677993" y="217955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 Handler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7195897" y="1685774"/>
            <a:ext cx="521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7369633" y="1137134"/>
            <a:ext cx="1627632" cy="2743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7369633" y="1137134"/>
            <a:ext cx="16276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7369633" y="1411454"/>
            <a:ext cx="1627632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7461073" y="1484606"/>
            <a:ext cx="1444752" cy="274320"/>
          </a:xfrm>
          <a:prstGeom prst="rect">
            <a:avLst/>
          </a:prstGeom>
          <a:solidFill>
            <a:srgbClr val="0891B2">
              <a:alpha val="12156"/>
            </a:srgbClr>
          </a:solidFill>
          <a:ln w="12700" cap="flat" cmpd="sng">
            <a:solidFill>
              <a:srgbClr val="0891B2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7479361" y="148460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React + Vite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7461073" y="1832078"/>
            <a:ext cx="1444752" cy="274320"/>
          </a:xfrm>
          <a:prstGeom prst="rect">
            <a:avLst/>
          </a:prstGeom>
          <a:solidFill>
            <a:srgbClr val="0891B2">
              <a:alpha val="12156"/>
            </a:srgbClr>
          </a:solidFill>
          <a:ln w="12700" cap="flat" cmpd="sng">
            <a:solidFill>
              <a:srgbClr val="0891B2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7479361" y="1832078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Analytics Charts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7461073" y="2179550"/>
            <a:ext cx="1444752" cy="274320"/>
          </a:xfrm>
          <a:prstGeom prst="rect">
            <a:avLst/>
          </a:prstGeom>
          <a:solidFill>
            <a:srgbClr val="0891B2">
              <a:alpha val="12156"/>
            </a:srgbClr>
          </a:solidFill>
          <a:ln w="12700" cap="flat" cmpd="sng">
            <a:solidFill>
              <a:srgbClr val="0891B2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7479361" y="217955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Report Export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228859" y="292927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End-to-End Data Flow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228859" y="3240168"/>
            <a:ext cx="1152144" cy="347472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228859" y="3240168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Push Code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1381003" y="3258456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1481587" y="3240168"/>
            <a:ext cx="1152144" cy="347472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1481587" y="3240168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CI Scan Runs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2633731" y="3258456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2734315" y="3240168"/>
            <a:ext cx="1152144" cy="347472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2734315" y="3240168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Webhook Fired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3886459" y="3258456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3987043" y="3240168"/>
            <a:ext cx="1152144" cy="34747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9"/>
          <p:cNvSpPr/>
          <p:nvPr/>
        </p:nvSpPr>
        <p:spPr>
          <a:xfrm>
            <a:off x="3987043" y="3240168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Issues Fetched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5139187" y="3258456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5239771" y="3240168"/>
            <a:ext cx="1152144" cy="34747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5239771" y="3240168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AI Fix Generated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6391915" y="3258456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6492499" y="3240168"/>
            <a:ext cx="1152144" cy="34747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6492499" y="3240168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Branch + PR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7644643" y="3258456"/>
            <a:ext cx="1005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7745227" y="3240168"/>
            <a:ext cx="1152144" cy="34747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7745227" y="3240168"/>
            <a:ext cx="115214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Dashboard Updated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228859" y="3992737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Key Backend Files: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228859" y="4285345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228859" y="4285345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main.py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1326139" y="4285345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1326139" y="4285345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app_factory.py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2423419" y="4285345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2423419" y="4285345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webhook.py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3520699" y="4285345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3520699" y="4285345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llm_fix.py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4617979" y="4285345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617979" y="4285345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github_apply.py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5715259" y="4285345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5715259" y="4285345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fixes_service.py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6812539" y="4285345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6812539" y="4285345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sonar.py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7909819" y="4285345"/>
            <a:ext cx="102412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7909819" y="4285345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github_context.py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347472" y="1014294"/>
            <a:ext cx="4220301" cy="196639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336689" y="1014294"/>
            <a:ext cx="61075" cy="1966391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512064" y="1243584"/>
            <a:ext cx="475488" cy="475488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512064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1060704" y="1234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060704" y="151790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Developer-facing dashboard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493776" y="1792224"/>
            <a:ext cx="3886200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493776" y="18836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93776" y="18836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1810512" y="1883664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0"/>
          <p:cNvSpPr/>
          <p:nvPr/>
        </p:nvSpPr>
        <p:spPr>
          <a:xfrm>
            <a:off x="1810512" y="188366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3127248" y="18836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3127248" y="18836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Vite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493776" y="2267712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493776" y="2267712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1810512" y="2267712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1810512" y="226771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Recharts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3127248" y="2267712"/>
            <a:ext cx="1179576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3127248" y="2267712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html2canvas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493776" y="265176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493776" y="265176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jsPDF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4696738" y="1003511"/>
            <a:ext cx="4166386" cy="196639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4696738" y="1014294"/>
            <a:ext cx="50292" cy="178308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4882896" y="1243584"/>
            <a:ext cx="475488" cy="475488"/>
          </a:xfrm>
          <a:prstGeom prst="ellipse">
            <a:avLst/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4882896" y="124358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5431536" y="1234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5431536" y="1517904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Automation and validation engine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4864608" y="1792224"/>
            <a:ext cx="3886200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4864608" y="18836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4864608" y="18836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6181344" y="18836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0"/>
          <p:cNvSpPr/>
          <p:nvPr/>
        </p:nvSpPr>
        <p:spPr>
          <a:xfrm>
            <a:off x="6181344" y="18836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7498080" y="188366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7498080" y="1883664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Uvicorn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4864608" y="226771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0"/>
          <p:cNvSpPr/>
          <p:nvPr/>
        </p:nvSpPr>
        <p:spPr>
          <a:xfrm>
            <a:off x="4864608" y="226771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PyMongo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6181344" y="2267712"/>
            <a:ext cx="932688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6181344" y="226771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Requests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7498080" y="2267712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0"/>
          <p:cNvSpPr/>
          <p:nvPr/>
        </p:nvSpPr>
        <p:spPr>
          <a:xfrm>
            <a:off x="7498080" y="226771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PyJWT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4864608" y="265176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0"/>
          <p:cNvSpPr/>
          <p:nvPr/>
        </p:nvSpPr>
        <p:spPr>
          <a:xfrm>
            <a:off x="4864608" y="265176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Cryptography/Fernet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347472" y="3082218"/>
            <a:ext cx="4220301" cy="190169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0"/>
          <p:cNvSpPr/>
          <p:nvPr/>
        </p:nvSpPr>
        <p:spPr>
          <a:xfrm>
            <a:off x="336689" y="3082218"/>
            <a:ext cx="61075" cy="1901693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479715" y="3246810"/>
            <a:ext cx="475488" cy="475488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0"/>
          <p:cNvSpPr/>
          <p:nvPr/>
        </p:nvSpPr>
        <p:spPr>
          <a:xfrm>
            <a:off x="479715" y="324681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1028355" y="323766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1028355" y="352113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Operational history and audit store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461427" y="3795450"/>
            <a:ext cx="3886200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461427" y="388689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461427" y="388689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1778163" y="3886890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1778163" y="388689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3094899" y="388689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0"/>
          <p:cNvSpPr/>
          <p:nvPr/>
        </p:nvSpPr>
        <p:spPr>
          <a:xfrm>
            <a:off x="3094899" y="388689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workspaces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461427" y="427093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461427" y="4270938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issues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1778163" y="427093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1778163" y="4270938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fixes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3094899" y="4270938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3094899" y="4270938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scans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461427" y="4654986"/>
            <a:ext cx="1179576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461427" y="4654986"/>
            <a:ext cx="117957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scan_events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4696738" y="3082218"/>
            <a:ext cx="4166386" cy="196639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4718304" y="3082218"/>
            <a:ext cx="28726" cy="1966391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4882896" y="3246810"/>
            <a:ext cx="475488" cy="475488"/>
          </a:xfrm>
          <a:prstGeom prst="ellipse">
            <a:avLst/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4882896" y="324681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🔌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5431536" y="323766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Integrations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5431536" y="352113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External DevSecOps ecosystem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864608" y="3795450"/>
            <a:ext cx="3886200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4864608" y="388689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4864608" y="388689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SonarCloud API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6181344" y="388689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0"/>
          <p:cNvSpPr/>
          <p:nvPr/>
        </p:nvSpPr>
        <p:spPr>
          <a:xfrm>
            <a:off x="6181344" y="388689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GitHub OAuth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7498080" y="3886890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7498080" y="3886890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GitHub App API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4864608" y="4270938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0"/>
          <p:cNvSpPr/>
          <p:nvPr/>
        </p:nvSpPr>
        <p:spPr>
          <a:xfrm>
            <a:off x="4864608" y="4270938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GitHub Webhooks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6181344" y="4270938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0"/>
          <p:cNvSpPr/>
          <p:nvPr/>
        </p:nvSpPr>
        <p:spPr>
          <a:xfrm>
            <a:off x="6181344" y="4270938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Contents API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0"/>
          <p:cNvSpPr/>
          <p:nvPr/>
        </p:nvSpPr>
        <p:spPr>
          <a:xfrm>
            <a:off x="7498080" y="4270938"/>
            <a:ext cx="1261872" cy="21945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12700" cap="flat" cmpd="sng">
            <a:solidFill>
              <a:srgbClr val="EDE9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0"/>
          <p:cNvSpPr/>
          <p:nvPr/>
        </p:nvSpPr>
        <p:spPr>
          <a:xfrm>
            <a:off x="7498080" y="4270938"/>
            <a:ext cx="12618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OpenRouter LLM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1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User Workflow — End-to-End Journey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347472" y="1115568"/>
            <a:ext cx="2029968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1"/>
          <p:cNvSpPr/>
          <p:nvPr/>
        </p:nvSpPr>
        <p:spPr>
          <a:xfrm>
            <a:off x="347472" y="1115568"/>
            <a:ext cx="50292" cy="141732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1044745" y="1340631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OAuth Login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493776" y="197786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JWT issued for session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2377440" y="14813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2523744" y="1115568"/>
            <a:ext cx="2029968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1"/>
          <p:cNvSpPr/>
          <p:nvPr/>
        </p:nvSpPr>
        <p:spPr>
          <a:xfrm>
            <a:off x="2523744" y="1115568"/>
            <a:ext cx="50292" cy="141732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1"/>
          <p:cNvSpPr/>
          <p:nvPr/>
        </p:nvSpPr>
        <p:spPr>
          <a:xfrm>
            <a:off x="2670048" y="12344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3361196" y="1340631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Create Workspace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2648482" y="197786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Select GitHub installation + repo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4553712" y="14813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4700016" y="1115568"/>
            <a:ext cx="2029968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1"/>
          <p:cNvSpPr/>
          <p:nvPr/>
        </p:nvSpPr>
        <p:spPr>
          <a:xfrm>
            <a:off x="4700016" y="1115568"/>
            <a:ext cx="50292" cy="14173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1"/>
          <p:cNvSpPr/>
          <p:nvPr/>
        </p:nvSpPr>
        <p:spPr>
          <a:xfrm>
            <a:off x="4922837" y="1728820"/>
            <a:ext cx="1507552" cy="249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Connect SonarCloud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4857103" y="197786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 project key, encrypt token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6729984" y="14813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6876288" y="1115568"/>
            <a:ext cx="2029968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6876288" y="1115568"/>
            <a:ext cx="50292" cy="141732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1"/>
          <p:cNvSpPr/>
          <p:nvPr/>
        </p:nvSpPr>
        <p:spPr>
          <a:xfrm>
            <a:off x="7022592" y="12344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7519646" y="1340631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Push Code / Run CI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7022592" y="1977864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 Actions + SonarCloud scan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4544568" y="2532888"/>
            <a:ext cx="50292" cy="292608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4462272" y="2715768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6876288" y="2926080"/>
            <a:ext cx="2029968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6876288" y="2926080"/>
            <a:ext cx="50292" cy="1417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1"/>
          <p:cNvSpPr/>
          <p:nvPr/>
        </p:nvSpPr>
        <p:spPr>
          <a:xfrm>
            <a:off x="7022592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7562778" y="3161926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Webhook Triggers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7022592" y="3788376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 /webhook/github validated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6729984" y="33101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4700016" y="2926080"/>
            <a:ext cx="2029968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1"/>
          <p:cNvSpPr/>
          <p:nvPr/>
        </p:nvSpPr>
        <p:spPr>
          <a:xfrm>
            <a:off x="4700016" y="2926080"/>
            <a:ext cx="50292" cy="1417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1"/>
          <p:cNvSpPr/>
          <p:nvPr/>
        </p:nvSpPr>
        <p:spPr>
          <a:xfrm>
            <a:off x="4846320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5559034" y="318349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Issues + AI Fixes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4921801" y="3788376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 generates JSON patches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4553712" y="33101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2523744" y="2926080"/>
            <a:ext cx="2029968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1"/>
          <p:cNvSpPr/>
          <p:nvPr/>
        </p:nvSpPr>
        <p:spPr>
          <a:xfrm>
            <a:off x="2523744" y="2926080"/>
            <a:ext cx="50292" cy="14173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1"/>
          <p:cNvSpPr/>
          <p:nvPr/>
        </p:nvSpPr>
        <p:spPr>
          <a:xfrm>
            <a:off x="2670048" y="30449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3393545" y="318349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PR Created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2648482" y="3788376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Branch shiftleft/fixes-* opened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2377440" y="3310128"/>
            <a:ext cx="1463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347472" y="2926080"/>
            <a:ext cx="2029968" cy="1417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1"/>
          <p:cNvSpPr/>
          <p:nvPr/>
        </p:nvSpPr>
        <p:spPr>
          <a:xfrm>
            <a:off x="347472" y="2926080"/>
            <a:ext cx="50292" cy="14173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1"/>
          <p:cNvSpPr/>
          <p:nvPr/>
        </p:nvSpPr>
        <p:spPr>
          <a:xfrm>
            <a:off x="969264" y="3161926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Review on Dashboard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493776" y="3788376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Diff view, analytics, PDF export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7B291A-A0A1-BC78-D67C-68CFA06DD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81" y="1233217"/>
            <a:ext cx="477329" cy="477330"/>
          </a:xfrm>
          <a:prstGeom prst="rect">
            <a:avLst/>
          </a:prstGeom>
        </p:spPr>
      </p:pic>
      <p:pic>
        <p:nvPicPr>
          <p:cNvPr id="4" name="Picture 3" descr="A person sitting on a computer&#10;&#10;AI-generated content may be incorrect.">
            <a:extLst>
              <a:ext uri="{FF2B5EF4-FFF2-40B4-BE49-F238E27FC236}">
                <a16:creationId xmlns:a16="http://schemas.microsoft.com/office/drawing/2014/main" id="{ED29C18B-DD2D-E9DE-B2E5-DD0233CAF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2751" y="1233218"/>
            <a:ext cx="692989" cy="477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C0C02F-D6AE-BC40-6954-60F94FCC4C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402" y="3109463"/>
            <a:ext cx="401848" cy="466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03480D-ECCE-85B8-470E-FDEF234569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81" y="3044765"/>
            <a:ext cx="477329" cy="574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62F05F-201A-3D5F-89B0-D2A5E8FF3F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2750" y="3044764"/>
            <a:ext cx="520461" cy="5312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848CC8-3E70-978D-722E-120FF6A686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609" y="1222435"/>
            <a:ext cx="542027" cy="5204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F63D307-BA15-3148-5707-0996296D3B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5175" y="2936935"/>
            <a:ext cx="455763" cy="639074"/>
          </a:xfrm>
          <a:prstGeom prst="rect">
            <a:avLst/>
          </a:prstGeom>
        </p:spPr>
      </p:pic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63D95BFC-48D4-EB7A-780D-C09115D2E9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2358" y="1112114"/>
            <a:ext cx="1800767" cy="471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2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315123" y="486271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Backend Architecture — </a:t>
            </a:r>
            <a:r>
              <a:rPr lang="en" sz="2600" b="1" i="0" u="none" strike="noStrike" cap="none" err="1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 Modules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BB07F3E-0597-E5A3-19C6-2C83FB5A6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3306" y="847273"/>
            <a:ext cx="4540316" cy="42925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3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3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Webhook Automation Pipeline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347472" y="1170432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347472" y="1170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521208" y="1554480"/>
            <a:ext cx="36576" cy="23774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3"/>
          <p:cNvSpPr/>
          <p:nvPr/>
        </p:nvSpPr>
        <p:spPr>
          <a:xfrm>
            <a:off x="822960" y="1170432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Developer pushes code or opens PR in GitHub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/>
          <p:nvPr/>
        </p:nvSpPr>
        <p:spPr>
          <a:xfrm>
            <a:off x="3648456" y="1225296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3"/>
          <p:cNvSpPr/>
          <p:nvPr/>
        </p:nvSpPr>
        <p:spPr>
          <a:xfrm>
            <a:off x="3648456" y="1225296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/>
          <p:nvPr/>
        </p:nvSpPr>
        <p:spPr>
          <a:xfrm>
            <a:off x="4754880" y="1170432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3"/>
          <p:cNvSpPr/>
          <p:nvPr/>
        </p:nvSpPr>
        <p:spPr>
          <a:xfrm>
            <a:off x="4754880" y="1170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4928616" y="1554480"/>
            <a:ext cx="36576" cy="23774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3"/>
          <p:cNvSpPr/>
          <p:nvPr/>
        </p:nvSpPr>
        <p:spPr>
          <a:xfrm>
            <a:off x="5230368" y="1170432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Actions runs Build + SonarCloud scan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7765085" y="1225296"/>
            <a:ext cx="1068019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3"/>
          <p:cNvSpPr/>
          <p:nvPr/>
        </p:nvSpPr>
        <p:spPr>
          <a:xfrm>
            <a:off x="7765085" y="1225296"/>
            <a:ext cx="106801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CI Pipeline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347472" y="1865376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347472" y="1865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521208" y="2249424"/>
            <a:ext cx="36576" cy="23774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3"/>
          <p:cNvSpPr/>
          <p:nvPr/>
        </p:nvSpPr>
        <p:spPr>
          <a:xfrm>
            <a:off x="822960" y="1865376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E293B"/>
              </a:buClr>
              <a:buSzPts val="1050"/>
              <a:buFont typeface="Calibri"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Workflow completes → GitHub fires POST 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SzPts val="1050"/>
              <a:buFont typeface="Calibri"/>
              <a:buNone/>
            </a:pPr>
            <a:r>
              <a:rPr lang="en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webhook/</a:t>
            </a:r>
            <a:r>
              <a:rPr lang="en" sz="1050" b="0" i="0" u="none" strike="noStrike" cap="none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050" b="0" i="0" u="none" strike="noStrike" cap="none" err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3196742" y="1920240"/>
            <a:ext cx="1228954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3"/>
          <p:cNvSpPr/>
          <p:nvPr/>
        </p:nvSpPr>
        <p:spPr>
          <a:xfrm>
            <a:off x="3196742" y="1920240"/>
            <a:ext cx="122895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Webhook Event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4754880" y="1865376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3"/>
          <p:cNvSpPr/>
          <p:nvPr/>
        </p:nvSpPr>
        <p:spPr>
          <a:xfrm>
            <a:off x="4754880" y="1865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/>
          <p:nvPr/>
        </p:nvSpPr>
        <p:spPr>
          <a:xfrm>
            <a:off x="4928616" y="2249424"/>
            <a:ext cx="36576" cy="23774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3"/>
          <p:cNvSpPr/>
          <p:nvPr/>
        </p:nvSpPr>
        <p:spPr>
          <a:xfrm>
            <a:off x="5230368" y="1865376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E293B"/>
              </a:buClr>
              <a:buSzPts val="1050"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Backend verifies HMAC-SHA256 webhook</a:t>
            </a:r>
            <a:endParaRPr lang="en-US" sz="1050"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050"/>
            </a:pPr>
            <a:r>
              <a:rPr lang="en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signature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7765085" y="1920240"/>
            <a:ext cx="1068019" cy="219456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23"/>
          <p:cNvSpPr/>
          <p:nvPr/>
        </p:nvSpPr>
        <p:spPr>
          <a:xfrm>
            <a:off x="7765085" y="1920240"/>
            <a:ext cx="106801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🔒 Security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347472" y="2560320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3"/>
          <p:cNvSpPr/>
          <p:nvPr/>
        </p:nvSpPr>
        <p:spPr>
          <a:xfrm>
            <a:off x="347472" y="2560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521208" y="2944368"/>
            <a:ext cx="36576" cy="23774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3"/>
          <p:cNvSpPr/>
          <p:nvPr/>
        </p:nvSpPr>
        <p:spPr>
          <a:xfrm>
            <a:off x="822960" y="2560320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E293B"/>
              </a:buClr>
              <a:buSzPts val="1050"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Extracts repo, branch, commit SHA, </a:t>
            </a:r>
            <a:endParaRPr lang="en-US" sz="105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workflow run ID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3599078" y="2615184"/>
            <a:ext cx="826618" cy="219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3"/>
          <p:cNvSpPr/>
          <p:nvPr/>
        </p:nvSpPr>
        <p:spPr>
          <a:xfrm>
            <a:off x="3599078" y="2615184"/>
            <a:ext cx="82661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Metadata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4754880" y="2560320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3"/>
          <p:cNvSpPr/>
          <p:nvPr/>
        </p:nvSpPr>
        <p:spPr>
          <a:xfrm>
            <a:off x="4754880" y="2560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4928616" y="2944368"/>
            <a:ext cx="36576" cy="23774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3"/>
          <p:cNvSpPr/>
          <p:nvPr/>
        </p:nvSpPr>
        <p:spPr>
          <a:xfrm>
            <a:off x="5230368" y="2560320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E293B"/>
              </a:buClr>
              <a:buSzPts val="1050"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App installation</a:t>
            </a:r>
            <a:endParaRPr lang="en-US" sz="1050"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050"/>
            </a:pPr>
            <a:r>
              <a:rPr lang="en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token obtained (no passwords stored)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8055864" y="2615184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3"/>
          <p:cNvSpPr/>
          <p:nvPr/>
        </p:nvSpPr>
        <p:spPr>
          <a:xfrm>
            <a:off x="8055864" y="261518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🔑 Auth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347472" y="3255264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23"/>
          <p:cNvSpPr/>
          <p:nvPr/>
        </p:nvSpPr>
        <p:spPr>
          <a:xfrm>
            <a:off x="347472" y="3255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3"/>
          <p:cNvSpPr/>
          <p:nvPr/>
        </p:nvSpPr>
        <p:spPr>
          <a:xfrm>
            <a:off x="521208" y="3639312"/>
            <a:ext cx="36576" cy="23774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3"/>
          <p:cNvSpPr/>
          <p:nvPr/>
        </p:nvSpPr>
        <p:spPr>
          <a:xfrm>
            <a:off x="822960" y="3255264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E293B"/>
              </a:buClr>
              <a:buSzPts val="1050"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Fetches current </a:t>
            </a:r>
            <a:r>
              <a:rPr lang="en" sz="1050" b="0" i="0" u="none" strike="noStrike" cap="none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SonarCloud</a:t>
            </a: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issues for </a:t>
            </a:r>
            <a:endParaRPr lang="en-US" sz="105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mapped project key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0" name="Google Shape;610;p23"/>
          <p:cNvSpPr/>
          <p:nvPr/>
        </p:nvSpPr>
        <p:spPr>
          <a:xfrm>
            <a:off x="3277210" y="3310128"/>
            <a:ext cx="1148486" cy="21945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3"/>
          <p:cNvSpPr/>
          <p:nvPr/>
        </p:nvSpPr>
        <p:spPr>
          <a:xfrm>
            <a:off x="3277210" y="3310128"/>
            <a:ext cx="114848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Issues Fetch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3"/>
          <p:cNvSpPr/>
          <p:nvPr/>
        </p:nvSpPr>
        <p:spPr>
          <a:xfrm>
            <a:off x="4754880" y="3255264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23"/>
          <p:cNvSpPr/>
          <p:nvPr/>
        </p:nvSpPr>
        <p:spPr>
          <a:xfrm>
            <a:off x="4754880" y="32552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3"/>
          <p:cNvSpPr/>
          <p:nvPr/>
        </p:nvSpPr>
        <p:spPr>
          <a:xfrm>
            <a:off x="4928616" y="3639312"/>
            <a:ext cx="36576" cy="23774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23"/>
          <p:cNvSpPr/>
          <p:nvPr/>
        </p:nvSpPr>
        <p:spPr>
          <a:xfrm>
            <a:off x="5230368" y="3255264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E293B"/>
              </a:buClr>
              <a:buSzPts val="1050"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Generates AI fixes →</a:t>
            </a:r>
            <a:endParaRPr lang="en-US" sz="1050"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050"/>
            </a:pPr>
            <a:r>
              <a:rPr lang="en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returns structured JSON patches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6" name="Google Shape;616;p23"/>
          <p:cNvSpPr/>
          <p:nvPr/>
        </p:nvSpPr>
        <p:spPr>
          <a:xfrm>
            <a:off x="7926019" y="3310128"/>
            <a:ext cx="907085" cy="21945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3"/>
          <p:cNvSpPr/>
          <p:nvPr/>
        </p:nvSpPr>
        <p:spPr>
          <a:xfrm>
            <a:off x="7926019" y="3310128"/>
            <a:ext cx="90708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C4A6E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rPr>
              <a:t>🤖 AI Fix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3"/>
          <p:cNvSpPr/>
          <p:nvPr/>
        </p:nvSpPr>
        <p:spPr>
          <a:xfrm>
            <a:off x="347472" y="3950208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/>
          <p:nvPr/>
        </p:nvSpPr>
        <p:spPr>
          <a:xfrm>
            <a:off x="347472" y="3950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3"/>
          <p:cNvSpPr/>
          <p:nvPr/>
        </p:nvSpPr>
        <p:spPr>
          <a:xfrm>
            <a:off x="822960" y="3950208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E293B"/>
              </a:buClr>
              <a:buSzPts val="1050"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Creates branch </a:t>
            </a:r>
            <a:r>
              <a:rPr lang="en" sz="1050" b="0" i="0" u="none" strike="noStrike" cap="none" err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shiftleft</a:t>
            </a: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/fixes-{sha} via</a:t>
            </a:r>
            <a:endParaRPr lang="en-US" sz="1050"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050"/>
            </a:pPr>
            <a:r>
              <a:rPr lang="en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Contents API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1" name="Google Shape;621;p23"/>
          <p:cNvSpPr/>
          <p:nvPr/>
        </p:nvSpPr>
        <p:spPr>
          <a:xfrm>
            <a:off x="3648456" y="4005072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3"/>
          <p:cNvSpPr/>
          <p:nvPr/>
        </p:nvSpPr>
        <p:spPr>
          <a:xfrm>
            <a:off x="3648456" y="4005072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3"/>
          <p:cNvSpPr/>
          <p:nvPr/>
        </p:nvSpPr>
        <p:spPr>
          <a:xfrm>
            <a:off x="4754880" y="3950208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3"/>
          <p:cNvSpPr/>
          <p:nvPr/>
        </p:nvSpPr>
        <p:spPr>
          <a:xfrm>
            <a:off x="4754880" y="3950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5230368" y="3950208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E293B"/>
              </a:buClr>
              <a:buSzPts val="1050"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Opens Pull Request with</a:t>
            </a:r>
            <a:endParaRPr lang="en-US" sz="1050"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050"/>
            </a:pPr>
            <a:r>
              <a:rPr lang="en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 summary and Sonar issue links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6" name="Google Shape;626;p23"/>
          <p:cNvSpPr/>
          <p:nvPr/>
        </p:nvSpPr>
        <p:spPr>
          <a:xfrm>
            <a:off x="7684618" y="4005072"/>
            <a:ext cx="1148486" cy="21945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3"/>
          <p:cNvSpPr/>
          <p:nvPr/>
        </p:nvSpPr>
        <p:spPr>
          <a:xfrm>
            <a:off x="7684618" y="4005072"/>
            <a:ext cx="114848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Pull Request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347472" y="4645152"/>
            <a:ext cx="384048" cy="384048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3"/>
          <p:cNvSpPr/>
          <p:nvPr/>
        </p:nvSpPr>
        <p:spPr>
          <a:xfrm>
            <a:off x="347472" y="46451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3"/>
          <p:cNvSpPr/>
          <p:nvPr/>
        </p:nvSpPr>
        <p:spPr>
          <a:xfrm>
            <a:off x="822960" y="4645152"/>
            <a:ext cx="35844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E293B"/>
              </a:buClr>
              <a:buSzPts val="1050"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Scan events, fix attempts, PR link stored</a:t>
            </a:r>
            <a:endParaRPr lang="en-US" sz="1050"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050"/>
            </a:pPr>
            <a:r>
              <a:rPr lang="en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 MongoDB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31" name="Google Shape;631;p23"/>
          <p:cNvSpPr/>
          <p:nvPr/>
        </p:nvSpPr>
        <p:spPr>
          <a:xfrm>
            <a:off x="3518611" y="4700016"/>
            <a:ext cx="907085" cy="219456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3"/>
          <p:cNvSpPr/>
          <p:nvPr/>
        </p:nvSpPr>
        <p:spPr>
          <a:xfrm>
            <a:off x="3518611" y="4700016"/>
            <a:ext cx="907085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📦 Stored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4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4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SONARCLOUD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4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SonarCloud Integration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4"/>
          <p:cNvSpPr/>
          <p:nvPr/>
        </p:nvSpPr>
        <p:spPr>
          <a:xfrm>
            <a:off x="347472" y="1078992"/>
            <a:ext cx="4133088" cy="3767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4"/>
          <p:cNvSpPr/>
          <p:nvPr/>
        </p:nvSpPr>
        <p:spPr>
          <a:xfrm>
            <a:off x="347472" y="1078992"/>
            <a:ext cx="50292" cy="3767328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4"/>
          <p:cNvSpPr/>
          <p:nvPr/>
        </p:nvSpPr>
        <p:spPr>
          <a:xfrm>
            <a:off x="475488" y="113385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📥  Data Fetched from SonarCloud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475488" y="1481328"/>
            <a:ext cx="3840480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4"/>
          <p:cNvSpPr/>
          <p:nvPr/>
        </p:nvSpPr>
        <p:spPr>
          <a:xfrm>
            <a:off x="502920" y="1572768"/>
            <a:ext cx="329184" cy="329184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4"/>
          <p:cNvSpPr/>
          <p:nvPr/>
        </p:nvSpPr>
        <p:spPr>
          <a:xfrm>
            <a:off x="502920" y="15727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4"/>
          <p:cNvSpPr/>
          <p:nvPr/>
        </p:nvSpPr>
        <p:spPr>
          <a:xfrm>
            <a:off x="914400" y="157276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 code quality issues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4"/>
          <p:cNvSpPr/>
          <p:nvPr/>
        </p:nvSpPr>
        <p:spPr>
          <a:xfrm>
            <a:off x="914400" y="177393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rule, message, file, line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4"/>
          <p:cNvSpPr/>
          <p:nvPr/>
        </p:nvSpPr>
        <p:spPr>
          <a:xfrm>
            <a:off x="502920" y="2212848"/>
            <a:ext cx="329184" cy="329184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4"/>
          <p:cNvSpPr/>
          <p:nvPr/>
        </p:nvSpPr>
        <p:spPr>
          <a:xfrm>
            <a:off x="502920" y="22128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4"/>
          <p:cNvSpPr/>
          <p:nvPr/>
        </p:nvSpPr>
        <p:spPr>
          <a:xfrm>
            <a:off x="914400" y="221284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hotspots pending review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4"/>
          <p:cNvSpPr/>
          <p:nvPr/>
        </p:nvSpPr>
        <p:spPr>
          <a:xfrm>
            <a:off x="914400" y="241401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including security rule metadata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4"/>
          <p:cNvSpPr/>
          <p:nvPr/>
        </p:nvSpPr>
        <p:spPr>
          <a:xfrm>
            <a:off x="502920" y="2852928"/>
            <a:ext cx="329184" cy="329184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4"/>
          <p:cNvSpPr/>
          <p:nvPr/>
        </p:nvSpPr>
        <p:spPr>
          <a:xfrm>
            <a:off x="502920" y="28529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4"/>
          <p:cNvSpPr/>
          <p:nvPr/>
        </p:nvSpPr>
        <p:spPr>
          <a:xfrm>
            <a:off x="914400" y="28529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Issue severity levels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4"/>
          <p:cNvSpPr/>
          <p:nvPr/>
        </p:nvSpPr>
        <p:spPr>
          <a:xfrm>
            <a:off x="914400" y="305409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BLOCKER, CRITICAL, MAJOR, MINOR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4"/>
          <p:cNvSpPr/>
          <p:nvPr/>
        </p:nvSpPr>
        <p:spPr>
          <a:xfrm>
            <a:off x="502920" y="3493008"/>
            <a:ext cx="329184" cy="329184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4"/>
          <p:cNvSpPr/>
          <p:nvPr/>
        </p:nvSpPr>
        <p:spPr>
          <a:xfrm>
            <a:off x="502920" y="34930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4"/>
          <p:cNvSpPr/>
          <p:nvPr/>
        </p:nvSpPr>
        <p:spPr>
          <a:xfrm>
            <a:off x="914400" y="349300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Component file path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4"/>
          <p:cNvSpPr/>
          <p:nvPr/>
        </p:nvSpPr>
        <p:spPr>
          <a:xfrm>
            <a:off x="914400" y="369417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Sonar component → GitHub file path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4"/>
          <p:cNvSpPr/>
          <p:nvPr/>
        </p:nvSpPr>
        <p:spPr>
          <a:xfrm>
            <a:off x="502920" y="4133088"/>
            <a:ext cx="329184" cy="329184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4"/>
          <p:cNvSpPr/>
          <p:nvPr/>
        </p:nvSpPr>
        <p:spPr>
          <a:xfrm>
            <a:off x="502920" y="41330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4"/>
          <p:cNvSpPr/>
          <p:nvPr/>
        </p:nvSpPr>
        <p:spPr>
          <a:xfrm>
            <a:off x="914400" y="413308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" sz="115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Project key scoping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4"/>
          <p:cNvSpPr/>
          <p:nvPr/>
        </p:nvSpPr>
        <p:spPr>
          <a:xfrm>
            <a:off x="914400" y="4334256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queries scoped per workspace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4"/>
          <p:cNvSpPr/>
          <p:nvPr/>
        </p:nvSpPr>
        <p:spPr>
          <a:xfrm>
            <a:off x="4663440" y="1078992"/>
            <a:ext cx="4133088" cy="3767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4"/>
          <p:cNvSpPr/>
          <p:nvPr/>
        </p:nvSpPr>
        <p:spPr>
          <a:xfrm>
            <a:off x="4663440" y="1078992"/>
            <a:ext cx="50292" cy="3767328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4"/>
          <p:cNvSpPr/>
          <p:nvPr/>
        </p:nvSpPr>
        <p:spPr>
          <a:xfrm>
            <a:off x="4791456" y="113385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🎯  Targeted Java &amp; Security Rules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4"/>
          <p:cNvSpPr/>
          <p:nvPr/>
        </p:nvSpPr>
        <p:spPr>
          <a:xfrm>
            <a:off x="4791456" y="1481328"/>
            <a:ext cx="3840480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4"/>
          <p:cNvSpPr/>
          <p:nvPr/>
        </p:nvSpPr>
        <p:spPr>
          <a:xfrm>
            <a:off x="4791456" y="1572768"/>
            <a:ext cx="3840480" cy="4572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4"/>
          <p:cNvSpPr/>
          <p:nvPr/>
        </p:nvSpPr>
        <p:spPr>
          <a:xfrm>
            <a:off x="4882896" y="162763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lang="en" sz="1050" b="1" i="0" u="none" strike="noStrike" cap="non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java:S106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4"/>
          <p:cNvSpPr/>
          <p:nvPr/>
        </p:nvSpPr>
        <p:spPr>
          <a:xfrm>
            <a:off x="7680960" y="1645920"/>
            <a:ext cx="59436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4"/>
          <p:cNvSpPr/>
          <p:nvPr/>
        </p:nvSpPr>
        <p:spPr>
          <a:xfrm>
            <a:off x="7680960" y="164592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MAJOR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4"/>
          <p:cNvSpPr/>
          <p:nvPr/>
        </p:nvSpPr>
        <p:spPr>
          <a:xfrm>
            <a:off x="4882896" y="181965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SLF4J logger instead of System.out/err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4"/>
          <p:cNvSpPr/>
          <p:nvPr/>
        </p:nvSpPr>
        <p:spPr>
          <a:xfrm>
            <a:off x="4791456" y="2103120"/>
            <a:ext cx="3840480" cy="4572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4"/>
          <p:cNvSpPr/>
          <p:nvPr/>
        </p:nvSpPr>
        <p:spPr>
          <a:xfrm>
            <a:off x="4882896" y="215798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lang="en" sz="1050" b="1" i="0" u="none" strike="noStrike" cap="non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java:S1192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7680960" y="2176272"/>
            <a:ext cx="59436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4"/>
          <p:cNvSpPr/>
          <p:nvPr/>
        </p:nvSpPr>
        <p:spPr>
          <a:xfrm>
            <a:off x="7680960" y="217627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MAJOR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4"/>
          <p:cNvSpPr/>
          <p:nvPr/>
        </p:nvSpPr>
        <p:spPr>
          <a:xfrm>
            <a:off x="4882896" y="235000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Extract duplicate string literals to constant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4"/>
          <p:cNvSpPr/>
          <p:nvPr/>
        </p:nvSpPr>
        <p:spPr>
          <a:xfrm>
            <a:off x="4791456" y="2633472"/>
            <a:ext cx="3840480" cy="4572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4"/>
          <p:cNvSpPr/>
          <p:nvPr/>
        </p:nvSpPr>
        <p:spPr>
          <a:xfrm>
            <a:off x="4882896" y="268833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lang="en" sz="1050" b="1" i="0" u="none" strike="noStrike" cap="non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java:S112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4"/>
          <p:cNvSpPr/>
          <p:nvPr/>
        </p:nvSpPr>
        <p:spPr>
          <a:xfrm>
            <a:off x="7680960" y="2706624"/>
            <a:ext cx="594360" cy="20116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24"/>
          <p:cNvSpPr/>
          <p:nvPr/>
        </p:nvSpPr>
        <p:spPr>
          <a:xfrm>
            <a:off x="7680960" y="2706624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MAJOR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4"/>
          <p:cNvSpPr/>
          <p:nvPr/>
        </p:nvSpPr>
        <p:spPr>
          <a:xfrm>
            <a:off x="4882896" y="288036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specific exception, not generic Exception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4"/>
          <p:cNvSpPr/>
          <p:nvPr/>
        </p:nvSpPr>
        <p:spPr>
          <a:xfrm>
            <a:off x="4791456" y="3163824"/>
            <a:ext cx="3840480" cy="4572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4"/>
          <p:cNvSpPr/>
          <p:nvPr/>
        </p:nvSpPr>
        <p:spPr>
          <a:xfrm>
            <a:off x="4882896" y="321868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lang="en" sz="1050" b="1" i="0" u="none" strike="noStrike" cap="non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java:S1481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4"/>
          <p:cNvSpPr/>
          <p:nvPr/>
        </p:nvSpPr>
        <p:spPr>
          <a:xfrm>
            <a:off x="7680960" y="3236976"/>
            <a:ext cx="594360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24"/>
          <p:cNvSpPr/>
          <p:nvPr/>
        </p:nvSpPr>
        <p:spPr>
          <a:xfrm>
            <a:off x="7680960" y="3236976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MINOR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4"/>
          <p:cNvSpPr/>
          <p:nvPr/>
        </p:nvSpPr>
        <p:spPr>
          <a:xfrm>
            <a:off x="4882896" y="341071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Remove unused local variables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4"/>
          <p:cNvSpPr/>
          <p:nvPr/>
        </p:nvSpPr>
        <p:spPr>
          <a:xfrm>
            <a:off x="4791456" y="3694176"/>
            <a:ext cx="3840480" cy="4572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4"/>
          <p:cNvSpPr/>
          <p:nvPr/>
        </p:nvSpPr>
        <p:spPr>
          <a:xfrm>
            <a:off x="4882896" y="37490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lang="en" sz="1050" b="1" i="0" u="none" strike="noStrike" cap="non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java:S1172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4"/>
          <p:cNvSpPr/>
          <p:nvPr/>
        </p:nvSpPr>
        <p:spPr>
          <a:xfrm>
            <a:off x="7680960" y="3767328"/>
            <a:ext cx="594360" cy="20116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4"/>
          <p:cNvSpPr/>
          <p:nvPr/>
        </p:nvSpPr>
        <p:spPr>
          <a:xfrm>
            <a:off x="7680960" y="376732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MINOR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4"/>
          <p:cNvSpPr/>
          <p:nvPr/>
        </p:nvSpPr>
        <p:spPr>
          <a:xfrm>
            <a:off x="4882896" y="394106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Remove unused method parameters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4"/>
          <p:cNvSpPr/>
          <p:nvPr/>
        </p:nvSpPr>
        <p:spPr>
          <a:xfrm>
            <a:off x="4791456" y="4224528"/>
            <a:ext cx="3840480" cy="4572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4"/>
          <p:cNvSpPr/>
          <p:nvPr/>
        </p:nvSpPr>
        <p:spPr>
          <a:xfrm>
            <a:off x="4882896" y="42793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50"/>
              <a:buFont typeface="Consolas"/>
              <a:buNone/>
            </a:pPr>
            <a:r>
              <a:rPr lang="en" sz="1050" b="1" i="0" u="none" strike="noStrike" cap="non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javasecurity:S6350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4"/>
          <p:cNvSpPr/>
          <p:nvPr/>
        </p:nvSpPr>
        <p:spPr>
          <a:xfrm>
            <a:off x="7434072" y="4297680"/>
            <a:ext cx="841248" cy="20116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24"/>
          <p:cNvSpPr/>
          <p:nvPr/>
        </p:nvSpPr>
        <p:spPr>
          <a:xfrm>
            <a:off x="7434072" y="4297680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4"/>
          <p:cNvSpPr/>
          <p:nvPr/>
        </p:nvSpPr>
        <p:spPr>
          <a:xfrm>
            <a:off x="4882896" y="4471416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OS command injection — security hotspot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5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5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FIXES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5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AI Fix Generation — 8-Step Lifecycle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347472" y="1115568"/>
            <a:ext cx="2029968" cy="1572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25"/>
          <p:cNvSpPr/>
          <p:nvPr/>
        </p:nvSpPr>
        <p:spPr>
          <a:xfrm>
            <a:off x="347472" y="1115568"/>
            <a:ext cx="50292" cy="1572768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25"/>
          <p:cNvSpPr/>
          <p:nvPr/>
        </p:nvSpPr>
        <p:spPr>
          <a:xfrm>
            <a:off x="493776" y="1243584"/>
            <a:ext cx="402336" cy="402336"/>
          </a:xfrm>
          <a:prstGeom prst="ellipse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>
            <a:off x="493776" y="12435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1764792" y="126187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D4ED8">
              <a:alpha val="20000"/>
            </a:srgbClr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25"/>
          <p:cNvSpPr/>
          <p:nvPr/>
        </p:nvSpPr>
        <p:spPr>
          <a:xfrm>
            <a:off x="1764792" y="126187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493776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Fetch Issue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5"/>
          <p:cNvSpPr/>
          <p:nvPr/>
        </p:nvSpPr>
        <p:spPr>
          <a:xfrm>
            <a:off x="493776" y="202996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Rule, message, severity from SonarCloud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2377440" y="170992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5"/>
          <p:cNvSpPr/>
          <p:nvPr/>
        </p:nvSpPr>
        <p:spPr>
          <a:xfrm>
            <a:off x="2523744" y="1115568"/>
            <a:ext cx="2029968" cy="1572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25"/>
          <p:cNvSpPr/>
          <p:nvPr/>
        </p:nvSpPr>
        <p:spPr>
          <a:xfrm>
            <a:off x="2523744" y="1115568"/>
            <a:ext cx="50292" cy="1572768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5"/>
          <p:cNvSpPr/>
          <p:nvPr/>
        </p:nvSpPr>
        <p:spPr>
          <a:xfrm>
            <a:off x="2670048" y="1243584"/>
            <a:ext cx="402336" cy="402336"/>
          </a:xfrm>
          <a:prstGeom prst="ellipse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5"/>
          <p:cNvSpPr/>
          <p:nvPr/>
        </p:nvSpPr>
        <p:spPr>
          <a:xfrm>
            <a:off x="2670048" y="12435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5"/>
          <p:cNvSpPr/>
          <p:nvPr/>
        </p:nvSpPr>
        <p:spPr>
          <a:xfrm>
            <a:off x="3941064" y="126187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D4ED8">
              <a:alpha val="20000"/>
            </a:srgbClr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5"/>
          <p:cNvSpPr/>
          <p:nvPr/>
        </p:nvSpPr>
        <p:spPr>
          <a:xfrm>
            <a:off x="3941064" y="126187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Mapping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5"/>
          <p:cNvSpPr/>
          <p:nvPr/>
        </p:nvSpPr>
        <p:spPr>
          <a:xfrm>
            <a:off x="2670048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Map File Path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5"/>
          <p:cNvSpPr/>
          <p:nvPr/>
        </p:nvSpPr>
        <p:spPr>
          <a:xfrm>
            <a:off x="2670048" y="202996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Sonar component → GitHub file path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5"/>
          <p:cNvSpPr/>
          <p:nvPr/>
        </p:nvSpPr>
        <p:spPr>
          <a:xfrm>
            <a:off x="4553712" y="170992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5"/>
          <p:cNvSpPr/>
          <p:nvPr/>
        </p:nvSpPr>
        <p:spPr>
          <a:xfrm>
            <a:off x="4700016" y="1115568"/>
            <a:ext cx="2029968" cy="1572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25"/>
          <p:cNvSpPr/>
          <p:nvPr/>
        </p:nvSpPr>
        <p:spPr>
          <a:xfrm>
            <a:off x="4700016" y="1115568"/>
            <a:ext cx="50292" cy="1572768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5"/>
          <p:cNvSpPr/>
          <p:nvPr/>
        </p:nvSpPr>
        <p:spPr>
          <a:xfrm>
            <a:off x="4846320" y="1243584"/>
            <a:ext cx="402336" cy="402336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25"/>
          <p:cNvSpPr/>
          <p:nvPr/>
        </p:nvSpPr>
        <p:spPr>
          <a:xfrm>
            <a:off x="4846320" y="12435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5"/>
          <p:cNvSpPr/>
          <p:nvPr/>
        </p:nvSpPr>
        <p:spPr>
          <a:xfrm>
            <a:off x="6117336" y="126187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891B2">
              <a:alpha val="20000"/>
            </a:srgbClr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25"/>
          <p:cNvSpPr/>
          <p:nvPr/>
        </p:nvSpPr>
        <p:spPr>
          <a:xfrm>
            <a:off x="6117336" y="126187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5"/>
          <p:cNvSpPr/>
          <p:nvPr/>
        </p:nvSpPr>
        <p:spPr>
          <a:xfrm>
            <a:off x="4846320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Read Code Context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5"/>
          <p:cNvSpPr/>
          <p:nvPr/>
        </p:nvSpPr>
        <p:spPr>
          <a:xfrm>
            <a:off x="4846320" y="202996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~20 lines around issue from GitHub API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5"/>
          <p:cNvSpPr/>
          <p:nvPr/>
        </p:nvSpPr>
        <p:spPr>
          <a:xfrm>
            <a:off x="6729984" y="170992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5"/>
          <p:cNvSpPr/>
          <p:nvPr/>
        </p:nvSpPr>
        <p:spPr>
          <a:xfrm>
            <a:off x="6876288" y="1115568"/>
            <a:ext cx="2029968" cy="1572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25"/>
          <p:cNvSpPr/>
          <p:nvPr/>
        </p:nvSpPr>
        <p:spPr>
          <a:xfrm>
            <a:off x="6876288" y="1115568"/>
            <a:ext cx="50292" cy="1572768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5"/>
          <p:cNvSpPr/>
          <p:nvPr/>
        </p:nvSpPr>
        <p:spPr>
          <a:xfrm>
            <a:off x="7022592" y="1243584"/>
            <a:ext cx="402336" cy="402336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5"/>
          <p:cNvSpPr/>
          <p:nvPr/>
        </p:nvSpPr>
        <p:spPr>
          <a:xfrm>
            <a:off x="7022592" y="12435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/>
          <p:nvPr/>
        </p:nvSpPr>
        <p:spPr>
          <a:xfrm>
            <a:off x="8293608" y="126187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891B2">
              <a:alpha val="20000"/>
            </a:srgbClr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25"/>
          <p:cNvSpPr/>
          <p:nvPr/>
        </p:nvSpPr>
        <p:spPr>
          <a:xfrm>
            <a:off x="8293608" y="126187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5"/>
          <p:cNvSpPr/>
          <p:nvPr/>
        </p:nvSpPr>
        <p:spPr>
          <a:xfrm>
            <a:off x="7022592" y="17373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Build Prompt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7022592" y="202996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Rule-specific guidance + JSON format spec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/>
          <p:nvPr/>
        </p:nvSpPr>
        <p:spPr>
          <a:xfrm>
            <a:off x="8165592" y="2688336"/>
            <a:ext cx="36576" cy="256032"/>
          </a:xfrm>
          <a:prstGeom prst="rect">
            <a:avLst/>
          </a:prstGeom>
          <a:solidFill>
            <a:srgbClr val="94A3B8"/>
          </a:solidFill>
          <a:ln w="1270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5"/>
          <p:cNvSpPr/>
          <p:nvPr/>
        </p:nvSpPr>
        <p:spPr>
          <a:xfrm>
            <a:off x="8028432" y="2834640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5"/>
          <p:cNvSpPr/>
          <p:nvPr/>
        </p:nvSpPr>
        <p:spPr>
          <a:xfrm>
            <a:off x="6876288" y="3035808"/>
            <a:ext cx="2029968" cy="1572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5"/>
          <p:cNvSpPr/>
          <p:nvPr/>
        </p:nvSpPr>
        <p:spPr>
          <a:xfrm>
            <a:off x="6876288" y="3035808"/>
            <a:ext cx="50292" cy="157276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25"/>
          <p:cNvSpPr/>
          <p:nvPr/>
        </p:nvSpPr>
        <p:spPr>
          <a:xfrm>
            <a:off x="7022592" y="3163824"/>
            <a:ext cx="402336" cy="402336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5"/>
          <p:cNvSpPr/>
          <p:nvPr/>
        </p:nvSpPr>
        <p:spPr>
          <a:xfrm>
            <a:off x="7022592" y="31638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5"/>
          <p:cNvSpPr/>
          <p:nvPr/>
        </p:nvSpPr>
        <p:spPr>
          <a:xfrm>
            <a:off x="8293608" y="318211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59669">
              <a:alpha val="20000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5"/>
          <p:cNvSpPr/>
          <p:nvPr/>
        </p:nvSpPr>
        <p:spPr>
          <a:xfrm>
            <a:off x="8293608" y="31821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LLM Call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5"/>
          <p:cNvSpPr/>
          <p:nvPr/>
        </p:nvSpPr>
        <p:spPr>
          <a:xfrm>
            <a:off x="7022592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Call LLM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7022592" y="395020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OpenRouter returns structured JSON only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5"/>
          <p:cNvSpPr/>
          <p:nvPr/>
        </p:nvSpPr>
        <p:spPr>
          <a:xfrm>
            <a:off x="6729984" y="363016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5"/>
          <p:cNvSpPr/>
          <p:nvPr/>
        </p:nvSpPr>
        <p:spPr>
          <a:xfrm>
            <a:off x="4700016" y="3035808"/>
            <a:ext cx="2029968" cy="1572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25"/>
          <p:cNvSpPr/>
          <p:nvPr/>
        </p:nvSpPr>
        <p:spPr>
          <a:xfrm>
            <a:off x="4700016" y="3035808"/>
            <a:ext cx="50292" cy="157276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5"/>
          <p:cNvSpPr/>
          <p:nvPr/>
        </p:nvSpPr>
        <p:spPr>
          <a:xfrm>
            <a:off x="4846320" y="3163824"/>
            <a:ext cx="402336" cy="402336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5"/>
          <p:cNvSpPr/>
          <p:nvPr/>
        </p:nvSpPr>
        <p:spPr>
          <a:xfrm>
            <a:off x="4846320" y="31638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6117336" y="318211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59669">
              <a:alpha val="20000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25"/>
          <p:cNvSpPr/>
          <p:nvPr/>
        </p:nvSpPr>
        <p:spPr>
          <a:xfrm>
            <a:off x="6117336" y="31821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4846320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Validate Output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5"/>
          <p:cNvSpPr/>
          <p:nvPr/>
        </p:nvSpPr>
        <p:spPr>
          <a:xfrm>
            <a:off x="4846320" y="395020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Check fields, op type, old_code match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5"/>
          <p:cNvSpPr/>
          <p:nvPr/>
        </p:nvSpPr>
        <p:spPr>
          <a:xfrm>
            <a:off x="4553712" y="363016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5"/>
          <p:cNvSpPr/>
          <p:nvPr/>
        </p:nvSpPr>
        <p:spPr>
          <a:xfrm>
            <a:off x="2523744" y="3035808"/>
            <a:ext cx="2029968" cy="1572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25"/>
          <p:cNvSpPr/>
          <p:nvPr/>
        </p:nvSpPr>
        <p:spPr>
          <a:xfrm>
            <a:off x="2523744" y="3035808"/>
            <a:ext cx="50292" cy="157276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5"/>
          <p:cNvSpPr/>
          <p:nvPr/>
        </p:nvSpPr>
        <p:spPr>
          <a:xfrm>
            <a:off x="2670048" y="3163824"/>
            <a:ext cx="402336" cy="402336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25"/>
          <p:cNvSpPr/>
          <p:nvPr/>
        </p:nvSpPr>
        <p:spPr>
          <a:xfrm>
            <a:off x="2670048" y="31638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5"/>
          <p:cNvSpPr/>
          <p:nvPr/>
        </p:nvSpPr>
        <p:spPr>
          <a:xfrm>
            <a:off x="3941064" y="318211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D97706">
              <a:alpha val="20000"/>
            </a:srgbClr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25"/>
          <p:cNvSpPr/>
          <p:nvPr/>
        </p:nvSpPr>
        <p:spPr>
          <a:xfrm>
            <a:off x="3941064" y="31821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5"/>
          <p:cNvSpPr/>
          <p:nvPr/>
        </p:nvSpPr>
        <p:spPr>
          <a:xfrm>
            <a:off x="2670048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Cache in MongoDB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5"/>
          <p:cNvSpPr/>
          <p:nvPr/>
        </p:nvSpPr>
        <p:spPr>
          <a:xfrm>
            <a:off x="2670048" y="395020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Avoid repeated LLM calls for same issue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5"/>
          <p:cNvSpPr/>
          <p:nvPr/>
        </p:nvSpPr>
        <p:spPr>
          <a:xfrm>
            <a:off x="2377440" y="3630168"/>
            <a:ext cx="14630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←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5"/>
          <p:cNvSpPr/>
          <p:nvPr/>
        </p:nvSpPr>
        <p:spPr>
          <a:xfrm>
            <a:off x="347472" y="3035808"/>
            <a:ext cx="2029968" cy="1572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25"/>
          <p:cNvSpPr/>
          <p:nvPr/>
        </p:nvSpPr>
        <p:spPr>
          <a:xfrm>
            <a:off x="347472" y="3035808"/>
            <a:ext cx="50292" cy="157276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25"/>
          <p:cNvSpPr/>
          <p:nvPr/>
        </p:nvSpPr>
        <p:spPr>
          <a:xfrm>
            <a:off x="493776" y="3163824"/>
            <a:ext cx="402336" cy="402336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5"/>
          <p:cNvSpPr/>
          <p:nvPr/>
        </p:nvSpPr>
        <p:spPr>
          <a:xfrm>
            <a:off x="493776" y="31638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8"/>
              <a:buFont typeface="Calibri"/>
              <a:buNone/>
            </a:pPr>
            <a:r>
              <a:rPr lang="en" sz="528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52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5"/>
          <p:cNvSpPr/>
          <p:nvPr/>
        </p:nvSpPr>
        <p:spPr>
          <a:xfrm>
            <a:off x="1764792" y="318211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D97706">
              <a:alpha val="20000"/>
            </a:srgbClr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5"/>
          <p:cNvSpPr/>
          <p:nvPr/>
        </p:nvSpPr>
        <p:spPr>
          <a:xfrm>
            <a:off x="1764792" y="318211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5"/>
          <p:cNvSpPr/>
          <p:nvPr/>
        </p:nvSpPr>
        <p:spPr>
          <a:xfrm>
            <a:off x="493776" y="36576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Apply via GitHub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5"/>
          <p:cNvSpPr/>
          <p:nvPr/>
        </p:nvSpPr>
        <p:spPr>
          <a:xfrm>
            <a:off x="493776" y="3950208"/>
            <a:ext cx="17830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Branch → patch → PR → build check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6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26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6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AI Prompt Engineering for Sonar Rule Fixes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347472" y="1078992"/>
            <a:ext cx="5166360" cy="374904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6"/>
          <p:cNvSpPr/>
          <p:nvPr/>
        </p:nvSpPr>
        <p:spPr>
          <a:xfrm>
            <a:off x="347472" y="1078992"/>
            <a:ext cx="5166360" cy="274320"/>
          </a:xfrm>
          <a:prstGeom prst="rect">
            <a:avLst/>
          </a:prstGeom>
          <a:solidFill>
            <a:srgbClr val="0F172A"/>
          </a:solidFill>
          <a:ln w="127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26"/>
          <p:cNvSpPr/>
          <p:nvPr/>
        </p:nvSpPr>
        <p:spPr>
          <a:xfrm>
            <a:off x="347472" y="1078992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Consolas"/>
              <a:buNone/>
            </a:pPr>
            <a:r>
              <a:rPr lang="en" sz="850" b="1" i="0" u="none" strike="noStrike" cap="non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PROMPT STRUCTURE  (java:S106 example)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6"/>
          <p:cNvSpPr/>
          <p:nvPr/>
        </p:nvSpPr>
        <p:spPr>
          <a:xfrm>
            <a:off x="457200" y="1389888"/>
            <a:ext cx="4919472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You are fixing a Java SonarCloud issue.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Rule:     java:S106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Message:  Replace System.out with a logger.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File:     .../service/UserService.java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Line:     42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Code Context (lines 38–42):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public void processUser(String name) {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System.out.println("Processing: "+name);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Guidance: Replace with SLF4J logger.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Add logger field if missing. Add imports.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Return ONLY valid JSON: { "problem":"...",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"code_changes":[{"op":"replace","line":42,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880"/>
              <a:buFont typeface="Consolas"/>
              <a:buNone/>
            </a:pPr>
            <a:r>
              <a:rPr lang="en" sz="880" b="0" i="0" u="none" strike="noStrike" cap="non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"old_code":"System.out...","new_code":"logger.info..."}]}</a:t>
            </a:r>
            <a:endParaRPr sz="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6"/>
          <p:cNvSpPr/>
          <p:nvPr/>
        </p:nvSpPr>
        <p:spPr>
          <a:xfrm>
            <a:off x="5687568" y="1078992"/>
            <a:ext cx="3108960" cy="3749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6"/>
          <p:cNvSpPr/>
          <p:nvPr/>
        </p:nvSpPr>
        <p:spPr>
          <a:xfrm>
            <a:off x="5687568" y="1078992"/>
            <a:ext cx="50292" cy="374904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26"/>
          <p:cNvSpPr/>
          <p:nvPr/>
        </p:nvSpPr>
        <p:spPr>
          <a:xfrm>
            <a:off x="5833872" y="115214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Why Structured JSON?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6"/>
          <p:cNvSpPr/>
          <p:nvPr/>
        </p:nvSpPr>
        <p:spPr>
          <a:xfrm>
            <a:off x="5833872" y="1463040"/>
            <a:ext cx="279806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26"/>
          <p:cNvSpPr/>
          <p:nvPr/>
        </p:nvSpPr>
        <p:spPr>
          <a:xfrm>
            <a:off x="5833872" y="1554480"/>
            <a:ext cx="274320" cy="27432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26"/>
          <p:cNvSpPr/>
          <p:nvPr/>
        </p:nvSpPr>
        <p:spPr>
          <a:xfrm>
            <a:off x="5833872" y="15544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6"/>
          <p:cNvSpPr/>
          <p:nvPr/>
        </p:nvSpPr>
        <p:spPr>
          <a:xfrm>
            <a:off x="6181344" y="1554480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Machine-readable — no parsing ambiguity or freetext issues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6"/>
          <p:cNvSpPr/>
          <p:nvPr/>
        </p:nvSpPr>
        <p:spPr>
          <a:xfrm>
            <a:off x="5833872" y="2048256"/>
            <a:ext cx="274320" cy="27432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26"/>
          <p:cNvSpPr/>
          <p:nvPr/>
        </p:nvSpPr>
        <p:spPr>
          <a:xfrm>
            <a:off x="5833872" y="20482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6181344" y="2048256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field (op, file, line, old_code) validated before apply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6"/>
          <p:cNvSpPr/>
          <p:nvPr/>
        </p:nvSpPr>
        <p:spPr>
          <a:xfrm>
            <a:off x="5833872" y="2542032"/>
            <a:ext cx="274320" cy="27432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26"/>
          <p:cNvSpPr/>
          <p:nvPr/>
        </p:nvSpPr>
        <p:spPr>
          <a:xfrm>
            <a:off x="5833872" y="25420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6"/>
          <p:cNvSpPr/>
          <p:nvPr/>
        </p:nvSpPr>
        <p:spPr>
          <a:xfrm>
            <a:off x="6181344" y="2542032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Supports ops: replace, insert_before, insert_after, delete, move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6"/>
          <p:cNvSpPr/>
          <p:nvPr/>
        </p:nvSpPr>
        <p:spPr>
          <a:xfrm>
            <a:off x="5833872" y="3035808"/>
            <a:ext cx="274320" cy="27432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26"/>
          <p:cNvSpPr/>
          <p:nvPr/>
        </p:nvSpPr>
        <p:spPr>
          <a:xfrm>
            <a:off x="5833872" y="30358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6"/>
          <p:cNvSpPr/>
          <p:nvPr/>
        </p:nvSpPr>
        <p:spPr>
          <a:xfrm>
            <a:off x="6181344" y="3035808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Hallucinated or malformed output automatically rejected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6"/>
          <p:cNvSpPr/>
          <p:nvPr/>
        </p:nvSpPr>
        <p:spPr>
          <a:xfrm>
            <a:off x="5833872" y="3529584"/>
            <a:ext cx="274320" cy="27432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26"/>
          <p:cNvSpPr/>
          <p:nvPr/>
        </p:nvSpPr>
        <p:spPr>
          <a:xfrm>
            <a:off x="5833872" y="35295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6"/>
          <p:cNvSpPr/>
          <p:nvPr/>
        </p:nvSpPr>
        <p:spPr>
          <a:xfrm>
            <a:off x="6181344" y="3529584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Enables atomic, traceable patch application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6"/>
          <p:cNvSpPr/>
          <p:nvPr/>
        </p:nvSpPr>
        <p:spPr>
          <a:xfrm>
            <a:off x="5833872" y="4023360"/>
            <a:ext cx="274320" cy="27432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26"/>
          <p:cNvSpPr/>
          <p:nvPr/>
        </p:nvSpPr>
        <p:spPr>
          <a:xfrm>
            <a:off x="5833872" y="40233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6"/>
          <p:cNvSpPr/>
          <p:nvPr/>
        </p:nvSpPr>
        <p:spPr>
          <a:xfrm>
            <a:off x="6181344" y="4023360"/>
            <a:ext cx="248716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is treated as an assistant, not a trusted code committer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27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27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CONTEXT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7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Why Code Context Matters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7"/>
          <p:cNvSpPr/>
          <p:nvPr/>
        </p:nvSpPr>
        <p:spPr>
          <a:xfrm>
            <a:off x="347472" y="1078992"/>
            <a:ext cx="4133088" cy="3703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27"/>
          <p:cNvSpPr/>
          <p:nvPr/>
        </p:nvSpPr>
        <p:spPr>
          <a:xfrm>
            <a:off x="347472" y="1078992"/>
            <a:ext cx="50292" cy="370332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27"/>
          <p:cNvSpPr/>
          <p:nvPr/>
        </p:nvSpPr>
        <p:spPr>
          <a:xfrm>
            <a:off x="475488" y="1170432"/>
            <a:ext cx="402336" cy="402336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27"/>
          <p:cNvSpPr/>
          <p:nvPr/>
        </p:nvSpPr>
        <p:spPr>
          <a:xfrm>
            <a:off x="475488" y="11704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7"/>
          <p:cNvSpPr/>
          <p:nvPr/>
        </p:nvSpPr>
        <p:spPr>
          <a:xfrm>
            <a:off x="950976" y="1188720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Without Code Context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7"/>
          <p:cNvSpPr/>
          <p:nvPr/>
        </p:nvSpPr>
        <p:spPr>
          <a:xfrm>
            <a:off x="475488" y="1609344"/>
            <a:ext cx="3840480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27"/>
          <p:cNvSpPr/>
          <p:nvPr/>
        </p:nvSpPr>
        <p:spPr>
          <a:xfrm>
            <a:off x="475488" y="1691640"/>
            <a:ext cx="237744" cy="237744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27"/>
          <p:cNvSpPr/>
          <p:nvPr/>
        </p:nvSpPr>
        <p:spPr>
          <a:xfrm>
            <a:off x="475488" y="169164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7"/>
          <p:cNvSpPr/>
          <p:nvPr/>
        </p:nvSpPr>
        <p:spPr>
          <a:xfrm>
            <a:off x="786384" y="1691640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may hallucinate the wrong class name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7"/>
          <p:cNvSpPr/>
          <p:nvPr/>
        </p:nvSpPr>
        <p:spPr>
          <a:xfrm>
            <a:off x="475488" y="2167128"/>
            <a:ext cx="237744" cy="237744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27"/>
          <p:cNvSpPr/>
          <p:nvPr/>
        </p:nvSpPr>
        <p:spPr>
          <a:xfrm>
            <a:off x="475488" y="216712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7"/>
          <p:cNvSpPr/>
          <p:nvPr/>
        </p:nvSpPr>
        <p:spPr>
          <a:xfrm>
            <a:off x="786384" y="2167128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Wrong method signature assumed from training data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7"/>
          <p:cNvSpPr/>
          <p:nvPr/>
        </p:nvSpPr>
        <p:spPr>
          <a:xfrm>
            <a:off x="475488" y="2642616"/>
            <a:ext cx="237744" cy="237744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27"/>
          <p:cNvSpPr/>
          <p:nvPr/>
        </p:nvSpPr>
        <p:spPr>
          <a:xfrm>
            <a:off x="475488" y="264261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7"/>
          <p:cNvSpPr/>
          <p:nvPr/>
        </p:nvSpPr>
        <p:spPr>
          <a:xfrm>
            <a:off x="786384" y="2642616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Incorrect indentation style used in patch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7"/>
          <p:cNvSpPr/>
          <p:nvPr/>
        </p:nvSpPr>
        <p:spPr>
          <a:xfrm>
            <a:off x="475488" y="3118104"/>
            <a:ext cx="237744" cy="237744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7"/>
          <p:cNvSpPr/>
          <p:nvPr/>
        </p:nvSpPr>
        <p:spPr>
          <a:xfrm>
            <a:off x="475488" y="311810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7"/>
          <p:cNvSpPr/>
          <p:nvPr/>
        </p:nvSpPr>
        <p:spPr>
          <a:xfrm>
            <a:off x="786384" y="3118104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Existing import duplicated — causing compile error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7"/>
          <p:cNvSpPr/>
          <p:nvPr/>
        </p:nvSpPr>
        <p:spPr>
          <a:xfrm>
            <a:off x="475488" y="3593592"/>
            <a:ext cx="237744" cy="237744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7"/>
          <p:cNvSpPr/>
          <p:nvPr/>
        </p:nvSpPr>
        <p:spPr>
          <a:xfrm>
            <a:off x="475488" y="35935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7"/>
          <p:cNvSpPr/>
          <p:nvPr/>
        </p:nvSpPr>
        <p:spPr>
          <a:xfrm>
            <a:off x="786384" y="3593592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old_code field doesn't match actual source → patch rejected entirely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7"/>
          <p:cNvSpPr/>
          <p:nvPr/>
        </p:nvSpPr>
        <p:spPr>
          <a:xfrm>
            <a:off x="475488" y="4069080"/>
            <a:ext cx="237744" cy="237744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27"/>
          <p:cNvSpPr/>
          <p:nvPr/>
        </p:nvSpPr>
        <p:spPr>
          <a:xfrm>
            <a:off x="475488" y="406908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7"/>
          <p:cNvSpPr/>
          <p:nvPr/>
        </p:nvSpPr>
        <p:spPr>
          <a:xfrm>
            <a:off x="786384" y="4069080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 is generic and not applicable to the actual repository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7"/>
          <p:cNvSpPr/>
          <p:nvPr/>
        </p:nvSpPr>
        <p:spPr>
          <a:xfrm>
            <a:off x="4663440" y="1078992"/>
            <a:ext cx="4133088" cy="37033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27"/>
          <p:cNvSpPr/>
          <p:nvPr/>
        </p:nvSpPr>
        <p:spPr>
          <a:xfrm>
            <a:off x="4663440" y="1078992"/>
            <a:ext cx="50292" cy="37033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27"/>
          <p:cNvSpPr/>
          <p:nvPr/>
        </p:nvSpPr>
        <p:spPr>
          <a:xfrm>
            <a:off x="4791456" y="1170432"/>
            <a:ext cx="402336" cy="402336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27"/>
          <p:cNvSpPr/>
          <p:nvPr/>
        </p:nvSpPr>
        <p:spPr>
          <a:xfrm>
            <a:off x="4791456" y="11704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7"/>
          <p:cNvSpPr/>
          <p:nvPr/>
        </p:nvSpPr>
        <p:spPr>
          <a:xfrm>
            <a:off x="5266944" y="11887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With Code Context (our approach)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7"/>
          <p:cNvSpPr/>
          <p:nvPr/>
        </p:nvSpPr>
        <p:spPr>
          <a:xfrm>
            <a:off x="4791456" y="1609344"/>
            <a:ext cx="3840480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27"/>
          <p:cNvSpPr/>
          <p:nvPr/>
        </p:nvSpPr>
        <p:spPr>
          <a:xfrm>
            <a:off x="4791456" y="1691640"/>
            <a:ext cx="237744" cy="237744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27"/>
          <p:cNvSpPr/>
          <p:nvPr/>
        </p:nvSpPr>
        <p:spPr>
          <a:xfrm>
            <a:off x="4791456" y="169164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7"/>
          <p:cNvSpPr/>
          <p:nvPr/>
        </p:nvSpPr>
        <p:spPr>
          <a:xfrm>
            <a:off x="5102352" y="1691640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~20 lines around the issue fetched from GitHub API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7"/>
          <p:cNvSpPr/>
          <p:nvPr/>
        </p:nvSpPr>
        <p:spPr>
          <a:xfrm>
            <a:off x="4791456" y="2167128"/>
            <a:ext cx="237744" cy="237744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7"/>
          <p:cNvSpPr/>
          <p:nvPr/>
        </p:nvSpPr>
        <p:spPr>
          <a:xfrm>
            <a:off x="4791456" y="216712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7"/>
          <p:cNvSpPr/>
          <p:nvPr/>
        </p:nvSpPr>
        <p:spPr>
          <a:xfrm>
            <a:off x="5102352" y="2167128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class name, method signature embedded in prompt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7"/>
          <p:cNvSpPr/>
          <p:nvPr/>
        </p:nvSpPr>
        <p:spPr>
          <a:xfrm>
            <a:off x="4791456" y="2642616"/>
            <a:ext cx="237744" cy="237744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27"/>
          <p:cNvSpPr/>
          <p:nvPr/>
        </p:nvSpPr>
        <p:spPr>
          <a:xfrm>
            <a:off x="4791456" y="264261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7"/>
          <p:cNvSpPr/>
          <p:nvPr/>
        </p:nvSpPr>
        <p:spPr>
          <a:xfrm>
            <a:off x="5102352" y="2642616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generates old_code matching actual source exactly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7"/>
          <p:cNvSpPr/>
          <p:nvPr/>
        </p:nvSpPr>
        <p:spPr>
          <a:xfrm>
            <a:off x="4791456" y="3118104"/>
            <a:ext cx="237744" cy="237744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27"/>
          <p:cNvSpPr/>
          <p:nvPr/>
        </p:nvSpPr>
        <p:spPr>
          <a:xfrm>
            <a:off x="4791456" y="311810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7"/>
          <p:cNvSpPr/>
          <p:nvPr/>
        </p:nvSpPr>
        <p:spPr>
          <a:xfrm>
            <a:off x="5102352" y="3118104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Backend performs tolerant match (whitespace normalized)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7"/>
          <p:cNvSpPr/>
          <p:nvPr/>
        </p:nvSpPr>
        <p:spPr>
          <a:xfrm>
            <a:off x="4791456" y="3593592"/>
            <a:ext cx="237744" cy="237744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27"/>
          <p:cNvSpPr/>
          <p:nvPr/>
        </p:nvSpPr>
        <p:spPr>
          <a:xfrm>
            <a:off x="4791456" y="35935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7"/>
          <p:cNvSpPr/>
          <p:nvPr/>
        </p:nvSpPr>
        <p:spPr>
          <a:xfrm>
            <a:off x="5102352" y="3593592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 is repository-aware, rule-aware, and context-aware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7"/>
          <p:cNvSpPr/>
          <p:nvPr/>
        </p:nvSpPr>
        <p:spPr>
          <a:xfrm>
            <a:off x="4791456" y="4069080"/>
            <a:ext cx="237744" cy="237744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7"/>
          <p:cNvSpPr/>
          <p:nvPr/>
        </p:nvSpPr>
        <p:spPr>
          <a:xfrm>
            <a:off x="4791456" y="406908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7"/>
          <p:cNvSpPr/>
          <p:nvPr/>
        </p:nvSpPr>
        <p:spPr>
          <a:xfrm>
            <a:off x="5102352" y="4069080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Applied patch has high confidence of success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7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lang="en" sz="1100" b="1" i="1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Code context makes AI fixes repository-aware, rule-aware, and safer to apply.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8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8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8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Java Fix Safety Rules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8"/>
          <p:cNvSpPr/>
          <p:nvPr/>
        </p:nvSpPr>
        <p:spPr>
          <a:xfrm>
            <a:off x="347472" y="1042416"/>
            <a:ext cx="84490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" sz="11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 output is never blindly trusted — every patch passes through a multi-rule safety gate before touching the repository.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8"/>
          <p:cNvSpPr/>
          <p:nvPr/>
        </p:nvSpPr>
        <p:spPr>
          <a:xfrm>
            <a:off x="347472" y="1389888"/>
            <a:ext cx="4187952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28"/>
          <p:cNvSpPr/>
          <p:nvPr/>
        </p:nvSpPr>
        <p:spPr>
          <a:xfrm>
            <a:off x="347472" y="1389888"/>
            <a:ext cx="50292" cy="10972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8"/>
          <p:cNvSpPr/>
          <p:nvPr/>
        </p:nvSpPr>
        <p:spPr>
          <a:xfrm>
            <a:off x="479715" y="1483916"/>
            <a:ext cx="457200" cy="457200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8"/>
          <p:cNvSpPr/>
          <p:nvPr/>
        </p:nvSpPr>
        <p:spPr>
          <a:xfrm>
            <a:off x="490498" y="14839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8"/>
          <p:cNvSpPr/>
          <p:nvPr/>
        </p:nvSpPr>
        <p:spPr>
          <a:xfrm>
            <a:off x="1042416" y="150876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No Duplicate Constants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8"/>
          <p:cNvSpPr/>
          <p:nvPr/>
        </p:nvSpPr>
        <p:spPr>
          <a:xfrm>
            <a:off x="526125" y="1983040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28"/>
          <p:cNvSpPr/>
          <p:nvPr/>
        </p:nvSpPr>
        <p:spPr>
          <a:xfrm>
            <a:off x="482993" y="2066975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Checks if the constant already exists in the class scope before inserting. Duplicate field declarations break compilation.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8"/>
          <p:cNvSpPr/>
          <p:nvPr/>
        </p:nvSpPr>
        <p:spPr>
          <a:xfrm>
            <a:off x="4718304" y="1389888"/>
            <a:ext cx="4187952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8"/>
          <p:cNvSpPr/>
          <p:nvPr/>
        </p:nvSpPr>
        <p:spPr>
          <a:xfrm>
            <a:off x="4718304" y="1389888"/>
            <a:ext cx="50292" cy="109728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28"/>
          <p:cNvSpPr/>
          <p:nvPr/>
        </p:nvSpPr>
        <p:spPr>
          <a:xfrm>
            <a:off x="4861330" y="1483916"/>
            <a:ext cx="457200" cy="457200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8"/>
          <p:cNvSpPr/>
          <p:nvPr/>
        </p:nvSpPr>
        <p:spPr>
          <a:xfrm>
            <a:off x="4882896" y="1527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8"/>
          <p:cNvSpPr/>
          <p:nvPr/>
        </p:nvSpPr>
        <p:spPr>
          <a:xfrm>
            <a:off x="5564210" y="1584241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No Fields Inside Methods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8"/>
          <p:cNvSpPr/>
          <p:nvPr/>
        </p:nvSpPr>
        <p:spPr>
          <a:xfrm>
            <a:off x="4864608" y="1993823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8"/>
          <p:cNvSpPr/>
          <p:nvPr/>
        </p:nvSpPr>
        <p:spPr>
          <a:xfrm>
            <a:off x="4864608" y="2066975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Logger fields must be added at class level. Inserting a field declaration inside a method body produces a syntax error.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8"/>
          <p:cNvSpPr/>
          <p:nvPr/>
        </p:nvSpPr>
        <p:spPr>
          <a:xfrm>
            <a:off x="347472" y="2624328"/>
            <a:ext cx="4187952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28"/>
          <p:cNvSpPr/>
          <p:nvPr/>
        </p:nvSpPr>
        <p:spPr>
          <a:xfrm>
            <a:off x="347472" y="2624328"/>
            <a:ext cx="50292" cy="10972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28"/>
          <p:cNvSpPr/>
          <p:nvPr/>
        </p:nvSpPr>
        <p:spPr>
          <a:xfrm>
            <a:off x="512064" y="2761488"/>
            <a:ext cx="457200" cy="457200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28"/>
          <p:cNvSpPr/>
          <p:nvPr/>
        </p:nvSpPr>
        <p:spPr>
          <a:xfrm>
            <a:off x="512064" y="27614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8"/>
          <p:cNvSpPr/>
          <p:nvPr/>
        </p:nvSpPr>
        <p:spPr>
          <a:xfrm>
            <a:off x="1193378" y="2797115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No java.lang Imports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8"/>
          <p:cNvSpPr/>
          <p:nvPr/>
        </p:nvSpPr>
        <p:spPr>
          <a:xfrm>
            <a:off x="482993" y="3325310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28"/>
          <p:cNvSpPr/>
          <p:nvPr/>
        </p:nvSpPr>
        <p:spPr>
          <a:xfrm>
            <a:off x="504559" y="3344547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java.lang is automatically imported by the JVM. Adding explicit imports creates unnecessary warnings.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8"/>
          <p:cNvSpPr/>
          <p:nvPr/>
        </p:nvSpPr>
        <p:spPr>
          <a:xfrm>
            <a:off x="4718304" y="2624328"/>
            <a:ext cx="4187952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8"/>
          <p:cNvSpPr/>
          <p:nvPr/>
        </p:nvSpPr>
        <p:spPr>
          <a:xfrm>
            <a:off x="4718304" y="2624328"/>
            <a:ext cx="50292" cy="10972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28"/>
          <p:cNvSpPr/>
          <p:nvPr/>
        </p:nvSpPr>
        <p:spPr>
          <a:xfrm>
            <a:off x="4861330" y="2664441"/>
            <a:ext cx="457200" cy="457200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28"/>
          <p:cNvSpPr/>
          <p:nvPr/>
        </p:nvSpPr>
        <p:spPr>
          <a:xfrm>
            <a:off x="4882896" y="266444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8"/>
          <p:cNvSpPr/>
          <p:nvPr/>
        </p:nvSpPr>
        <p:spPr>
          <a:xfrm>
            <a:off x="5564210" y="2764766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No Ambiguous Single-Line Patches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8"/>
          <p:cNvSpPr/>
          <p:nvPr/>
        </p:nvSpPr>
        <p:spPr>
          <a:xfrm>
            <a:off x="4864608" y="3217480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28"/>
          <p:cNvSpPr/>
          <p:nvPr/>
        </p:nvSpPr>
        <p:spPr>
          <a:xfrm>
            <a:off x="4864608" y="3322981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If old_code matches more than one location in the file, the patch is skipped — wrong-line replacement would corrupt logic.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8"/>
          <p:cNvSpPr/>
          <p:nvPr/>
        </p:nvSpPr>
        <p:spPr>
          <a:xfrm>
            <a:off x="347472" y="3858768"/>
            <a:ext cx="4187952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8"/>
          <p:cNvSpPr/>
          <p:nvPr/>
        </p:nvSpPr>
        <p:spPr>
          <a:xfrm>
            <a:off x="347472" y="3858768"/>
            <a:ext cx="50292" cy="109728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8"/>
          <p:cNvSpPr/>
          <p:nvPr/>
        </p:nvSpPr>
        <p:spPr>
          <a:xfrm>
            <a:off x="512064" y="3952796"/>
            <a:ext cx="457200" cy="457200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28"/>
          <p:cNvSpPr/>
          <p:nvPr/>
        </p:nvSpPr>
        <p:spPr>
          <a:xfrm>
            <a:off x="512064" y="3995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8"/>
          <p:cNvSpPr/>
          <p:nvPr/>
        </p:nvSpPr>
        <p:spPr>
          <a:xfrm>
            <a:off x="1063982" y="4053121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Exact old_code Replacement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8"/>
          <p:cNvSpPr/>
          <p:nvPr/>
        </p:nvSpPr>
        <p:spPr>
          <a:xfrm>
            <a:off x="493776" y="4451920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28"/>
          <p:cNvSpPr/>
          <p:nvPr/>
        </p:nvSpPr>
        <p:spPr>
          <a:xfrm>
            <a:off x="515342" y="4578987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Tolerant whitespace normalization applied. If old_code cannot be found after normalization, the patch is rejected.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8"/>
          <p:cNvSpPr/>
          <p:nvPr/>
        </p:nvSpPr>
        <p:spPr>
          <a:xfrm>
            <a:off x="4718304" y="3858768"/>
            <a:ext cx="4187952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28"/>
          <p:cNvSpPr/>
          <p:nvPr/>
        </p:nvSpPr>
        <p:spPr>
          <a:xfrm>
            <a:off x="4718304" y="3858768"/>
            <a:ext cx="50292" cy="109728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28"/>
          <p:cNvSpPr/>
          <p:nvPr/>
        </p:nvSpPr>
        <p:spPr>
          <a:xfrm>
            <a:off x="4882896" y="3898881"/>
            <a:ext cx="457200" cy="45720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28"/>
          <p:cNvSpPr/>
          <p:nvPr/>
        </p:nvSpPr>
        <p:spPr>
          <a:xfrm>
            <a:off x="4872113" y="389888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lang="en" sz="16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↷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8"/>
          <p:cNvSpPr/>
          <p:nvPr/>
        </p:nvSpPr>
        <p:spPr>
          <a:xfrm>
            <a:off x="5564210" y="3999206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Skip Unsafe Changes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8"/>
          <p:cNvSpPr/>
          <p:nvPr/>
        </p:nvSpPr>
        <p:spPr>
          <a:xfrm>
            <a:off x="4875391" y="4441137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28"/>
          <p:cNvSpPr/>
          <p:nvPr/>
        </p:nvSpPr>
        <p:spPr>
          <a:xfrm>
            <a:off x="4864608" y="4578987"/>
            <a:ext cx="38862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Applied / Skipped / Error counters tracked per scan run. Partial failures do not block safe patches from applying.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9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9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9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Validation Pipeline — 6-Layer Defense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9"/>
          <p:cNvSpPr/>
          <p:nvPr/>
        </p:nvSpPr>
        <p:spPr>
          <a:xfrm>
            <a:off x="347472" y="1170432"/>
            <a:ext cx="420624" cy="420624"/>
          </a:xfrm>
          <a:prstGeom prst="ellipse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29"/>
          <p:cNvSpPr/>
          <p:nvPr/>
        </p:nvSpPr>
        <p:spPr>
          <a:xfrm>
            <a:off x="347472" y="117043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9"/>
          <p:cNvSpPr/>
          <p:nvPr/>
        </p:nvSpPr>
        <p:spPr>
          <a:xfrm>
            <a:off x="539496" y="1591056"/>
            <a:ext cx="36576" cy="14630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9"/>
          <p:cNvSpPr/>
          <p:nvPr/>
        </p:nvSpPr>
        <p:spPr>
          <a:xfrm>
            <a:off x="877824" y="1115568"/>
            <a:ext cx="7918704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29"/>
          <p:cNvSpPr/>
          <p:nvPr/>
        </p:nvSpPr>
        <p:spPr>
          <a:xfrm>
            <a:off x="877824" y="1115568"/>
            <a:ext cx="45720" cy="566928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29"/>
          <p:cNvSpPr/>
          <p:nvPr/>
        </p:nvSpPr>
        <p:spPr>
          <a:xfrm>
            <a:off x="1005840" y="115214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SonarCloud Validation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9"/>
          <p:cNvSpPr/>
          <p:nvPr/>
        </p:nvSpPr>
        <p:spPr>
          <a:xfrm>
            <a:off x="1005840" y="138988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Fetch open issues and hotspots; scope to project key; store severity metadata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9"/>
          <p:cNvSpPr/>
          <p:nvPr/>
        </p:nvSpPr>
        <p:spPr>
          <a:xfrm>
            <a:off x="5669280" y="1170432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29"/>
          <p:cNvSpPr/>
          <p:nvPr/>
        </p:nvSpPr>
        <p:spPr>
          <a:xfrm>
            <a:off x="5742432" y="1170432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Skip if SonarCloud API unavailable; retry via quality_gate_retries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9"/>
          <p:cNvSpPr/>
          <p:nvPr/>
        </p:nvSpPr>
        <p:spPr>
          <a:xfrm>
            <a:off x="347472" y="1792224"/>
            <a:ext cx="420624" cy="420624"/>
          </a:xfrm>
          <a:prstGeom prst="ellipse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9"/>
          <p:cNvSpPr/>
          <p:nvPr/>
        </p:nvSpPr>
        <p:spPr>
          <a:xfrm>
            <a:off x="347472" y="179222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9"/>
          <p:cNvSpPr/>
          <p:nvPr/>
        </p:nvSpPr>
        <p:spPr>
          <a:xfrm>
            <a:off x="539496" y="2212848"/>
            <a:ext cx="36576" cy="14630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29"/>
          <p:cNvSpPr/>
          <p:nvPr/>
        </p:nvSpPr>
        <p:spPr>
          <a:xfrm>
            <a:off x="877824" y="1737360"/>
            <a:ext cx="7918704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29"/>
          <p:cNvSpPr/>
          <p:nvPr/>
        </p:nvSpPr>
        <p:spPr>
          <a:xfrm>
            <a:off x="877824" y="1737360"/>
            <a:ext cx="45720" cy="566928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29"/>
          <p:cNvSpPr/>
          <p:nvPr/>
        </p:nvSpPr>
        <p:spPr>
          <a:xfrm>
            <a:off x="1005840" y="177393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AI Output Validation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9"/>
          <p:cNvSpPr/>
          <p:nvPr/>
        </p:nvSpPr>
        <p:spPr>
          <a:xfrm>
            <a:off x="1005840" y="201168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LLM must return valid JSON with problem, solution, code_changes array; validate op types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9"/>
          <p:cNvSpPr/>
          <p:nvPr/>
        </p:nvSpPr>
        <p:spPr>
          <a:xfrm>
            <a:off x="5669280" y="1792224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29"/>
          <p:cNvSpPr/>
          <p:nvPr/>
        </p:nvSpPr>
        <p:spPr>
          <a:xfrm>
            <a:off x="5742432" y="1792224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Malformed or missing JSON output is discarded entirely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9"/>
          <p:cNvSpPr/>
          <p:nvPr/>
        </p:nvSpPr>
        <p:spPr>
          <a:xfrm>
            <a:off x="347472" y="2414016"/>
            <a:ext cx="420624" cy="420624"/>
          </a:xfrm>
          <a:prstGeom prst="ellipse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29"/>
          <p:cNvSpPr/>
          <p:nvPr/>
        </p:nvSpPr>
        <p:spPr>
          <a:xfrm>
            <a:off x="347472" y="24140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9"/>
          <p:cNvSpPr/>
          <p:nvPr/>
        </p:nvSpPr>
        <p:spPr>
          <a:xfrm>
            <a:off x="539496" y="2834640"/>
            <a:ext cx="36576" cy="14630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29"/>
          <p:cNvSpPr/>
          <p:nvPr/>
        </p:nvSpPr>
        <p:spPr>
          <a:xfrm>
            <a:off x="877824" y="2359152"/>
            <a:ext cx="7918704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29"/>
          <p:cNvSpPr/>
          <p:nvPr/>
        </p:nvSpPr>
        <p:spPr>
          <a:xfrm>
            <a:off x="877824" y="2359152"/>
            <a:ext cx="45720" cy="566928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29"/>
          <p:cNvSpPr/>
          <p:nvPr/>
        </p:nvSpPr>
        <p:spPr>
          <a:xfrm>
            <a:off x="1005840" y="2395728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Patch Safety Validation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9"/>
          <p:cNvSpPr/>
          <p:nvPr/>
        </p:nvSpPr>
        <p:spPr>
          <a:xfrm>
            <a:off x="1005840" y="263347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old_code must match source (tolerant); Java safety rules applied; ambiguous patches skipped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9"/>
          <p:cNvSpPr/>
          <p:nvPr/>
        </p:nvSpPr>
        <p:spPr>
          <a:xfrm>
            <a:off x="5669280" y="2414016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29"/>
          <p:cNvSpPr/>
          <p:nvPr/>
        </p:nvSpPr>
        <p:spPr>
          <a:xfrm>
            <a:off x="5742432" y="2414016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Unsafe patch logged as SKIPPED with reason; others continue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9"/>
          <p:cNvSpPr/>
          <p:nvPr/>
        </p:nvSpPr>
        <p:spPr>
          <a:xfrm>
            <a:off x="347472" y="3035808"/>
            <a:ext cx="420624" cy="420624"/>
          </a:xfrm>
          <a:prstGeom prst="ellipse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29"/>
          <p:cNvSpPr/>
          <p:nvPr/>
        </p:nvSpPr>
        <p:spPr>
          <a:xfrm>
            <a:off x="347472" y="303580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9"/>
          <p:cNvSpPr/>
          <p:nvPr/>
        </p:nvSpPr>
        <p:spPr>
          <a:xfrm>
            <a:off x="539496" y="3456432"/>
            <a:ext cx="36576" cy="14630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29"/>
          <p:cNvSpPr/>
          <p:nvPr/>
        </p:nvSpPr>
        <p:spPr>
          <a:xfrm>
            <a:off x="877824" y="2980944"/>
            <a:ext cx="7918704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29"/>
          <p:cNvSpPr/>
          <p:nvPr/>
        </p:nvSpPr>
        <p:spPr>
          <a:xfrm>
            <a:off x="877824" y="2980944"/>
            <a:ext cx="45720" cy="566928"/>
          </a:xfrm>
          <a:prstGeom prst="rect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29"/>
          <p:cNvSpPr/>
          <p:nvPr/>
        </p:nvSpPr>
        <p:spPr>
          <a:xfrm>
            <a:off x="1005840" y="3017520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Apply Validation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9"/>
          <p:cNvSpPr/>
          <p:nvPr/>
        </p:nvSpPr>
        <p:spPr>
          <a:xfrm>
            <a:off x="1005840" y="3255264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Changes applied through GitHub Contents API; applied/skipped/error counters tracked per run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9"/>
          <p:cNvSpPr/>
          <p:nvPr/>
        </p:nvSpPr>
        <p:spPr>
          <a:xfrm>
            <a:off x="5669280" y="3035808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29"/>
          <p:cNvSpPr/>
          <p:nvPr/>
        </p:nvSpPr>
        <p:spPr>
          <a:xfrm>
            <a:off x="5742432" y="3035808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Atomic application prevents partial unsafe state where possible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9"/>
          <p:cNvSpPr/>
          <p:nvPr/>
        </p:nvSpPr>
        <p:spPr>
          <a:xfrm>
            <a:off x="347472" y="3657600"/>
            <a:ext cx="420624" cy="420624"/>
          </a:xfrm>
          <a:prstGeom prst="ellipse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29"/>
          <p:cNvSpPr/>
          <p:nvPr/>
        </p:nvSpPr>
        <p:spPr>
          <a:xfrm>
            <a:off x="347472" y="3657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9"/>
          <p:cNvSpPr/>
          <p:nvPr/>
        </p:nvSpPr>
        <p:spPr>
          <a:xfrm>
            <a:off x="539496" y="4078224"/>
            <a:ext cx="36576" cy="146304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29"/>
          <p:cNvSpPr/>
          <p:nvPr/>
        </p:nvSpPr>
        <p:spPr>
          <a:xfrm>
            <a:off x="877824" y="3602736"/>
            <a:ext cx="7918704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29"/>
          <p:cNvSpPr/>
          <p:nvPr/>
        </p:nvSpPr>
        <p:spPr>
          <a:xfrm>
            <a:off x="877824" y="3602736"/>
            <a:ext cx="45720" cy="56692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29"/>
          <p:cNvSpPr/>
          <p:nvPr/>
        </p:nvSpPr>
        <p:spPr>
          <a:xfrm>
            <a:off x="1005840" y="363931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Build Validation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9"/>
          <p:cNvSpPr/>
          <p:nvPr/>
        </p:nvSpPr>
        <p:spPr>
          <a:xfrm>
            <a:off x="1005840" y="3877056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Clone fix branch; run Maven build; auto-fix missing imports/logger; re-validate after fix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9"/>
          <p:cNvSpPr/>
          <p:nvPr/>
        </p:nvSpPr>
        <p:spPr>
          <a:xfrm>
            <a:off x="5669280" y="3657600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29"/>
          <p:cNvSpPr/>
          <p:nvPr/>
        </p:nvSpPr>
        <p:spPr>
          <a:xfrm>
            <a:off x="5742432" y="3657600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Build failure triggers low-risk auto-fix attempt then re-run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9"/>
          <p:cNvSpPr/>
          <p:nvPr/>
        </p:nvSpPr>
        <p:spPr>
          <a:xfrm>
            <a:off x="347472" y="4279392"/>
            <a:ext cx="420624" cy="420624"/>
          </a:xfrm>
          <a:prstGeom prst="ellipse">
            <a:avLst/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29"/>
          <p:cNvSpPr/>
          <p:nvPr/>
        </p:nvSpPr>
        <p:spPr>
          <a:xfrm>
            <a:off x="347472" y="427939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9"/>
          <p:cNvSpPr/>
          <p:nvPr/>
        </p:nvSpPr>
        <p:spPr>
          <a:xfrm>
            <a:off x="877824" y="4224528"/>
            <a:ext cx="7918704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81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29"/>
          <p:cNvSpPr/>
          <p:nvPr/>
        </p:nvSpPr>
        <p:spPr>
          <a:xfrm>
            <a:off x="877824" y="4224528"/>
            <a:ext cx="45720" cy="566928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29"/>
          <p:cNvSpPr/>
          <p:nvPr/>
        </p:nvSpPr>
        <p:spPr>
          <a:xfrm>
            <a:off x="1005840" y="426110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 &amp; Dashboard Validation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9"/>
          <p:cNvSpPr/>
          <p:nvPr/>
        </p:nvSpPr>
        <p:spPr>
          <a:xfrm>
            <a:off x="1005840" y="449884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Validates: PR created only when useful changes exist; PR link, number, merge state and scan result tracked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9"/>
          <p:cNvSpPr/>
          <p:nvPr/>
        </p:nvSpPr>
        <p:spPr>
          <a:xfrm>
            <a:off x="5669280" y="4279392"/>
            <a:ext cx="3035808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29"/>
          <p:cNvSpPr/>
          <p:nvPr/>
        </p:nvSpPr>
        <p:spPr>
          <a:xfrm>
            <a:off x="5742432" y="4279392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 Fail: Dashboard shows applied/skipped/error count for every scan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0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30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0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React Dashboard — Feature Panels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0"/>
          <p:cNvSpPr/>
          <p:nvPr/>
        </p:nvSpPr>
        <p:spPr>
          <a:xfrm>
            <a:off x="347472" y="1078992"/>
            <a:ext cx="2029968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30"/>
          <p:cNvSpPr/>
          <p:nvPr/>
        </p:nvSpPr>
        <p:spPr>
          <a:xfrm>
            <a:off x="347472" y="1078992"/>
            <a:ext cx="50292" cy="173736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30"/>
          <p:cNvSpPr/>
          <p:nvPr/>
        </p:nvSpPr>
        <p:spPr>
          <a:xfrm>
            <a:off x="493776" y="1225296"/>
            <a:ext cx="420624" cy="420624"/>
          </a:xfrm>
          <a:prstGeom prst="ellipse">
            <a:avLst/>
          </a:prstGeom>
          <a:solidFill>
            <a:srgbClr val="1D4ED8">
              <a:alpha val="14901"/>
            </a:srgbClr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30"/>
          <p:cNvSpPr/>
          <p:nvPr/>
        </p:nvSpPr>
        <p:spPr>
          <a:xfrm>
            <a:off x="493776" y="12252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0"/>
          <p:cNvSpPr/>
          <p:nvPr/>
        </p:nvSpPr>
        <p:spPr>
          <a:xfrm>
            <a:off x="987552" y="123444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lang="en" sz="10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Overview Panel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0"/>
          <p:cNvSpPr/>
          <p:nvPr/>
        </p:nvSpPr>
        <p:spPr>
          <a:xfrm>
            <a:off x="475488" y="1682496"/>
            <a:ext cx="179222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30"/>
          <p:cNvSpPr/>
          <p:nvPr/>
        </p:nvSpPr>
        <p:spPr>
          <a:xfrm>
            <a:off x="475488" y="1755648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issues, active fixes, PR count, severity breakdown by type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0"/>
          <p:cNvSpPr/>
          <p:nvPr/>
        </p:nvSpPr>
        <p:spPr>
          <a:xfrm>
            <a:off x="475488" y="2523744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30"/>
          <p:cNvSpPr/>
          <p:nvPr/>
        </p:nvSpPr>
        <p:spPr>
          <a:xfrm>
            <a:off x="475488" y="2523744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lang="en" sz="75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OverviewPanel.tsx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0"/>
          <p:cNvSpPr/>
          <p:nvPr/>
        </p:nvSpPr>
        <p:spPr>
          <a:xfrm>
            <a:off x="2542032" y="1078992"/>
            <a:ext cx="2029968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30"/>
          <p:cNvSpPr/>
          <p:nvPr/>
        </p:nvSpPr>
        <p:spPr>
          <a:xfrm>
            <a:off x="2542032" y="1078992"/>
            <a:ext cx="50292" cy="1737360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30"/>
          <p:cNvSpPr/>
          <p:nvPr/>
        </p:nvSpPr>
        <p:spPr>
          <a:xfrm>
            <a:off x="2688336" y="1225296"/>
            <a:ext cx="420624" cy="420624"/>
          </a:xfrm>
          <a:prstGeom prst="ellipse">
            <a:avLst/>
          </a:prstGeom>
          <a:solidFill>
            <a:srgbClr val="DC2626">
              <a:alpha val="14901"/>
            </a:srgbClr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30"/>
          <p:cNvSpPr/>
          <p:nvPr/>
        </p:nvSpPr>
        <p:spPr>
          <a:xfrm>
            <a:off x="2688336" y="12252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🐛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0"/>
          <p:cNvSpPr/>
          <p:nvPr/>
        </p:nvSpPr>
        <p:spPr>
          <a:xfrm>
            <a:off x="3182112" y="123444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lang="en" sz="10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Issue Panel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0"/>
          <p:cNvSpPr/>
          <p:nvPr/>
        </p:nvSpPr>
        <p:spPr>
          <a:xfrm>
            <a:off x="2670048" y="1682496"/>
            <a:ext cx="179222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30"/>
          <p:cNvSpPr/>
          <p:nvPr/>
        </p:nvSpPr>
        <p:spPr>
          <a:xfrm>
            <a:off x="2670048" y="1755648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Filterable list: rule, severity, file path, line number, status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0"/>
          <p:cNvSpPr/>
          <p:nvPr/>
        </p:nvSpPr>
        <p:spPr>
          <a:xfrm>
            <a:off x="2670048" y="2523744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30"/>
          <p:cNvSpPr/>
          <p:nvPr/>
        </p:nvSpPr>
        <p:spPr>
          <a:xfrm>
            <a:off x="2670048" y="2523744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lang="en" sz="75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IssuePanel.tsx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0"/>
          <p:cNvSpPr/>
          <p:nvPr/>
        </p:nvSpPr>
        <p:spPr>
          <a:xfrm>
            <a:off x="4736592" y="1078992"/>
            <a:ext cx="2029968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30"/>
          <p:cNvSpPr/>
          <p:nvPr/>
        </p:nvSpPr>
        <p:spPr>
          <a:xfrm>
            <a:off x="4736592" y="1078992"/>
            <a:ext cx="50292" cy="173736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30"/>
          <p:cNvSpPr/>
          <p:nvPr/>
        </p:nvSpPr>
        <p:spPr>
          <a:xfrm>
            <a:off x="4882896" y="1225296"/>
            <a:ext cx="420624" cy="420624"/>
          </a:xfrm>
          <a:prstGeom prst="ellipse">
            <a:avLst/>
          </a:prstGeom>
          <a:solidFill>
            <a:srgbClr val="0891B2">
              <a:alpha val="14901"/>
            </a:srgbClr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30"/>
          <p:cNvSpPr/>
          <p:nvPr/>
        </p:nvSpPr>
        <p:spPr>
          <a:xfrm>
            <a:off x="4882896" y="12252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0"/>
          <p:cNvSpPr/>
          <p:nvPr/>
        </p:nvSpPr>
        <p:spPr>
          <a:xfrm>
            <a:off x="5376672" y="123444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lang="en" sz="10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AI Fix Panel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0"/>
          <p:cNvSpPr/>
          <p:nvPr/>
        </p:nvSpPr>
        <p:spPr>
          <a:xfrm>
            <a:off x="4864608" y="1682496"/>
            <a:ext cx="179222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30"/>
          <p:cNvSpPr/>
          <p:nvPr/>
        </p:nvSpPr>
        <p:spPr>
          <a:xfrm>
            <a:off x="4864608" y="1755648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View LLM-generated fix explanation and code patch per issue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0"/>
          <p:cNvSpPr/>
          <p:nvPr/>
        </p:nvSpPr>
        <p:spPr>
          <a:xfrm>
            <a:off x="4864608" y="2523744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30"/>
          <p:cNvSpPr/>
          <p:nvPr/>
        </p:nvSpPr>
        <p:spPr>
          <a:xfrm>
            <a:off x="4864608" y="2523744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lang="en" sz="75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FixPanel.tsx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0"/>
          <p:cNvSpPr/>
          <p:nvPr/>
        </p:nvSpPr>
        <p:spPr>
          <a:xfrm>
            <a:off x="6931152" y="1078992"/>
            <a:ext cx="2029968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0"/>
          <p:cNvSpPr/>
          <p:nvPr/>
        </p:nvSpPr>
        <p:spPr>
          <a:xfrm>
            <a:off x="6931152" y="1078992"/>
            <a:ext cx="50292" cy="173736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30"/>
          <p:cNvSpPr/>
          <p:nvPr/>
        </p:nvSpPr>
        <p:spPr>
          <a:xfrm>
            <a:off x="7077456" y="1225296"/>
            <a:ext cx="420624" cy="420624"/>
          </a:xfrm>
          <a:prstGeom prst="ellipse">
            <a:avLst/>
          </a:prstGeom>
          <a:solidFill>
            <a:srgbClr val="0891B2">
              <a:alpha val="14901"/>
            </a:srgbClr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30"/>
          <p:cNvSpPr/>
          <p:nvPr/>
        </p:nvSpPr>
        <p:spPr>
          <a:xfrm>
            <a:off x="7077456" y="12252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⟺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0"/>
          <p:cNvSpPr/>
          <p:nvPr/>
        </p:nvSpPr>
        <p:spPr>
          <a:xfrm>
            <a:off x="7571232" y="123444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lang="en" sz="10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Diff View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0"/>
          <p:cNvSpPr/>
          <p:nvPr/>
        </p:nvSpPr>
        <p:spPr>
          <a:xfrm>
            <a:off x="7059168" y="1682496"/>
            <a:ext cx="179222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30"/>
          <p:cNvSpPr/>
          <p:nvPr/>
        </p:nvSpPr>
        <p:spPr>
          <a:xfrm>
            <a:off x="7059168" y="1755648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GitHub-style old/new code comparison with color-coded lines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0"/>
          <p:cNvSpPr/>
          <p:nvPr/>
        </p:nvSpPr>
        <p:spPr>
          <a:xfrm>
            <a:off x="7059168" y="2523744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30"/>
          <p:cNvSpPr/>
          <p:nvPr/>
        </p:nvSpPr>
        <p:spPr>
          <a:xfrm>
            <a:off x="7059168" y="2523744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lang="en" sz="75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FixPanel.tsx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0"/>
          <p:cNvSpPr/>
          <p:nvPr/>
        </p:nvSpPr>
        <p:spPr>
          <a:xfrm>
            <a:off x="347472" y="2980944"/>
            <a:ext cx="2029968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30"/>
          <p:cNvSpPr/>
          <p:nvPr/>
        </p:nvSpPr>
        <p:spPr>
          <a:xfrm>
            <a:off x="347472" y="2980944"/>
            <a:ext cx="50292" cy="173736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30"/>
          <p:cNvSpPr/>
          <p:nvPr/>
        </p:nvSpPr>
        <p:spPr>
          <a:xfrm>
            <a:off x="493776" y="3127248"/>
            <a:ext cx="420624" cy="420624"/>
          </a:xfrm>
          <a:prstGeom prst="ellipse">
            <a:avLst/>
          </a:prstGeom>
          <a:solidFill>
            <a:srgbClr val="059669">
              <a:alpha val="14901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30"/>
          <p:cNvSpPr/>
          <p:nvPr/>
        </p:nvSpPr>
        <p:spPr>
          <a:xfrm>
            <a:off x="493776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0"/>
          <p:cNvSpPr/>
          <p:nvPr/>
        </p:nvSpPr>
        <p:spPr>
          <a:xfrm>
            <a:off x="987552" y="3136392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lang="en" sz="10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Scan Timeline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0"/>
          <p:cNvSpPr/>
          <p:nvPr/>
        </p:nvSpPr>
        <p:spPr>
          <a:xfrm>
            <a:off x="475488" y="3584448"/>
            <a:ext cx="179222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30"/>
          <p:cNvSpPr/>
          <p:nvPr/>
        </p:nvSpPr>
        <p:spPr>
          <a:xfrm>
            <a:off x="475488" y="3657600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Chronological scan history: branch, PR link, build status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0"/>
          <p:cNvSpPr/>
          <p:nvPr/>
        </p:nvSpPr>
        <p:spPr>
          <a:xfrm>
            <a:off x="475488" y="4425696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30"/>
          <p:cNvSpPr/>
          <p:nvPr/>
        </p:nvSpPr>
        <p:spPr>
          <a:xfrm>
            <a:off x="475488" y="4425696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lang="en" sz="75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ScansPanel.tsx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0"/>
          <p:cNvSpPr/>
          <p:nvPr/>
        </p:nvSpPr>
        <p:spPr>
          <a:xfrm>
            <a:off x="2542032" y="2980944"/>
            <a:ext cx="2029968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0"/>
          <p:cNvSpPr/>
          <p:nvPr/>
        </p:nvSpPr>
        <p:spPr>
          <a:xfrm>
            <a:off x="2542032" y="2980944"/>
            <a:ext cx="50292" cy="173736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30"/>
          <p:cNvSpPr/>
          <p:nvPr/>
        </p:nvSpPr>
        <p:spPr>
          <a:xfrm>
            <a:off x="2688336" y="3127248"/>
            <a:ext cx="420624" cy="420624"/>
          </a:xfrm>
          <a:prstGeom prst="ellipse">
            <a:avLst/>
          </a:prstGeom>
          <a:solidFill>
            <a:srgbClr val="D97706">
              <a:alpha val="14901"/>
            </a:srgbClr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30"/>
          <p:cNvSpPr/>
          <p:nvPr/>
        </p:nvSpPr>
        <p:spPr>
          <a:xfrm>
            <a:off x="2688336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0"/>
          <p:cNvSpPr/>
          <p:nvPr/>
        </p:nvSpPr>
        <p:spPr>
          <a:xfrm>
            <a:off x="3182112" y="3136392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lang="en" sz="10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Analytics Panel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0"/>
          <p:cNvSpPr/>
          <p:nvPr/>
        </p:nvSpPr>
        <p:spPr>
          <a:xfrm>
            <a:off x="2670048" y="3584448"/>
            <a:ext cx="179222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30"/>
          <p:cNvSpPr/>
          <p:nvPr/>
        </p:nvSpPr>
        <p:spPr>
          <a:xfrm>
            <a:off x="2670048" y="3657600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Recharts: severity trend, fix rate, issue type breakdown over time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0"/>
          <p:cNvSpPr/>
          <p:nvPr/>
        </p:nvSpPr>
        <p:spPr>
          <a:xfrm>
            <a:off x="2670048" y="4425696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30"/>
          <p:cNvSpPr/>
          <p:nvPr/>
        </p:nvSpPr>
        <p:spPr>
          <a:xfrm>
            <a:off x="2670048" y="4425696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lang="en" sz="75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AnalyticsPanel.tsx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0"/>
          <p:cNvSpPr/>
          <p:nvPr/>
        </p:nvSpPr>
        <p:spPr>
          <a:xfrm>
            <a:off x="4736592" y="2980944"/>
            <a:ext cx="2029968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30"/>
          <p:cNvSpPr/>
          <p:nvPr/>
        </p:nvSpPr>
        <p:spPr>
          <a:xfrm>
            <a:off x="4736592" y="2980944"/>
            <a:ext cx="50292" cy="1737360"/>
          </a:xfrm>
          <a:prstGeom prst="rect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30"/>
          <p:cNvSpPr/>
          <p:nvPr/>
        </p:nvSpPr>
        <p:spPr>
          <a:xfrm>
            <a:off x="4882896" y="3127248"/>
            <a:ext cx="420624" cy="420624"/>
          </a:xfrm>
          <a:prstGeom prst="ellipse">
            <a:avLst/>
          </a:prstGeom>
          <a:solidFill>
            <a:srgbClr val="0F2D52">
              <a:alpha val="14901"/>
            </a:srgbClr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0"/>
          <p:cNvSpPr/>
          <p:nvPr/>
        </p:nvSpPr>
        <p:spPr>
          <a:xfrm>
            <a:off x="4882896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0"/>
          <p:cNvSpPr/>
          <p:nvPr/>
        </p:nvSpPr>
        <p:spPr>
          <a:xfrm>
            <a:off x="5376672" y="3136392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lang="en" sz="10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Connect Panel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0"/>
          <p:cNvSpPr/>
          <p:nvPr/>
        </p:nvSpPr>
        <p:spPr>
          <a:xfrm>
            <a:off x="4864608" y="3584448"/>
            <a:ext cx="179222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30"/>
          <p:cNvSpPr/>
          <p:nvPr/>
        </p:nvSpPr>
        <p:spPr>
          <a:xfrm>
            <a:off x="4864608" y="3657600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GitHub App installation flow, workspace and repository selection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0"/>
          <p:cNvSpPr/>
          <p:nvPr/>
        </p:nvSpPr>
        <p:spPr>
          <a:xfrm>
            <a:off x="4864608" y="4425696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30"/>
          <p:cNvSpPr/>
          <p:nvPr/>
        </p:nvSpPr>
        <p:spPr>
          <a:xfrm>
            <a:off x="4864608" y="4425696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lang="en" sz="75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GitHubConnectPanel.tsx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0"/>
          <p:cNvSpPr/>
          <p:nvPr/>
        </p:nvSpPr>
        <p:spPr>
          <a:xfrm>
            <a:off x="6931152" y="2980944"/>
            <a:ext cx="2029968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30"/>
          <p:cNvSpPr/>
          <p:nvPr/>
        </p:nvSpPr>
        <p:spPr>
          <a:xfrm>
            <a:off x="6931152" y="2980944"/>
            <a:ext cx="50292" cy="1737360"/>
          </a:xfrm>
          <a:prstGeom prst="rect">
            <a:avLst/>
          </a:prstGeom>
          <a:solidFill>
            <a:srgbClr val="7C3AED"/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30"/>
          <p:cNvSpPr/>
          <p:nvPr/>
        </p:nvSpPr>
        <p:spPr>
          <a:xfrm>
            <a:off x="7077456" y="3127248"/>
            <a:ext cx="420624" cy="420624"/>
          </a:xfrm>
          <a:prstGeom prst="ellipse">
            <a:avLst/>
          </a:prstGeom>
          <a:solidFill>
            <a:srgbClr val="7C3AED">
              <a:alpha val="14901"/>
            </a:srgbClr>
          </a:solidFill>
          <a:ln w="12700" cap="flat" cmpd="sng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30"/>
          <p:cNvSpPr/>
          <p:nvPr/>
        </p:nvSpPr>
        <p:spPr>
          <a:xfrm>
            <a:off x="7077456" y="31272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📄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0"/>
          <p:cNvSpPr/>
          <p:nvPr/>
        </p:nvSpPr>
        <p:spPr>
          <a:xfrm>
            <a:off x="7571232" y="3136392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050"/>
              <a:buFont typeface="Calibri"/>
              <a:buNone/>
            </a:pPr>
            <a:r>
              <a:rPr lang="en" sz="10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PDF Report Export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0"/>
          <p:cNvSpPr/>
          <p:nvPr/>
        </p:nvSpPr>
        <p:spPr>
          <a:xfrm>
            <a:off x="7059168" y="3584448"/>
            <a:ext cx="1792224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30"/>
          <p:cNvSpPr/>
          <p:nvPr/>
        </p:nvSpPr>
        <p:spPr>
          <a:xfrm>
            <a:off x="7059168" y="3657600"/>
            <a:ext cx="1792224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" sz="9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html2canvas + jsPDF: one-click export of dashboard scan summary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0"/>
          <p:cNvSpPr/>
          <p:nvPr/>
        </p:nvSpPr>
        <p:spPr>
          <a:xfrm>
            <a:off x="7059168" y="4425696"/>
            <a:ext cx="1792224" cy="201168"/>
          </a:xfrm>
          <a:prstGeom prst="roundRect">
            <a:avLst>
              <a:gd name="adj" fmla="val 27273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30"/>
          <p:cNvSpPr/>
          <p:nvPr/>
        </p:nvSpPr>
        <p:spPr>
          <a:xfrm>
            <a:off x="7059168" y="4425696"/>
            <a:ext cx="17922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nsolas"/>
              <a:buNone/>
            </a:pPr>
            <a:r>
              <a:rPr lang="en" sz="750" b="0" i="0" u="none" strike="noStrike" cap="non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App.tsx (export fn)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1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31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1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Database Design — MongoDB (12 Collections)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1"/>
          <p:cNvSpPr/>
          <p:nvPr/>
        </p:nvSpPr>
        <p:spPr>
          <a:xfrm>
            <a:off x="8046720" y="502920"/>
            <a:ext cx="749808" cy="347472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31"/>
          <p:cNvSpPr/>
          <p:nvPr/>
        </p:nvSpPr>
        <p:spPr>
          <a:xfrm>
            <a:off x="8046720" y="502920"/>
            <a:ext cx="74980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12 Collections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1"/>
          <p:cNvSpPr/>
          <p:nvPr/>
        </p:nvSpPr>
        <p:spPr>
          <a:xfrm>
            <a:off x="379821" y="1003511"/>
            <a:ext cx="4187952" cy="156284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31"/>
          <p:cNvSpPr/>
          <p:nvPr/>
        </p:nvSpPr>
        <p:spPr>
          <a:xfrm>
            <a:off x="401387" y="1003511"/>
            <a:ext cx="17943" cy="1562847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31"/>
          <p:cNvSpPr/>
          <p:nvPr/>
        </p:nvSpPr>
        <p:spPr>
          <a:xfrm>
            <a:off x="512064" y="1127300"/>
            <a:ext cx="384048" cy="384048"/>
          </a:xfrm>
          <a:prstGeom prst="ellipse">
            <a:avLst/>
          </a:prstGeom>
          <a:solidFill>
            <a:srgbClr val="1D4ED8">
              <a:alpha val="20000"/>
            </a:srgbClr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31"/>
          <p:cNvSpPr/>
          <p:nvPr/>
        </p:nvSpPr>
        <p:spPr>
          <a:xfrm>
            <a:off x="544413" y="11273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1"/>
          <p:cNvSpPr/>
          <p:nvPr/>
        </p:nvSpPr>
        <p:spPr>
          <a:xfrm>
            <a:off x="1224778" y="1167154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Auth &amp; Identity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1"/>
          <p:cNvSpPr/>
          <p:nvPr/>
        </p:nvSpPr>
        <p:spPr>
          <a:xfrm>
            <a:off x="493776" y="1564314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31"/>
          <p:cNvSpPr/>
          <p:nvPr/>
        </p:nvSpPr>
        <p:spPr>
          <a:xfrm>
            <a:off x="493776" y="1680598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31"/>
          <p:cNvSpPr/>
          <p:nvPr/>
        </p:nvSpPr>
        <p:spPr>
          <a:xfrm>
            <a:off x="548640" y="1755389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31"/>
          <p:cNvSpPr/>
          <p:nvPr/>
        </p:nvSpPr>
        <p:spPr>
          <a:xfrm>
            <a:off x="548640" y="174460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1"/>
          <p:cNvSpPr/>
          <p:nvPr/>
        </p:nvSpPr>
        <p:spPr>
          <a:xfrm>
            <a:off x="1923518" y="175375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 OAuth profile, JWT info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1"/>
          <p:cNvSpPr/>
          <p:nvPr/>
        </p:nvSpPr>
        <p:spPr>
          <a:xfrm>
            <a:off x="515342" y="2133571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31"/>
          <p:cNvSpPr/>
          <p:nvPr/>
        </p:nvSpPr>
        <p:spPr>
          <a:xfrm>
            <a:off x="548640" y="2208362"/>
            <a:ext cx="2156173" cy="21945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31"/>
          <p:cNvSpPr/>
          <p:nvPr/>
        </p:nvSpPr>
        <p:spPr>
          <a:xfrm>
            <a:off x="494725" y="2229928"/>
            <a:ext cx="227478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github_app_installations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1"/>
          <p:cNvSpPr/>
          <p:nvPr/>
        </p:nvSpPr>
        <p:spPr>
          <a:xfrm>
            <a:off x="2786159" y="2185157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 install ID per org/user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1"/>
          <p:cNvSpPr/>
          <p:nvPr/>
        </p:nvSpPr>
        <p:spPr>
          <a:xfrm>
            <a:off x="4750653" y="1003511"/>
            <a:ext cx="4112471" cy="156284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31"/>
          <p:cNvSpPr/>
          <p:nvPr/>
        </p:nvSpPr>
        <p:spPr>
          <a:xfrm>
            <a:off x="4729087" y="1003511"/>
            <a:ext cx="28726" cy="1562847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31"/>
          <p:cNvSpPr/>
          <p:nvPr/>
        </p:nvSpPr>
        <p:spPr>
          <a:xfrm>
            <a:off x="4882896" y="1170432"/>
            <a:ext cx="384048" cy="384048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31"/>
          <p:cNvSpPr/>
          <p:nvPr/>
        </p:nvSpPr>
        <p:spPr>
          <a:xfrm>
            <a:off x="4882896" y="1170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1"/>
          <p:cNvSpPr/>
          <p:nvPr/>
        </p:nvSpPr>
        <p:spPr>
          <a:xfrm>
            <a:off x="5358384" y="11887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Repository Setup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1"/>
          <p:cNvSpPr/>
          <p:nvPr/>
        </p:nvSpPr>
        <p:spPr>
          <a:xfrm>
            <a:off x="4864608" y="1499616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31"/>
          <p:cNvSpPr/>
          <p:nvPr/>
        </p:nvSpPr>
        <p:spPr>
          <a:xfrm>
            <a:off x="4864608" y="1572768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31"/>
          <p:cNvSpPr/>
          <p:nvPr/>
        </p:nvSpPr>
        <p:spPr>
          <a:xfrm>
            <a:off x="4919472" y="1636776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31"/>
          <p:cNvSpPr/>
          <p:nvPr/>
        </p:nvSpPr>
        <p:spPr>
          <a:xfrm>
            <a:off x="4919472" y="163677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workspaces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1"/>
          <p:cNvSpPr/>
          <p:nvPr/>
        </p:nvSpPr>
        <p:spPr>
          <a:xfrm>
            <a:off x="6272784" y="16459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Repo + GitHub install mapping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1"/>
          <p:cNvSpPr/>
          <p:nvPr/>
        </p:nvSpPr>
        <p:spPr>
          <a:xfrm>
            <a:off x="4864608" y="1993392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31"/>
          <p:cNvSpPr/>
          <p:nvPr/>
        </p:nvSpPr>
        <p:spPr>
          <a:xfrm>
            <a:off x="4919472" y="2057400"/>
            <a:ext cx="1828800" cy="21945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31"/>
          <p:cNvSpPr/>
          <p:nvPr/>
        </p:nvSpPr>
        <p:spPr>
          <a:xfrm>
            <a:off x="4919472" y="205740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sonar_connections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1"/>
          <p:cNvSpPr/>
          <p:nvPr/>
        </p:nvSpPr>
        <p:spPr>
          <a:xfrm>
            <a:off x="6887416" y="2066544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Encrypted SonarCloud tokens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1"/>
          <p:cNvSpPr/>
          <p:nvPr/>
        </p:nvSpPr>
        <p:spPr>
          <a:xfrm>
            <a:off x="390604" y="2694720"/>
            <a:ext cx="4177169" cy="2277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31"/>
          <p:cNvSpPr/>
          <p:nvPr/>
        </p:nvSpPr>
        <p:spPr>
          <a:xfrm>
            <a:off x="401387" y="2748635"/>
            <a:ext cx="17943" cy="2223113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1"/>
          <p:cNvSpPr/>
          <p:nvPr/>
        </p:nvSpPr>
        <p:spPr>
          <a:xfrm>
            <a:off x="512064" y="2753811"/>
            <a:ext cx="384048" cy="384048"/>
          </a:xfrm>
          <a:prstGeom prst="ellipse">
            <a:avLst/>
          </a:prstGeom>
          <a:solidFill>
            <a:srgbClr val="D97706">
              <a:alpha val="20000"/>
            </a:srgbClr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31"/>
          <p:cNvSpPr/>
          <p:nvPr/>
        </p:nvSpPr>
        <p:spPr>
          <a:xfrm>
            <a:off x="544413" y="2753811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1"/>
          <p:cNvSpPr/>
          <p:nvPr/>
        </p:nvSpPr>
        <p:spPr>
          <a:xfrm>
            <a:off x="1203212" y="278288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Scan Data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1"/>
          <p:cNvSpPr/>
          <p:nvPr/>
        </p:nvSpPr>
        <p:spPr>
          <a:xfrm>
            <a:off x="493776" y="3223174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1"/>
          <p:cNvSpPr/>
          <p:nvPr/>
        </p:nvSpPr>
        <p:spPr>
          <a:xfrm>
            <a:off x="493776" y="3296326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1"/>
          <p:cNvSpPr/>
          <p:nvPr/>
        </p:nvSpPr>
        <p:spPr>
          <a:xfrm>
            <a:off x="548640" y="3360334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1"/>
          <p:cNvSpPr/>
          <p:nvPr/>
        </p:nvSpPr>
        <p:spPr>
          <a:xfrm>
            <a:off x="548640" y="336033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1"/>
          <p:cNvSpPr/>
          <p:nvPr/>
        </p:nvSpPr>
        <p:spPr>
          <a:xfrm>
            <a:off x="2236226" y="336947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Scan run metadata + PR link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1"/>
          <p:cNvSpPr/>
          <p:nvPr/>
        </p:nvSpPr>
        <p:spPr>
          <a:xfrm>
            <a:off x="493776" y="3716950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31"/>
          <p:cNvSpPr/>
          <p:nvPr/>
        </p:nvSpPr>
        <p:spPr>
          <a:xfrm>
            <a:off x="548640" y="3780958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31"/>
          <p:cNvSpPr/>
          <p:nvPr/>
        </p:nvSpPr>
        <p:spPr>
          <a:xfrm>
            <a:off x="548640" y="378095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scan_events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31"/>
          <p:cNvSpPr/>
          <p:nvPr/>
        </p:nvSpPr>
        <p:spPr>
          <a:xfrm>
            <a:off x="2236226" y="381166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Webhook event log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1"/>
          <p:cNvSpPr/>
          <p:nvPr/>
        </p:nvSpPr>
        <p:spPr>
          <a:xfrm>
            <a:off x="493776" y="4137574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31"/>
          <p:cNvSpPr/>
          <p:nvPr/>
        </p:nvSpPr>
        <p:spPr>
          <a:xfrm>
            <a:off x="548640" y="4201582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31"/>
          <p:cNvSpPr/>
          <p:nvPr/>
        </p:nvSpPr>
        <p:spPr>
          <a:xfrm>
            <a:off x="548640" y="420158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scan_issues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1"/>
          <p:cNvSpPr/>
          <p:nvPr/>
        </p:nvSpPr>
        <p:spPr>
          <a:xfrm>
            <a:off x="2257792" y="4210726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Issue snapshot per scan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31"/>
          <p:cNvSpPr/>
          <p:nvPr/>
        </p:nvSpPr>
        <p:spPr>
          <a:xfrm>
            <a:off x="493776" y="4558198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31"/>
          <p:cNvSpPr/>
          <p:nvPr/>
        </p:nvSpPr>
        <p:spPr>
          <a:xfrm>
            <a:off x="516291" y="4632989"/>
            <a:ext cx="1952158" cy="208673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31"/>
          <p:cNvSpPr/>
          <p:nvPr/>
        </p:nvSpPr>
        <p:spPr>
          <a:xfrm>
            <a:off x="548640" y="462220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quality_gate_retries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1"/>
          <p:cNvSpPr/>
          <p:nvPr/>
        </p:nvSpPr>
        <p:spPr>
          <a:xfrm>
            <a:off x="2732244" y="463135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Retry attempts tracking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31"/>
          <p:cNvSpPr/>
          <p:nvPr/>
        </p:nvSpPr>
        <p:spPr>
          <a:xfrm>
            <a:off x="4739870" y="2694720"/>
            <a:ext cx="4123254" cy="22770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31"/>
          <p:cNvSpPr/>
          <p:nvPr/>
        </p:nvSpPr>
        <p:spPr>
          <a:xfrm>
            <a:off x="4729087" y="2694720"/>
            <a:ext cx="28726" cy="2277028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31"/>
          <p:cNvSpPr/>
          <p:nvPr/>
        </p:nvSpPr>
        <p:spPr>
          <a:xfrm>
            <a:off x="4915245" y="2786160"/>
            <a:ext cx="384048" cy="384048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31"/>
          <p:cNvSpPr/>
          <p:nvPr/>
        </p:nvSpPr>
        <p:spPr>
          <a:xfrm>
            <a:off x="4915245" y="27861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31"/>
          <p:cNvSpPr/>
          <p:nvPr/>
        </p:nvSpPr>
        <p:spPr>
          <a:xfrm>
            <a:off x="5509346" y="28044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Fix Pipeline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31"/>
          <p:cNvSpPr/>
          <p:nvPr/>
        </p:nvSpPr>
        <p:spPr>
          <a:xfrm>
            <a:off x="4864608" y="3223174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31"/>
          <p:cNvSpPr/>
          <p:nvPr/>
        </p:nvSpPr>
        <p:spPr>
          <a:xfrm>
            <a:off x="4864608" y="3296326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31"/>
          <p:cNvSpPr/>
          <p:nvPr/>
        </p:nvSpPr>
        <p:spPr>
          <a:xfrm>
            <a:off x="4919472" y="3360334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31"/>
          <p:cNvSpPr/>
          <p:nvPr/>
        </p:nvSpPr>
        <p:spPr>
          <a:xfrm>
            <a:off x="4919472" y="336033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31"/>
          <p:cNvSpPr/>
          <p:nvPr/>
        </p:nvSpPr>
        <p:spPr>
          <a:xfrm>
            <a:off x="6272784" y="3369478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SonarCloud issue metadata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1"/>
          <p:cNvSpPr/>
          <p:nvPr/>
        </p:nvSpPr>
        <p:spPr>
          <a:xfrm>
            <a:off x="4864608" y="3716950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31"/>
          <p:cNvSpPr/>
          <p:nvPr/>
        </p:nvSpPr>
        <p:spPr>
          <a:xfrm>
            <a:off x="4919472" y="3780958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1"/>
          <p:cNvSpPr/>
          <p:nvPr/>
        </p:nvSpPr>
        <p:spPr>
          <a:xfrm>
            <a:off x="4919472" y="378095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1"/>
          <p:cNvSpPr/>
          <p:nvPr/>
        </p:nvSpPr>
        <p:spPr>
          <a:xfrm>
            <a:off x="6272784" y="379010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Validated JSON patch records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31"/>
          <p:cNvSpPr/>
          <p:nvPr/>
        </p:nvSpPr>
        <p:spPr>
          <a:xfrm>
            <a:off x="4864608" y="4137574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31"/>
          <p:cNvSpPr/>
          <p:nvPr/>
        </p:nvSpPr>
        <p:spPr>
          <a:xfrm>
            <a:off x="4919472" y="4201582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31"/>
          <p:cNvSpPr/>
          <p:nvPr/>
        </p:nvSpPr>
        <p:spPr>
          <a:xfrm>
            <a:off x="4919472" y="420158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1"/>
          <p:cNvSpPr/>
          <p:nvPr/>
        </p:nvSpPr>
        <p:spPr>
          <a:xfrm>
            <a:off x="6272784" y="4210726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 prompt cache per issue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31"/>
          <p:cNvSpPr/>
          <p:nvPr/>
        </p:nvSpPr>
        <p:spPr>
          <a:xfrm>
            <a:off x="4864608" y="4558198"/>
            <a:ext cx="3877056" cy="347472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31"/>
          <p:cNvSpPr/>
          <p:nvPr/>
        </p:nvSpPr>
        <p:spPr>
          <a:xfrm>
            <a:off x="4919472" y="4622206"/>
            <a:ext cx="182880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31"/>
          <p:cNvSpPr/>
          <p:nvPr/>
        </p:nvSpPr>
        <p:spPr>
          <a:xfrm>
            <a:off x="4919472" y="462220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scan_fix_attempts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1"/>
          <p:cNvSpPr/>
          <p:nvPr/>
        </p:nvSpPr>
        <p:spPr>
          <a:xfrm>
            <a:off x="6801152" y="463135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" sz="95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Applied/skipped/error log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32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32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2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Security Considerations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32"/>
          <p:cNvSpPr/>
          <p:nvPr/>
        </p:nvSpPr>
        <p:spPr>
          <a:xfrm>
            <a:off x="347472" y="1078992"/>
            <a:ext cx="4187952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32"/>
          <p:cNvSpPr/>
          <p:nvPr/>
        </p:nvSpPr>
        <p:spPr>
          <a:xfrm>
            <a:off x="347472" y="1078992"/>
            <a:ext cx="50292" cy="1170432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32"/>
          <p:cNvSpPr/>
          <p:nvPr/>
        </p:nvSpPr>
        <p:spPr>
          <a:xfrm>
            <a:off x="512064" y="1243584"/>
            <a:ext cx="438912" cy="438912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32"/>
          <p:cNvSpPr/>
          <p:nvPr/>
        </p:nvSpPr>
        <p:spPr>
          <a:xfrm>
            <a:off x="512064" y="12435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2"/>
          <p:cNvSpPr/>
          <p:nvPr/>
        </p:nvSpPr>
        <p:spPr>
          <a:xfrm>
            <a:off x="1024128" y="1354692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OAuth 2.0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32"/>
          <p:cNvSpPr/>
          <p:nvPr/>
        </p:nvSpPr>
        <p:spPr>
          <a:xfrm>
            <a:off x="493776" y="1791706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32"/>
          <p:cNvSpPr/>
          <p:nvPr/>
        </p:nvSpPr>
        <p:spPr>
          <a:xfrm>
            <a:off x="493776" y="1886424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 login via GitHub OAuth 2.0. JWT token issued for frontend session. No passwords stored in the database.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2"/>
          <p:cNvSpPr/>
          <p:nvPr/>
        </p:nvSpPr>
        <p:spPr>
          <a:xfrm>
            <a:off x="4718304" y="1078992"/>
            <a:ext cx="4187952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32"/>
          <p:cNvSpPr/>
          <p:nvPr/>
        </p:nvSpPr>
        <p:spPr>
          <a:xfrm>
            <a:off x="4718304" y="1078992"/>
            <a:ext cx="50292" cy="1170432"/>
          </a:xfrm>
          <a:prstGeom prst="rect">
            <a:avLst/>
          </a:prstGeom>
          <a:solidFill>
            <a:srgbClr val="0F2D52"/>
          </a:solidFill>
          <a:ln w="12700" cap="flat" cmpd="sng">
            <a:solidFill>
              <a:srgbClr val="0F2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32"/>
          <p:cNvSpPr/>
          <p:nvPr/>
        </p:nvSpPr>
        <p:spPr>
          <a:xfrm>
            <a:off x="4882896" y="1243584"/>
            <a:ext cx="438912" cy="438912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32"/>
          <p:cNvSpPr/>
          <p:nvPr/>
        </p:nvSpPr>
        <p:spPr>
          <a:xfrm>
            <a:off x="4882896" y="12435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32"/>
          <p:cNvSpPr/>
          <p:nvPr/>
        </p:nvSpPr>
        <p:spPr>
          <a:xfrm>
            <a:off x="5448875" y="1354692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JWT Session Tokens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2"/>
          <p:cNvSpPr/>
          <p:nvPr/>
        </p:nvSpPr>
        <p:spPr>
          <a:xfrm>
            <a:off x="4864608" y="1802489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32"/>
          <p:cNvSpPr/>
          <p:nvPr/>
        </p:nvSpPr>
        <p:spPr>
          <a:xfrm>
            <a:off x="4864608" y="1886424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frontend API calls carry a signed JWT. Backend validates token on protected routes using PyJWT and secret key.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2"/>
          <p:cNvSpPr/>
          <p:nvPr/>
        </p:nvSpPr>
        <p:spPr>
          <a:xfrm>
            <a:off x="347472" y="2404872"/>
            <a:ext cx="4187952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32"/>
          <p:cNvSpPr/>
          <p:nvPr/>
        </p:nvSpPr>
        <p:spPr>
          <a:xfrm>
            <a:off x="347472" y="2404872"/>
            <a:ext cx="50292" cy="1170432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32"/>
          <p:cNvSpPr/>
          <p:nvPr/>
        </p:nvSpPr>
        <p:spPr>
          <a:xfrm>
            <a:off x="512064" y="2569464"/>
            <a:ext cx="438912" cy="438912"/>
          </a:xfrm>
          <a:prstGeom prst="ellipse">
            <a:avLst/>
          </a:prstGeom>
          <a:solidFill>
            <a:srgbClr val="E0F2FE"/>
          </a:solidFill>
          <a:ln w="12700" cap="flat" cmpd="sng">
            <a:solidFill>
              <a:srgbClr val="E0F2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32"/>
          <p:cNvSpPr/>
          <p:nvPr/>
        </p:nvSpPr>
        <p:spPr>
          <a:xfrm>
            <a:off x="512064" y="25694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32"/>
          <p:cNvSpPr/>
          <p:nvPr/>
        </p:nvSpPr>
        <p:spPr>
          <a:xfrm>
            <a:off x="1024128" y="265900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GitHub App Installation Token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32"/>
          <p:cNvSpPr/>
          <p:nvPr/>
        </p:nvSpPr>
        <p:spPr>
          <a:xfrm>
            <a:off x="493776" y="3106803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32"/>
          <p:cNvSpPr/>
          <p:nvPr/>
        </p:nvSpPr>
        <p:spPr>
          <a:xfrm>
            <a:off x="493776" y="3201521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Short-lived, scoped installation tokens used for repo access. No user PATs or passwords stored or transmitted.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32"/>
          <p:cNvSpPr/>
          <p:nvPr/>
        </p:nvSpPr>
        <p:spPr>
          <a:xfrm>
            <a:off x="4718304" y="2404872"/>
            <a:ext cx="4187952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32"/>
          <p:cNvSpPr/>
          <p:nvPr/>
        </p:nvSpPr>
        <p:spPr>
          <a:xfrm>
            <a:off x="4718304" y="2404872"/>
            <a:ext cx="50292" cy="1170432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32"/>
          <p:cNvSpPr/>
          <p:nvPr/>
        </p:nvSpPr>
        <p:spPr>
          <a:xfrm>
            <a:off x="4882896" y="2569464"/>
            <a:ext cx="438912" cy="438912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D1FA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32"/>
          <p:cNvSpPr/>
          <p:nvPr/>
        </p:nvSpPr>
        <p:spPr>
          <a:xfrm>
            <a:off x="4882896" y="25694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2"/>
          <p:cNvSpPr/>
          <p:nvPr/>
        </p:nvSpPr>
        <p:spPr>
          <a:xfrm>
            <a:off x="5394960" y="265900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Webhook Signature Verification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2"/>
          <p:cNvSpPr/>
          <p:nvPr/>
        </p:nvSpPr>
        <p:spPr>
          <a:xfrm>
            <a:off x="4864608" y="3096020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32"/>
          <p:cNvSpPr/>
          <p:nvPr/>
        </p:nvSpPr>
        <p:spPr>
          <a:xfrm>
            <a:off x="4864608" y="3201521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Every incoming webhook POST verified via HMAC-SHA256 using the GitHub webhook secret. Fake calls rejected immediately.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2"/>
          <p:cNvSpPr/>
          <p:nvPr/>
        </p:nvSpPr>
        <p:spPr>
          <a:xfrm>
            <a:off x="347472" y="3730752"/>
            <a:ext cx="4187952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32"/>
          <p:cNvSpPr/>
          <p:nvPr/>
        </p:nvSpPr>
        <p:spPr>
          <a:xfrm>
            <a:off x="347472" y="3730752"/>
            <a:ext cx="50292" cy="1170432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32"/>
          <p:cNvSpPr/>
          <p:nvPr/>
        </p:nvSpPr>
        <p:spPr>
          <a:xfrm>
            <a:off x="512064" y="3895344"/>
            <a:ext cx="438912" cy="438912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32"/>
          <p:cNvSpPr/>
          <p:nvPr/>
        </p:nvSpPr>
        <p:spPr>
          <a:xfrm>
            <a:off x="512064" y="38953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2"/>
          <p:cNvSpPr/>
          <p:nvPr/>
        </p:nvSpPr>
        <p:spPr>
          <a:xfrm>
            <a:off x="1024128" y="398488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Encrypted SonarCloud Token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2"/>
          <p:cNvSpPr/>
          <p:nvPr/>
        </p:nvSpPr>
        <p:spPr>
          <a:xfrm>
            <a:off x="493776" y="4443466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32"/>
          <p:cNvSpPr/>
          <p:nvPr/>
        </p:nvSpPr>
        <p:spPr>
          <a:xfrm>
            <a:off x="515342" y="4527401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 SonarCloud tokens encrypted at rest using Fernet (AES-128) before storage. Decrypted only at scan time.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2"/>
          <p:cNvSpPr/>
          <p:nvPr/>
        </p:nvSpPr>
        <p:spPr>
          <a:xfrm>
            <a:off x="4718304" y="3730752"/>
            <a:ext cx="4187952" cy="11704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32"/>
          <p:cNvSpPr/>
          <p:nvPr/>
        </p:nvSpPr>
        <p:spPr>
          <a:xfrm>
            <a:off x="4718304" y="3730752"/>
            <a:ext cx="50292" cy="1170432"/>
          </a:xfrm>
          <a:prstGeom prst="rect">
            <a:avLst/>
          </a:prstGeom>
          <a:solidFill>
            <a:srgbClr val="DC2626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32"/>
          <p:cNvSpPr/>
          <p:nvPr/>
        </p:nvSpPr>
        <p:spPr>
          <a:xfrm>
            <a:off x="4882896" y="3895344"/>
            <a:ext cx="438912" cy="438912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32"/>
          <p:cNvSpPr/>
          <p:nvPr/>
        </p:nvSpPr>
        <p:spPr>
          <a:xfrm>
            <a:off x="4882896" y="38953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🚧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2"/>
          <p:cNvSpPr/>
          <p:nvPr/>
        </p:nvSpPr>
        <p:spPr>
          <a:xfrm>
            <a:off x="5394960" y="3984886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AI Output Gating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2"/>
          <p:cNvSpPr/>
          <p:nvPr/>
        </p:nvSpPr>
        <p:spPr>
          <a:xfrm>
            <a:off x="4886174" y="4432683"/>
            <a:ext cx="3877056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32"/>
          <p:cNvSpPr/>
          <p:nvPr/>
        </p:nvSpPr>
        <p:spPr>
          <a:xfrm>
            <a:off x="4864608" y="4527401"/>
            <a:ext cx="387705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LLM-generated code passes through 6-layer validation pipeline. Selected endpoints validate API keys through request headers.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33"/>
          <p:cNvSpPr/>
          <p:nvPr/>
        </p:nvSpPr>
        <p:spPr>
          <a:xfrm>
            <a:off x="347472" y="1645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33"/>
          <p:cNvSpPr/>
          <p:nvPr/>
        </p:nvSpPr>
        <p:spPr>
          <a:xfrm>
            <a:off x="347472" y="16459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" sz="7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33"/>
          <p:cNvSpPr/>
          <p:nvPr/>
        </p:nvSpPr>
        <p:spPr>
          <a:xfrm>
            <a:off x="347472" y="475488"/>
            <a:ext cx="85039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2600"/>
              <a:buFont typeface="Calibri"/>
              <a:buNone/>
            </a:pPr>
            <a:r>
              <a:rPr lang="en" sz="260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Demo Flow &amp; Key Challenges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33"/>
          <p:cNvSpPr/>
          <p:nvPr/>
        </p:nvSpPr>
        <p:spPr>
          <a:xfrm>
            <a:off x="347472" y="1078992"/>
            <a:ext cx="4297680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33"/>
          <p:cNvSpPr/>
          <p:nvPr/>
        </p:nvSpPr>
        <p:spPr>
          <a:xfrm>
            <a:off x="347472" y="1078992"/>
            <a:ext cx="50292" cy="384048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33"/>
          <p:cNvSpPr/>
          <p:nvPr/>
        </p:nvSpPr>
        <p:spPr>
          <a:xfrm>
            <a:off x="475488" y="11430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🎬  Live Demo Sequence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33"/>
          <p:cNvSpPr/>
          <p:nvPr/>
        </p:nvSpPr>
        <p:spPr>
          <a:xfrm>
            <a:off x="475488" y="1463040"/>
            <a:ext cx="4023360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33"/>
          <p:cNvSpPr/>
          <p:nvPr/>
        </p:nvSpPr>
        <p:spPr>
          <a:xfrm>
            <a:off x="475488" y="1554480"/>
            <a:ext cx="201168" cy="201168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33"/>
          <p:cNvSpPr/>
          <p:nvPr/>
        </p:nvSpPr>
        <p:spPr>
          <a:xfrm>
            <a:off x="475488" y="155448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33"/>
          <p:cNvSpPr/>
          <p:nvPr/>
        </p:nvSpPr>
        <p:spPr>
          <a:xfrm>
            <a:off x="731520" y="155448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 Open dashboard → click Login with GitHub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3"/>
          <p:cNvSpPr/>
          <p:nvPr/>
        </p:nvSpPr>
        <p:spPr>
          <a:xfrm>
            <a:off x="475488" y="1847088"/>
            <a:ext cx="201168" cy="201168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33"/>
          <p:cNvSpPr/>
          <p:nvPr/>
        </p:nvSpPr>
        <p:spPr>
          <a:xfrm>
            <a:off x="475488" y="184708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33"/>
          <p:cNvSpPr/>
          <p:nvPr/>
        </p:nvSpPr>
        <p:spPr>
          <a:xfrm>
            <a:off x="731520" y="1847088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 Complete GitHub OAuth → session JWT issued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3"/>
          <p:cNvSpPr/>
          <p:nvPr/>
        </p:nvSpPr>
        <p:spPr>
          <a:xfrm>
            <a:off x="475488" y="2139696"/>
            <a:ext cx="201168" cy="201168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33"/>
          <p:cNvSpPr/>
          <p:nvPr/>
        </p:nvSpPr>
        <p:spPr>
          <a:xfrm>
            <a:off x="475488" y="21396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33"/>
          <p:cNvSpPr/>
          <p:nvPr/>
        </p:nvSpPr>
        <p:spPr>
          <a:xfrm>
            <a:off x="731520" y="2139696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 Select / create workspace (GitHub installation)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3"/>
          <p:cNvSpPr/>
          <p:nvPr/>
        </p:nvSpPr>
        <p:spPr>
          <a:xfrm>
            <a:off x="475488" y="2432304"/>
            <a:ext cx="201168" cy="201168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33"/>
          <p:cNvSpPr/>
          <p:nvPr/>
        </p:nvSpPr>
        <p:spPr>
          <a:xfrm>
            <a:off x="475488" y="243230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3"/>
          <p:cNvSpPr/>
          <p:nvPr/>
        </p:nvSpPr>
        <p:spPr>
          <a:xfrm>
            <a:off x="731520" y="2432304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 Select GitHub repository to monitor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3"/>
          <p:cNvSpPr/>
          <p:nvPr/>
        </p:nvSpPr>
        <p:spPr>
          <a:xfrm>
            <a:off x="475488" y="2724912"/>
            <a:ext cx="201168" cy="201168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33"/>
          <p:cNvSpPr/>
          <p:nvPr/>
        </p:nvSpPr>
        <p:spPr>
          <a:xfrm>
            <a:off x="475488" y="27249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3"/>
          <p:cNvSpPr/>
          <p:nvPr/>
        </p:nvSpPr>
        <p:spPr>
          <a:xfrm>
            <a:off x="731520" y="2724912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 Connect SonarCloud token and project key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3"/>
          <p:cNvSpPr/>
          <p:nvPr/>
        </p:nvSpPr>
        <p:spPr>
          <a:xfrm>
            <a:off x="475488" y="3017520"/>
            <a:ext cx="201168" cy="201168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33"/>
          <p:cNvSpPr/>
          <p:nvPr/>
        </p:nvSpPr>
        <p:spPr>
          <a:xfrm>
            <a:off x="475488" y="301752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3"/>
          <p:cNvSpPr/>
          <p:nvPr/>
        </p:nvSpPr>
        <p:spPr>
          <a:xfrm>
            <a:off x="731520" y="301752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6.  Fetch issues → severity dashboard loads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3"/>
          <p:cNvSpPr/>
          <p:nvPr/>
        </p:nvSpPr>
        <p:spPr>
          <a:xfrm>
            <a:off x="475488" y="3310128"/>
            <a:ext cx="201168" cy="201168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33"/>
          <p:cNvSpPr/>
          <p:nvPr/>
        </p:nvSpPr>
        <p:spPr>
          <a:xfrm>
            <a:off x="475488" y="33101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33"/>
          <p:cNvSpPr/>
          <p:nvPr/>
        </p:nvSpPr>
        <p:spPr>
          <a:xfrm>
            <a:off x="731520" y="3310128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7.  Open an individual issue → view details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3"/>
          <p:cNvSpPr/>
          <p:nvPr/>
        </p:nvSpPr>
        <p:spPr>
          <a:xfrm>
            <a:off x="475488" y="3602736"/>
            <a:ext cx="201168" cy="201168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33"/>
          <p:cNvSpPr/>
          <p:nvPr/>
        </p:nvSpPr>
        <p:spPr>
          <a:xfrm>
            <a:off x="475488" y="36027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3"/>
          <p:cNvSpPr/>
          <p:nvPr/>
        </p:nvSpPr>
        <p:spPr>
          <a:xfrm>
            <a:off x="731520" y="3602736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8.  View AI-generated fix and code patch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3"/>
          <p:cNvSpPr/>
          <p:nvPr/>
        </p:nvSpPr>
        <p:spPr>
          <a:xfrm>
            <a:off x="475488" y="3895344"/>
            <a:ext cx="201168" cy="201168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33"/>
          <p:cNvSpPr/>
          <p:nvPr/>
        </p:nvSpPr>
        <p:spPr>
          <a:xfrm>
            <a:off x="475488" y="389534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33"/>
          <p:cNvSpPr/>
          <p:nvPr/>
        </p:nvSpPr>
        <p:spPr>
          <a:xfrm>
            <a:off x="731520" y="3895344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9.  Show GitHub-style diff preview (old vs new)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3"/>
          <p:cNvSpPr/>
          <p:nvPr/>
        </p:nvSpPr>
        <p:spPr>
          <a:xfrm>
            <a:off x="475488" y="4187952"/>
            <a:ext cx="201168" cy="201168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33"/>
          <p:cNvSpPr/>
          <p:nvPr/>
        </p:nvSpPr>
        <p:spPr>
          <a:xfrm>
            <a:off x="475488" y="418795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33"/>
          <p:cNvSpPr/>
          <p:nvPr/>
        </p:nvSpPr>
        <p:spPr>
          <a:xfrm>
            <a:off x="731520" y="4187952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10. Show scan history timeline and PR link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33"/>
          <p:cNvSpPr/>
          <p:nvPr/>
        </p:nvSpPr>
        <p:spPr>
          <a:xfrm>
            <a:off x="475488" y="4480560"/>
            <a:ext cx="201168" cy="201168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33"/>
          <p:cNvSpPr/>
          <p:nvPr/>
        </p:nvSpPr>
        <p:spPr>
          <a:xfrm>
            <a:off x="475488" y="448056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○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3"/>
          <p:cNvSpPr/>
          <p:nvPr/>
        </p:nvSpPr>
        <p:spPr>
          <a:xfrm>
            <a:off x="731520" y="448056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11. Export PDF scan report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3"/>
          <p:cNvSpPr/>
          <p:nvPr/>
        </p:nvSpPr>
        <p:spPr>
          <a:xfrm>
            <a:off x="4846320" y="1078992"/>
            <a:ext cx="3950208" cy="3840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33"/>
          <p:cNvSpPr/>
          <p:nvPr/>
        </p:nvSpPr>
        <p:spPr>
          <a:xfrm>
            <a:off x="4846320" y="1078992"/>
            <a:ext cx="50292" cy="384048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33"/>
          <p:cNvSpPr/>
          <p:nvPr/>
        </p:nvSpPr>
        <p:spPr>
          <a:xfrm>
            <a:off x="4974336" y="1143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2D52"/>
              </a:buClr>
              <a:buSzPts val="1250"/>
              <a:buFont typeface="Calibri"/>
              <a:buNone/>
            </a:pPr>
            <a:r>
              <a:rPr lang="en" sz="1250" b="1" i="0" u="none" strike="noStrike" cap="none">
                <a:solidFill>
                  <a:srgbClr val="0F2D52"/>
                </a:solidFill>
                <a:latin typeface="Calibri"/>
                <a:ea typeface="Calibri"/>
                <a:cs typeface="Calibri"/>
                <a:sym typeface="Calibri"/>
              </a:rPr>
              <a:t>⚡  Key Challenges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33"/>
          <p:cNvSpPr/>
          <p:nvPr/>
        </p:nvSpPr>
        <p:spPr>
          <a:xfrm>
            <a:off x="4974336" y="1463040"/>
            <a:ext cx="3639312" cy="13716"/>
          </a:xfrm>
          <a:prstGeom prst="rect">
            <a:avLst/>
          </a:prstGeom>
          <a:solidFill>
            <a:srgbClr val="E2E8F0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33"/>
          <p:cNvSpPr/>
          <p:nvPr/>
        </p:nvSpPr>
        <p:spPr>
          <a:xfrm>
            <a:off x="4974336" y="1554480"/>
            <a:ext cx="256032" cy="256032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33"/>
          <p:cNvSpPr/>
          <p:nvPr/>
        </p:nvSpPr>
        <p:spPr>
          <a:xfrm>
            <a:off x="4974336" y="15544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3"/>
          <p:cNvSpPr/>
          <p:nvPr/>
        </p:nvSpPr>
        <p:spPr>
          <a:xfrm>
            <a:off x="5303520" y="1554480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Mapping GitHub repos ↔ SonarCloud project keys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33"/>
          <p:cNvSpPr/>
          <p:nvPr/>
        </p:nvSpPr>
        <p:spPr>
          <a:xfrm>
            <a:off x="4974336" y="1883664"/>
            <a:ext cx="256032" cy="256032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33"/>
          <p:cNvSpPr/>
          <p:nvPr/>
        </p:nvSpPr>
        <p:spPr>
          <a:xfrm>
            <a:off x="4974336" y="18836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33"/>
          <p:cNvSpPr/>
          <p:nvPr/>
        </p:nvSpPr>
        <p:spPr>
          <a:xfrm>
            <a:off x="5303520" y="1883664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Handling LLM hallucinated or incorrect code patches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3"/>
          <p:cNvSpPr/>
          <p:nvPr/>
        </p:nvSpPr>
        <p:spPr>
          <a:xfrm>
            <a:off x="4974336" y="2212848"/>
            <a:ext cx="256032" cy="256032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33"/>
          <p:cNvSpPr/>
          <p:nvPr/>
        </p:nvSpPr>
        <p:spPr>
          <a:xfrm>
            <a:off x="4974336" y="22128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☕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3"/>
          <p:cNvSpPr/>
          <p:nvPr/>
        </p:nvSpPr>
        <p:spPr>
          <a:xfrm>
            <a:off x="5303520" y="2212848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Safely applying patches without breaking Java code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3"/>
          <p:cNvSpPr/>
          <p:nvPr/>
        </p:nvSpPr>
        <p:spPr>
          <a:xfrm>
            <a:off x="4974336" y="2542032"/>
            <a:ext cx="256032" cy="256032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33"/>
          <p:cNvSpPr/>
          <p:nvPr/>
        </p:nvSpPr>
        <p:spPr>
          <a:xfrm>
            <a:off x="4974336" y="25420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3"/>
          <p:cNvSpPr/>
          <p:nvPr/>
        </p:nvSpPr>
        <p:spPr>
          <a:xfrm>
            <a:off x="5303520" y="2542032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Managing GitHub App permissions and webhook security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3"/>
          <p:cNvSpPr/>
          <p:nvPr/>
        </p:nvSpPr>
        <p:spPr>
          <a:xfrm>
            <a:off x="4974336" y="2871216"/>
            <a:ext cx="256032" cy="256032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33"/>
          <p:cNvSpPr/>
          <p:nvPr/>
        </p:nvSpPr>
        <p:spPr>
          <a:xfrm>
            <a:off x="4974336" y="28712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3"/>
          <p:cNvSpPr/>
          <p:nvPr/>
        </p:nvSpPr>
        <p:spPr>
          <a:xfrm>
            <a:off x="5303520" y="2871216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Keeping dashboard in sync with live scan events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3"/>
          <p:cNvSpPr/>
          <p:nvPr/>
        </p:nvSpPr>
        <p:spPr>
          <a:xfrm>
            <a:off x="4974336" y="3200400"/>
            <a:ext cx="256032" cy="256032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33"/>
          <p:cNvSpPr/>
          <p:nvPr/>
        </p:nvSpPr>
        <p:spPr>
          <a:xfrm>
            <a:off x="4974336" y="32004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33"/>
          <p:cNvSpPr/>
          <p:nvPr/>
        </p:nvSpPr>
        <p:spPr>
          <a:xfrm>
            <a:off x="5303520" y="3200400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Handling missing imports after auto-fix application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3"/>
          <p:cNvSpPr/>
          <p:nvPr/>
        </p:nvSpPr>
        <p:spPr>
          <a:xfrm>
            <a:off x="4974336" y="3529584"/>
            <a:ext cx="256032" cy="256032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EF3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33"/>
          <p:cNvSpPr/>
          <p:nvPr/>
        </p:nvSpPr>
        <p:spPr>
          <a:xfrm>
            <a:off x="4974336" y="352958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33"/>
          <p:cNvSpPr/>
          <p:nvPr/>
        </p:nvSpPr>
        <p:spPr>
          <a:xfrm>
            <a:off x="5303520" y="3529584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Avoiding duplicate LLM calls via MongoDB prompt cache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52"/>
        </a:solidFill>
        <a:effectLst/>
      </p:bgPr>
    </p:bg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34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891B2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34"/>
          <p:cNvSpPr/>
          <p:nvPr/>
        </p:nvSpPr>
        <p:spPr>
          <a:xfrm>
            <a:off x="594360" y="20116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34"/>
          <p:cNvSpPr/>
          <p:nvPr/>
        </p:nvSpPr>
        <p:spPr>
          <a:xfrm>
            <a:off x="594360" y="841248"/>
            <a:ext cx="8229600" cy="1005840"/>
          </a:xfrm>
          <a:prstGeom prst="rect">
            <a:avLst/>
          </a:prstGeom>
          <a:solidFill>
            <a:srgbClr val="0A1F3D"/>
          </a:solidFill>
          <a:ln w="12700" cap="flat" cmpd="sng">
            <a:solidFill>
              <a:srgbClr val="0891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34"/>
          <p:cNvSpPr/>
          <p:nvPr/>
        </p:nvSpPr>
        <p:spPr>
          <a:xfrm>
            <a:off x="749808" y="877824"/>
            <a:ext cx="790956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project demonstrates a real-world DevSecOps shift-left workflow by connecting code scanning, AI-assisted remediation, GitHub automation, build validation, and dashboard analytics into one integrated system.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4"/>
          <p:cNvSpPr/>
          <p:nvPr/>
        </p:nvSpPr>
        <p:spPr>
          <a:xfrm>
            <a:off x="594360" y="1956816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500"/>
              <a:buFont typeface="Calibri"/>
              <a:buNone/>
            </a:pPr>
            <a:r>
              <a:rPr lang="en" sz="1500" b="1" i="0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4"/>
          <p:cNvSpPr/>
          <p:nvPr/>
        </p:nvSpPr>
        <p:spPr>
          <a:xfrm>
            <a:off x="594360" y="2322576"/>
            <a:ext cx="2651760" cy="768096"/>
          </a:xfrm>
          <a:prstGeom prst="rect">
            <a:avLst/>
          </a:prstGeom>
          <a:solidFill>
            <a:srgbClr val="0A1F3D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34"/>
          <p:cNvSpPr/>
          <p:nvPr/>
        </p:nvSpPr>
        <p:spPr>
          <a:xfrm>
            <a:off x="685800" y="24140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4"/>
          <p:cNvSpPr/>
          <p:nvPr/>
        </p:nvSpPr>
        <p:spPr>
          <a:xfrm>
            <a:off x="1143000" y="24140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Multi-language support (Python, JavaScript, Go)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4"/>
          <p:cNvSpPr/>
          <p:nvPr/>
        </p:nvSpPr>
        <p:spPr>
          <a:xfrm>
            <a:off x="3355848" y="2322576"/>
            <a:ext cx="2651760" cy="768096"/>
          </a:xfrm>
          <a:prstGeom prst="rect">
            <a:avLst/>
          </a:prstGeom>
          <a:solidFill>
            <a:srgbClr val="0A1F3D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34"/>
          <p:cNvSpPr/>
          <p:nvPr/>
        </p:nvSpPr>
        <p:spPr>
          <a:xfrm>
            <a:off x="3447288" y="24140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📜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4"/>
          <p:cNvSpPr/>
          <p:nvPr/>
        </p:nvSpPr>
        <p:spPr>
          <a:xfrm>
            <a:off x="3904488" y="24140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Policy-as-code compliance rule configuration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4"/>
          <p:cNvSpPr/>
          <p:nvPr/>
        </p:nvSpPr>
        <p:spPr>
          <a:xfrm>
            <a:off x="6117336" y="2322576"/>
            <a:ext cx="2651760" cy="768096"/>
          </a:xfrm>
          <a:prstGeom prst="rect">
            <a:avLst/>
          </a:prstGeom>
          <a:solidFill>
            <a:srgbClr val="0A1F3D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34"/>
          <p:cNvSpPr/>
          <p:nvPr/>
        </p:nvSpPr>
        <p:spPr>
          <a:xfrm>
            <a:off x="6208776" y="24140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4"/>
          <p:cNvSpPr/>
          <p:nvPr/>
        </p:nvSpPr>
        <p:spPr>
          <a:xfrm>
            <a:off x="6665976" y="24140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Role-based access control (RBAC) for teams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34"/>
          <p:cNvSpPr/>
          <p:nvPr/>
        </p:nvSpPr>
        <p:spPr>
          <a:xfrm>
            <a:off x="594360" y="3236976"/>
            <a:ext cx="2651760" cy="768096"/>
          </a:xfrm>
          <a:prstGeom prst="rect">
            <a:avLst/>
          </a:prstGeom>
          <a:solidFill>
            <a:srgbClr val="0A1F3D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34"/>
          <p:cNvSpPr/>
          <p:nvPr/>
        </p:nvSpPr>
        <p:spPr>
          <a:xfrm>
            <a:off x="685800" y="33284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34"/>
          <p:cNvSpPr/>
          <p:nvPr/>
        </p:nvSpPr>
        <p:spPr>
          <a:xfrm>
            <a:off x="1143000" y="33284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Deeper CI/CD pipeline and Jira integration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4"/>
          <p:cNvSpPr/>
          <p:nvPr/>
        </p:nvSpPr>
        <p:spPr>
          <a:xfrm>
            <a:off x="3355848" y="3236976"/>
            <a:ext cx="2651760" cy="768096"/>
          </a:xfrm>
          <a:prstGeom prst="rect">
            <a:avLst/>
          </a:prstGeom>
          <a:solidFill>
            <a:srgbClr val="0A1F3D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34"/>
          <p:cNvSpPr/>
          <p:nvPr/>
        </p:nvSpPr>
        <p:spPr>
          <a:xfrm>
            <a:off x="3447288" y="33284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4"/>
          <p:cNvSpPr/>
          <p:nvPr/>
        </p:nvSpPr>
        <p:spPr>
          <a:xfrm>
            <a:off x="3904488" y="33284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test generation per applied fix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34"/>
          <p:cNvSpPr/>
          <p:nvPr/>
        </p:nvSpPr>
        <p:spPr>
          <a:xfrm>
            <a:off x="6117336" y="3236976"/>
            <a:ext cx="2651760" cy="768096"/>
          </a:xfrm>
          <a:prstGeom prst="rect">
            <a:avLst/>
          </a:prstGeom>
          <a:solidFill>
            <a:srgbClr val="0A1F3D"/>
          </a:solidFill>
          <a:ln w="12700" cap="flat" cmpd="sng">
            <a:solidFill>
              <a:srgbClr val="1E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34"/>
          <p:cNvSpPr/>
          <p:nvPr/>
        </p:nvSpPr>
        <p:spPr>
          <a:xfrm>
            <a:off x="6208776" y="332841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✋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34"/>
          <p:cNvSpPr/>
          <p:nvPr/>
        </p:nvSpPr>
        <p:spPr>
          <a:xfrm>
            <a:off x="6665976" y="3328416"/>
            <a:ext cx="2011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approval workflow before AI fix is applied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4"/>
          <p:cNvSpPr/>
          <p:nvPr/>
        </p:nvSpPr>
        <p:spPr>
          <a:xfrm>
            <a:off x="594360" y="47365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800"/>
              <a:buFont typeface="Calibri"/>
              <a:buNone/>
            </a:pPr>
            <a:r>
              <a:rPr lang="en" sz="1800" b="1" i="0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Thank you  ·  Questions Welcome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20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2026-05-15T10:23:00Z</dcterms:modified>
</cp:coreProperties>
</file>