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20204ca12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20204ca12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 (Title)</a:t>
            </a:r>
            <a:br>
              <a:rPr lang="en"/>
            </a:br>
            <a:r>
              <a:rPr lang="en"/>
              <a:t>Welcome the panel. Introduce the project: "Shift-Left Compliance Agents is a full-stack DevSecOps automation platform I built during my internship. It automatically detects code quality and security issues, generates AI-powered fixes, applies them via GitHub, and tracks everything on a live dashboard." State the agenda and approximate 15-minute duration.</a:t>
            </a:r>
            <a:endParaRPr/>
          </a:p>
        </p:txBody>
      </p:sp>
      <p:sp>
        <p:nvSpPr>
          <p:cNvPr id="55" name="Google Shape;55;g3e20204ca12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20204ca12_2_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e20204ca12_2_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2 (Problem)</a:t>
            </a:r>
            <a:br>
              <a:rPr lang="en"/>
            </a:br>
            <a:r>
              <a:rPr lang="en"/>
              <a:t>Security and compliance bugs are most expensive when caught late. The traditional approach — write code, merge, run CI, get scan report, raise manual ticket, assign developer, fix months later — is slow and error-prone. This project directly addresses that gap.</a:t>
            </a:r>
            <a:endParaRPr/>
          </a:p>
        </p:txBody>
      </p:sp>
      <p:sp>
        <p:nvSpPr>
          <p:cNvPr id="80" name="Google Shape;80;g3e20204ca12_2_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20204ca12_2_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20204ca12_2_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3 (Shift-Left)</a:t>
            </a:r>
            <a:br>
              <a:rPr lang="en"/>
            </a:br>
            <a:r>
              <a:rPr lang="en"/>
              <a:t>Explain the concept clearly. In traditional dev, security is the last gate before release. Shift-left moves it to build/code time. Concrete example: "Instead of a JIRA ticket raised three weeks after code is merged, the developer sees a fix suggested in a PR the moment their pipeline runs."</a:t>
            </a:r>
            <a:endParaRPr/>
          </a:p>
        </p:txBody>
      </p:sp>
      <p:sp>
        <p:nvSpPr>
          <p:cNvPr id="128" name="Google Shape;128;g3e20204ca12_2_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20204ca12_2_1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e20204ca12_2_1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4 (Objectives)</a:t>
            </a:r>
            <a:br>
              <a:rPr lang="en"/>
            </a:br>
            <a:r>
              <a:rPr lang="en"/>
              <a:t>Six clear objectives define the project scope. Highlight that this is NOT just a static analysis dashboard — it closes the loop: scan → AI fix → GitHub PR → build validation → analytics.</a:t>
            </a:r>
            <a:endParaRPr/>
          </a:p>
        </p:txBody>
      </p:sp>
      <p:sp>
        <p:nvSpPr>
          <p:cNvPr id="188" name="Google Shape;188;g3e20204ca12_2_1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20204ca12_2_1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e20204ca12_2_1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5 (Architecture)</a:t>
            </a:r>
            <a:br>
              <a:rPr lang="en"/>
            </a:br>
            <a:r>
              <a:rPr lang="en"/>
              <a:t>Walk through the flow left to right. "A developer pushes code. GitHub Actions runs CI including SonarCloud scan. When the workflow completes, GitHub sends a webhook POST to our FastAPI backend. The backend authenticates the webhook, pulls issues from SonarCloud, generates fixes via OpenRouter LLM, applies them to a new branch using GitHub APIs, and records everything in MongoDB. The React dashboard polls this data to show live status."</a:t>
            </a:r>
            <a:endParaRPr/>
          </a:p>
        </p:txBody>
      </p:sp>
      <p:sp>
        <p:nvSpPr>
          <p:cNvPr id="250" name="Google Shape;250;g3e20204ca12_2_1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20204ca12_2_2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e20204ca12_2_2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6 (Tech Stack)</a:t>
            </a:r>
            <a:br>
              <a:rPr lang="en"/>
            </a:br>
            <a:r>
              <a:rPr lang="en"/>
              <a:t>Briefly justify key choices: FastAPI for async performance and auto-generated OpenAPI docs; MongoDB for flexible document storage of heterogeneous scan/fix data; Vite for fast React dev builds. The panel may ask "why not PostgreSQL?" — answer: issue and fix documents have variable shapes; MongoDB's schema-less model is better suited.</a:t>
            </a:r>
            <a:endParaRPr/>
          </a:p>
        </p:txBody>
      </p:sp>
      <p:sp>
        <p:nvSpPr>
          <p:cNvPr id="345" name="Google Shape;345;g3e20204ca12_2_2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20204ca12_2_3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e20204ca12_2_3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7 (User Workflow)</a:t>
            </a:r>
            <a:br>
              <a:rPr lang="en"/>
            </a:br>
            <a:r>
              <a:rPr lang="en"/>
              <a:t>This is an end-to-end walkthrough of what a developer actually experiences. Emphasize that steps 4–7 are fully automated — after initial setup, the developer just pushes code and sees a fix PR appear. The only manual action is deciding whether to merge the PR.</a:t>
            </a:r>
            <a:endParaRPr/>
          </a:p>
        </p:txBody>
      </p:sp>
      <p:sp>
        <p:nvSpPr>
          <p:cNvPr id="435" name="Google Shape;435;g3e20204ca12_2_3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20204ca12_2_4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e20204ca12_2_44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8 (Backend Architecture)</a:t>
            </a:r>
            <a:br>
              <a:rPr lang="en"/>
            </a:br>
            <a:r>
              <a:rPr lang="en"/>
              <a:t>Walk through the four layers: Routes (HTTP endpoints), Clients (external API callers — SonarCloud and GitHub), Services (business logic — LLM prompt building, fix sanitization, patch application), and Core (config/DB/app setup). This separation of concerns makes each part independently testable.</a:t>
            </a:r>
            <a:endParaRPr/>
          </a:p>
        </p:txBody>
      </p:sp>
      <p:sp>
        <p:nvSpPr>
          <p:cNvPr id="499" name="Google Shape;499;g3e20204ca12_2_44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20204ca12_2_5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e20204ca12_2_5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9 (Webhook)</a:t>
            </a:r>
            <a:br>
              <a:rPr lang="en"/>
            </a:br>
            <a:r>
              <a:rPr lang="en"/>
              <a:t>This is the core automation loop. Key security points: webhook signature verification with HMAC-SHA256 prevents fake calls; GitHub App installation tokens are short-lived and scoped to the repo — we never store user repository passwords. The pipeline duration depends on GitHub Actions and SonarCloud scan time.</a:t>
            </a:r>
            <a:endParaRPr/>
          </a:p>
        </p:txBody>
      </p:sp>
      <p:sp>
        <p:nvSpPr>
          <p:cNvPr id="565" name="Google Shape;565;g3e20204ca12_2_5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20204ca12_2_5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g3e20204ca12_2_5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10 (SonarCloud)</a:t>
            </a:r>
            <a:br>
              <a:rPr lang="en"/>
            </a:br>
            <a:r>
              <a:rPr lang="en"/>
              <a:t>We call two SonarCloud endpoints: /api/issues/search (code smells, bugs) and /api/hotspots/search (security hotspots). Each issue has a unique key and component string that maps to the GitHub file path — this mapping is critical for fetching the right code context.</a:t>
            </a:r>
            <a:endParaRPr/>
          </a:p>
        </p:txBody>
      </p:sp>
      <p:sp>
        <p:nvSpPr>
          <p:cNvPr id="636" name="Google Shape;636;g3e20204ca12_2_5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e20204ca12_2_6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e20204ca12_2_64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11 (AI Fix Generation)</a:t>
            </a:r>
            <a:br>
              <a:rPr lang="en"/>
            </a:br>
            <a:r>
              <a:rPr lang="en"/>
              <a:t>Key design decision: the LLM returns JSON, not markdown or prose. This makes the output machine-parseable and allows us to validate every field before any code touches the repository. Also highlight the MongoDB cache — if the same issue appears in the next scan, we reuse the cached fix instead of paying for another LLM call.</a:t>
            </a:r>
            <a:endParaRPr/>
          </a:p>
        </p:txBody>
      </p:sp>
      <p:sp>
        <p:nvSpPr>
          <p:cNvPr id="702" name="Google Shape;702;g3e20204ca12_2_64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e20204ca12_2_7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g3e20204ca12_2_7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12 (Prompt Engineering)</a:t>
            </a:r>
            <a:br>
              <a:rPr lang="en"/>
            </a:br>
            <a:r>
              <a:rPr lang="en"/>
              <a:t>This is NOT a generic chatbot. The prompt is constructed programmatically from real SonarCloud metadata and actual source code fetched from GitHub. Every prompt includes: the Sonar rule key, the issue message, the exact file path, the affected line number, nearby source code lines, and rule-specific repair guidance. The JSON response format is strictly defined. The panel may ask how you handle hallucinations — answer: if old_code doesn't match the actual source code, the patch is rejected.</a:t>
            </a:r>
            <a:endParaRPr/>
          </a:p>
        </p:txBody>
      </p:sp>
      <p:sp>
        <p:nvSpPr>
          <p:cNvPr id="782" name="Google Shape;782;g3e20204ca12_2_7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e20204ca12_2_7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g3e20204ca12_2_7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13 (Code Context)</a:t>
            </a:r>
            <a:br>
              <a:rPr lang="en"/>
            </a:br>
            <a:r>
              <a:rPr lang="en"/>
              <a:t>The backend uses GitHub Contents API to fetch the source file and extracts a window of ~20 lines around the issue line number. This context is embedded directly in the prompt. The backend then does a tolerant match: it normalizes whitespace and tries to find old_code in the actual file before applying any change.</a:t>
            </a:r>
            <a:endParaRPr/>
          </a:p>
        </p:txBody>
      </p:sp>
      <p:sp>
        <p:nvSpPr>
          <p:cNvPr id="816" name="Google Shape;816;g3e20204ca12_2_7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e20204ca12_2_8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g3e20204ca12_2_8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14 (Safety Rules)</a:t>
            </a:r>
            <a:br>
              <a:rPr lang="en"/>
            </a:br>
            <a:r>
              <a:rPr lang="en"/>
              <a:t>This slide is important for the panel to understand we're not naively running LLM output on a live codebase. The safety layer is implemented in fixes_service.py and github_apply.py. If any rule is violated, the specific change is skipped and logged to MongoDB. The developer can see exactly which patches were applied, which were skipped, and why.</a:t>
            </a:r>
            <a:endParaRPr/>
          </a:p>
        </p:txBody>
      </p:sp>
      <p:sp>
        <p:nvSpPr>
          <p:cNvPr id="873" name="Google Shape;873;g3e20204ca12_2_8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e20204ca12_2_8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g3e20204ca12_2_8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15 (Validation Pipeline)</a:t>
            </a:r>
            <a:br>
              <a:rPr lang="en"/>
            </a:br>
            <a:r>
              <a:rPr lang="en"/>
              <a:t>Six layers of validation act as a defense-in-depth approach. Emphasize: the system doesn't just accept whatever SonarCloud or the LLM returns — every layer independently validates before passing to the next. This makes the pipeline robust to network errors, API changes, and LLM hallucinations.</a:t>
            </a:r>
            <a:endParaRPr/>
          </a:p>
        </p:txBody>
      </p:sp>
      <p:sp>
        <p:nvSpPr>
          <p:cNvPr id="925" name="Google Shape;925;g3e20204ca12_2_8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e20204ca12_2_9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g3e20204ca12_2_9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16 (Frontend)</a:t>
            </a:r>
            <a:br>
              <a:rPr lang="en"/>
            </a:br>
            <a:r>
              <a:rPr lang="en"/>
              <a:t>The frontend is a single-page React app with TypeScript. State management uses React hooks and useEffect polling. Recharts handles analytics visualizations. The diff view renders old/new code side by side with color coding, similar to GitHub's PR diff UI. The PDF export captures the dashboard state using html2canvas and writes it with jsPDF.</a:t>
            </a:r>
            <a:endParaRPr/>
          </a:p>
        </p:txBody>
      </p:sp>
      <p:sp>
        <p:nvSpPr>
          <p:cNvPr id="986" name="Google Shape;986;g3e20204ca12_2_9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e20204ca12_2_9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g3e20204ca12_2_9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17 (Database)</a:t>
            </a:r>
            <a:br>
              <a:rPr lang="en"/>
            </a:br>
            <a:r>
              <a:rPr lang="en"/>
              <a:t>MongoDB was chosen because Sonar issue documents have different shapes depending on the rule type, and fix attempt documents grow as we add new operations. A relational schema would require frequent migrations. The "prompts" collection caches the full LLM prompt per issue key to avoid redundant API calls. Key relationship chain: workspace → sonar_connection → scans → scan_issues → scan_fix_attempts.</a:t>
            </a:r>
            <a:endParaRPr/>
          </a:p>
        </p:txBody>
      </p:sp>
      <p:sp>
        <p:nvSpPr>
          <p:cNvPr id="1066" name="Google Shape;1066;g3e20204ca12_2_9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e20204ca12_2_10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g3e20204ca12_2_107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18 (Security)</a:t>
            </a:r>
            <a:br>
              <a:rPr lang="en"/>
            </a:br>
            <a:r>
              <a:rPr lang="en"/>
              <a:t>Defense-in-depth: authentication (OAuth + JWT), authorization (installation tokens), transport security (webhook HMAC), storage security (Fernet encryption), and output security (AI gating). A common panel question: "What if someone sends a fake webhook?" — answered by HMAC-SHA256 verification using the GitHub webhook secret stored in our backend config.</a:t>
            </a:r>
            <a:endParaRPr/>
          </a:p>
        </p:txBody>
      </p:sp>
      <p:sp>
        <p:nvSpPr>
          <p:cNvPr id="1148" name="Google Shape;1148;g3e20204ca12_2_107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e20204ca12_2_11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g3e20204ca12_2_11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19 (Demo + Challenges)</a:t>
            </a:r>
            <a:br>
              <a:rPr lang="en"/>
            </a:br>
            <a:r>
              <a:rPr lang="en"/>
              <a:t>Walk through the demo steps in order on a live browser. For the panel: if live demo is not available, show screenshots in order. For challenges: emphasize that the Sonar component → GitHub path mapping was non-trivial (Sonar uses colon-delimited component strings), and that LLM hallucinations required the entire validation pipeline to be built.</a:t>
            </a:r>
            <a:endParaRPr/>
          </a:p>
        </p:txBody>
      </p:sp>
      <p:sp>
        <p:nvSpPr>
          <p:cNvPr id="1198" name="Google Shape;1198;g3e20204ca12_2_11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e20204ca12_2_11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7" name="Google Shape;1267;g3e20204ca12_2_11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20 (Conclusion)</a:t>
            </a:r>
            <a:br>
              <a:rPr lang="en"/>
            </a:br>
            <a:r>
              <a:rPr lang="en"/>
              <a:t>Close by reiterating the core value proposition: "This platform closes the feedback loop between code scanning and remediation — a developer pushes code, gets an AI-generated fix PR automatically, and can see full analytics on their dashboard. The system treats AI as an assistant with guardrails, not as a trusted code committer." Then open for Q&amp;A.</a:t>
            </a:r>
            <a:endParaRPr/>
          </a:p>
        </p:txBody>
      </p:sp>
      <p:sp>
        <p:nvSpPr>
          <p:cNvPr id="1268" name="Google Shape;1268;g3e20204ca12_2_11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e20204ca12_2_12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6" name="Google Shape;1296;g3e20204ca12_2_12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21 (Viva Q&amp;A Prep)</a:t>
            </a:r>
            <a:br>
              <a:rPr lang="en"/>
            </a:br>
            <a:r>
              <a:rPr lang="en"/>
              <a:t>This slide is for your own preparation — do NOT show it during the main presentation. Review these answers before the viva. For each answer, expand with a specific technical detail from the codebase (e.g., for webhook security, mention webhook.py and the HMAC verification function).</a:t>
            </a:r>
            <a:endParaRPr/>
          </a:p>
        </p:txBody>
      </p:sp>
      <p:sp>
        <p:nvSpPr>
          <p:cNvPr id="1297" name="Google Shape;1297;g3e20204ca12_2_12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85800" y="62179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40080" y="1481328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Shift-Left Compliance Agents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640080" y="2450592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2100"/>
              <a:buFont typeface="Calibri"/>
              <a:buNone/>
            </a:pPr>
            <a:r>
              <a:rPr b="0" i="1" lang="en" sz="2100" u="none" cap="none" strike="noStrik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AI-Powered DevSecOps Automation Platform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40080" y="2944368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Final Semester Internship Project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40080" y="3456432"/>
            <a:ext cx="1188720" cy="292608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640080" y="34564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993392" y="3456432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1993392" y="345643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OpenRouter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712464" y="3456432"/>
            <a:ext cx="1828800" cy="292608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3712464" y="34564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Automation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5705856" y="3456432"/>
            <a:ext cx="914400" cy="292608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705856" y="345643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6784848" y="3456432"/>
            <a:ext cx="731520" cy="292608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784848" y="345643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7680960" y="3456432"/>
            <a:ext cx="914400" cy="292608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680960" y="345643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11480" y="4480560"/>
            <a:ext cx="8732520" cy="662940"/>
          </a:xfrm>
          <a:prstGeom prst="rect">
            <a:avLst/>
          </a:prstGeom>
          <a:solidFill>
            <a:srgbClr val="0A1F3D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411480" y="4480560"/>
            <a:ext cx="8732520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DevSecOps  ·  Code Scanning  ·  AI Remediation  ·  GitHub Automation  ·  Build 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47472" y="1097280"/>
            <a:ext cx="4133100" cy="171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47472" y="1097280"/>
            <a:ext cx="50292" cy="171907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30352" y="1298448"/>
            <a:ext cx="493776" cy="493776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530352" y="1298448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159012" y="1389890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Security Issues Found Late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273552" y="1261872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273552" y="1261872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High Cost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30339" y="1897370"/>
            <a:ext cx="3804000" cy="138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16664" y="2016215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Bugs found post-release cost up to 30× more to fix than at code-time.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16664" y="2377406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Teams scramble under deadline pressure with poor context.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677153" y="1097243"/>
            <a:ext cx="4133100" cy="171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681728" y="1097280"/>
            <a:ext cx="50292" cy="17190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864608" y="1298448"/>
            <a:ext cx="493776" cy="493776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4848600" y="1298500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490943" y="1355602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Manual Compliance Review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7607808" y="1261872"/>
            <a:ext cx="1005900" cy="23760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7607808" y="1261872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Slow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846320" y="1897382"/>
            <a:ext cx="3804000" cy="138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850895" y="2016253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Engineers wait days for security review cycles before merging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850920" y="2336268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Blocks CI/CD velocity and delays feature delivery.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47472" y="2999232"/>
            <a:ext cx="413308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347472" y="2999232"/>
            <a:ext cx="50292" cy="17190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30352" y="3200400"/>
            <a:ext cx="493776" cy="493776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30352" y="3200400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124712" y="31363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Automated Remediation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273552" y="3163824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273552" y="316382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No Fix Guidance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12064" y="3529584"/>
            <a:ext cx="380390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12064" y="359359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Static analysis tools report violations but provide no automated fix.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12064" y="393192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Developers must manually research and implement each fix.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681728" y="2999232"/>
            <a:ext cx="413308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4681728" y="2999232"/>
            <a:ext cx="50292" cy="171907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4864608" y="3200400"/>
            <a:ext cx="493776" cy="493776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4864608" y="3200400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458968" y="31363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Fragmented Tooling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607808" y="3163824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607808" y="316382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Tool Silos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846320" y="3529584"/>
            <a:ext cx="380390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4846320" y="359359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Scan results, fix tickets, and PR workflows live in separate platforms.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846320" y="393192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unified view creates blind spots and coordination overhead.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What Is Shift-Left Compliance?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47472" y="1115568"/>
            <a:ext cx="1143000" cy="47548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347472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347472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1490472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1563624" y="1115568"/>
            <a:ext cx="1143000" cy="47548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1563624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563624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Write &amp; Commit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2706624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779776" y="1115568"/>
            <a:ext cx="1143000" cy="47548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779776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779776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922776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995928" y="1115568"/>
            <a:ext cx="1143000" cy="47548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3995928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995928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&amp; Integration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138928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212080" y="1115568"/>
            <a:ext cx="1143000" cy="47548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212080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212080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Pre-prod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355080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428232" y="1115568"/>
            <a:ext cx="1143000" cy="47548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428232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428232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Deploy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571232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644384" y="1115568"/>
            <a:ext cx="1143000" cy="47548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44384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644384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47472" y="1719072"/>
            <a:ext cx="3639312" cy="5029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347472" y="17739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← Shift checks LEFT (earlier = cheaper)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080760" y="1719072"/>
            <a:ext cx="2423160" cy="5029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080760" y="177393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Traditional: found here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47472" y="2121408"/>
            <a:ext cx="2788920" cy="2670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347472" y="2121408"/>
            <a:ext cx="50292" cy="267004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12064" y="2267712"/>
            <a:ext cx="420624" cy="420624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12064" y="22677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1005840" y="228600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Traditional Approach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02926" y="2800330"/>
            <a:ext cx="2487300" cy="138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75501" y="2926038"/>
            <a:ext cx="2514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gates at staging or just before release. Issues surface late, context is lost, fixes are rushed and expensive.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3291840" y="2121408"/>
            <a:ext cx="2788920" cy="2670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3291840" y="2121408"/>
            <a:ext cx="50292" cy="267004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3456432" y="2267712"/>
            <a:ext cx="420624" cy="420624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3456432" y="22677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950208" y="228600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Shift-Left Approach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515869" y="2800330"/>
            <a:ext cx="2487300" cy="138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3428994" y="2926038"/>
            <a:ext cx="2514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and compliance checks integrated at commit and PR time. Developer fixes issues while context is fresh.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236208" y="2121408"/>
            <a:ext cx="2788920" cy="2670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6236208" y="2121408"/>
            <a:ext cx="50292" cy="267004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6400800" y="2267712"/>
            <a:ext cx="420624" cy="420624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6400800" y="22677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6894576" y="228600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This Platform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6441962" y="2800330"/>
            <a:ext cx="2487300" cy="138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382512" y="2926038"/>
            <a:ext cx="2514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SonarCloud scan → AI fix → GitHub PR created automatically within minutes of a code push. Zero manual tickets.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47472" y="1078992"/>
            <a:ext cx="278892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347472" y="1078992"/>
            <a:ext cx="50292" cy="166420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12064" y="1243584"/>
            <a:ext cx="475488" cy="47548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512064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060704" y="1243584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Automated Scanning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93776" y="1645920"/>
            <a:ext cx="2487168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493776" y="1719072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Fetch SonarCloud issues on every push via GitHub webhook events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93776" y="2432304"/>
            <a:ext cx="1005840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493776" y="24323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Early Detection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3291840" y="1078992"/>
            <a:ext cx="278892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3291840" y="1078992"/>
            <a:ext cx="50292" cy="16642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3456432" y="1243584"/>
            <a:ext cx="475488" cy="475488"/>
          </a:xfrm>
          <a:prstGeom prst="ellipse">
            <a:avLst/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3456432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005072" y="1243584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Fix Generation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438144" y="1645920"/>
            <a:ext cx="2487168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3438144" y="1719072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Generate structured JSON patches using rule-aware, context-rich prompts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3438144" y="2432304"/>
            <a:ext cx="1005840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3438144" y="24323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Remediation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236208" y="1078992"/>
            <a:ext cx="278892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6236208" y="1078992"/>
            <a:ext cx="50292" cy="166420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6400800" y="1243584"/>
            <a:ext cx="475488" cy="47548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6400800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949440" y="1243584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Automation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382512" y="1645920"/>
            <a:ext cx="2487168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382512" y="1719072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 branch, apply code patch via Contents API, open Pull Request automatically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382512" y="2432304"/>
            <a:ext cx="100584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6382512" y="24323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Pull 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347472" y="2907792"/>
            <a:ext cx="278892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47472" y="2907792"/>
            <a:ext cx="50292" cy="16642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512064" y="3072384"/>
            <a:ext cx="475488" cy="475488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512064" y="30723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1060704" y="3072384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Dashboard Analytics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493776" y="3474720"/>
            <a:ext cx="2487168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493776" y="3547872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 severity breakdown, scan trends, fix rates and PR merge status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493776" y="4261104"/>
            <a:ext cx="1005840" cy="219456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493776" y="42611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3291840" y="2907792"/>
            <a:ext cx="278892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3291840" y="2907792"/>
            <a:ext cx="50292" cy="166420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3456432" y="3072384"/>
            <a:ext cx="475488" cy="47548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3456432" y="30723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4005072" y="3072384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Build Validation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3438144" y="3474720"/>
            <a:ext cx="2487168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3438144" y="3547872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Maven build on fix branch; auto-fix imports and logger fields; re-validate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3438144" y="4261104"/>
            <a:ext cx="100584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3438144" y="42611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Quality Gate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236208" y="2907792"/>
            <a:ext cx="278892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6236208" y="2907792"/>
            <a:ext cx="50292" cy="16642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6400800" y="3072384"/>
            <a:ext cx="475488" cy="475488"/>
          </a:xfrm>
          <a:prstGeom prst="ellipse">
            <a:avLst/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6400800" y="30723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6949440" y="3072384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Persistent Tracking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6382512" y="3474720"/>
            <a:ext cx="2487168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6382512" y="3547872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Store every scan event, issue, fix attempt and PR link in MongoDB collections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382512" y="4261104"/>
            <a:ext cx="1005840" cy="21945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6382512" y="42611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Audit Trail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347472" y="1115568"/>
            <a:ext cx="1627632" cy="274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347472" y="1115568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&amp; CI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347472" y="1389888"/>
            <a:ext cx="1627632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438912" y="1463040"/>
            <a:ext cx="1444752" cy="274320"/>
          </a:xfrm>
          <a:prstGeom prst="rect">
            <a:avLst/>
          </a:prstGeom>
          <a:solidFill>
            <a:srgbClr val="1E293B">
              <a:alpha val="12156"/>
            </a:srgbClr>
          </a:solidFill>
          <a:ln cap="flat" cmpd="sng" w="12700">
            <a:solidFill>
              <a:srgbClr val="1E293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457200" y="146304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Repo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38912" y="1810512"/>
            <a:ext cx="1444752" cy="274320"/>
          </a:xfrm>
          <a:prstGeom prst="rect">
            <a:avLst/>
          </a:prstGeom>
          <a:solidFill>
            <a:srgbClr val="1E293B">
              <a:alpha val="12156"/>
            </a:srgbClr>
          </a:solidFill>
          <a:ln cap="flat" cmpd="sng" w="12700">
            <a:solidFill>
              <a:srgbClr val="1E293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457200" y="18105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438912" y="2157984"/>
            <a:ext cx="1444752" cy="274320"/>
          </a:xfrm>
          <a:prstGeom prst="rect">
            <a:avLst/>
          </a:prstGeom>
          <a:solidFill>
            <a:srgbClr val="1E293B">
              <a:alpha val="12156"/>
            </a:srgbClr>
          </a:solidFill>
          <a:ln cap="flat" cmpd="sng" w="12700">
            <a:solidFill>
              <a:srgbClr val="1E293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457200" y="2157984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SonarCloud Scan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1975104" y="1664208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2148840" y="1115568"/>
            <a:ext cx="1627632" cy="27432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2148840" y="1115568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2148840" y="1389888"/>
            <a:ext cx="1627632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2240280" y="1463040"/>
            <a:ext cx="1444752" cy="274320"/>
          </a:xfrm>
          <a:prstGeom prst="rect">
            <a:avLst/>
          </a:prstGeom>
          <a:solidFill>
            <a:srgbClr val="1D4ED8">
              <a:alpha val="12156"/>
            </a:srgbClr>
          </a:solidFill>
          <a:ln cap="flat" cmpd="sng" w="12700">
            <a:solidFill>
              <a:srgbClr val="1D4ED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258568" y="146304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FastAPI + Uvicorn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2240280" y="1810512"/>
            <a:ext cx="1444752" cy="274320"/>
          </a:xfrm>
          <a:prstGeom prst="rect">
            <a:avLst/>
          </a:prstGeom>
          <a:solidFill>
            <a:srgbClr val="1D4ED8">
              <a:alpha val="12156"/>
            </a:srgbClr>
          </a:solidFill>
          <a:ln cap="flat" cmpd="sng" w="12700">
            <a:solidFill>
              <a:srgbClr val="1D4ED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2258568" y="18105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Webhook Handler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2240280" y="2157984"/>
            <a:ext cx="1444752" cy="274320"/>
          </a:xfrm>
          <a:prstGeom prst="rect">
            <a:avLst/>
          </a:prstGeom>
          <a:solidFill>
            <a:srgbClr val="1D4ED8">
              <a:alpha val="12156"/>
            </a:srgbClr>
          </a:solidFill>
          <a:ln cap="flat" cmpd="sng" w="12700">
            <a:solidFill>
              <a:srgbClr val="1D4ED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2258568" y="2157984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Route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3776472" y="1664208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3950208" y="1115568"/>
            <a:ext cx="1627632" cy="2743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3950208" y="1115568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Storage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3950208" y="1389888"/>
            <a:ext cx="1627632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4041648" y="1463040"/>
            <a:ext cx="1444752" cy="274320"/>
          </a:xfrm>
          <a:prstGeom prst="rect">
            <a:avLst/>
          </a:prstGeom>
          <a:solidFill>
            <a:srgbClr val="059669">
              <a:alpha val="12156"/>
            </a:srgbClr>
          </a:solidFill>
          <a:ln cap="flat" cmpd="sng" w="12700">
            <a:solidFill>
              <a:srgbClr val="059669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4059936" y="146304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OpenRouter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4041648" y="1810512"/>
            <a:ext cx="1444752" cy="274320"/>
          </a:xfrm>
          <a:prstGeom prst="rect">
            <a:avLst/>
          </a:prstGeom>
          <a:solidFill>
            <a:srgbClr val="059669">
              <a:alpha val="12156"/>
            </a:srgbClr>
          </a:solidFill>
          <a:ln cap="flat" cmpd="sng" w="12700">
            <a:solidFill>
              <a:srgbClr val="059669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059936" y="18105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Builder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4041648" y="2157984"/>
            <a:ext cx="1444752" cy="274320"/>
          </a:xfrm>
          <a:prstGeom prst="rect">
            <a:avLst/>
          </a:prstGeom>
          <a:solidFill>
            <a:srgbClr val="059669">
              <a:alpha val="12156"/>
            </a:srgbClr>
          </a:solidFill>
          <a:ln cap="flat" cmpd="sng" w="12700">
            <a:solidFill>
              <a:srgbClr val="059669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4059936" y="2157984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5577840" y="1664208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5751576" y="1115568"/>
            <a:ext cx="1627632" cy="2743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5751576" y="1115568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751576" y="1389888"/>
            <a:ext cx="1627632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5843016" y="1463040"/>
            <a:ext cx="1444752" cy="274320"/>
          </a:xfrm>
          <a:prstGeom prst="rect">
            <a:avLst/>
          </a:prstGeom>
          <a:solidFill>
            <a:srgbClr val="D97706">
              <a:alpha val="12156"/>
            </a:srgbClr>
          </a:solidFill>
          <a:ln cap="flat" cmpd="sng" w="12700">
            <a:solidFill>
              <a:srgbClr val="D9770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5861304" y="146304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Branch Creator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5843016" y="1810512"/>
            <a:ext cx="1444752" cy="274320"/>
          </a:xfrm>
          <a:prstGeom prst="rect">
            <a:avLst/>
          </a:prstGeom>
          <a:solidFill>
            <a:srgbClr val="D97706">
              <a:alpha val="12156"/>
            </a:srgbClr>
          </a:solidFill>
          <a:ln cap="flat" cmpd="sng" w="12700">
            <a:solidFill>
              <a:srgbClr val="D9770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5861304" y="18105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Contents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5843016" y="2157984"/>
            <a:ext cx="1444752" cy="274320"/>
          </a:xfrm>
          <a:prstGeom prst="rect">
            <a:avLst/>
          </a:prstGeom>
          <a:solidFill>
            <a:srgbClr val="D97706">
              <a:alpha val="12156"/>
            </a:srgbClr>
          </a:solidFill>
          <a:ln cap="flat" cmpd="sng" w="12700">
            <a:solidFill>
              <a:srgbClr val="D9770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5861304" y="2157984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 Handler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7379208" y="1664208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7552944" y="1115568"/>
            <a:ext cx="1627632" cy="274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7552944" y="1115568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7552944" y="1389888"/>
            <a:ext cx="1627632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7644384" y="1463040"/>
            <a:ext cx="1444752" cy="274320"/>
          </a:xfrm>
          <a:prstGeom prst="rect">
            <a:avLst/>
          </a:prstGeom>
          <a:solidFill>
            <a:srgbClr val="0891B2">
              <a:alpha val="12156"/>
            </a:srgbClr>
          </a:solidFill>
          <a:ln cap="flat" cmpd="sng" w="12700">
            <a:solidFill>
              <a:srgbClr val="0891B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7662672" y="146304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React + Vite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644384" y="1810512"/>
            <a:ext cx="1444752" cy="274320"/>
          </a:xfrm>
          <a:prstGeom prst="rect">
            <a:avLst/>
          </a:prstGeom>
          <a:solidFill>
            <a:srgbClr val="0891B2">
              <a:alpha val="12156"/>
            </a:srgbClr>
          </a:solidFill>
          <a:ln cap="flat" cmpd="sng" w="12700">
            <a:solidFill>
              <a:srgbClr val="0891B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7662672" y="18105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Analytics Charts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7644384" y="2157984"/>
            <a:ext cx="1444752" cy="274320"/>
          </a:xfrm>
          <a:prstGeom prst="rect">
            <a:avLst/>
          </a:prstGeom>
          <a:solidFill>
            <a:srgbClr val="0891B2">
              <a:alpha val="12156"/>
            </a:srgbClr>
          </a:solidFill>
          <a:ln cap="flat" cmpd="sng" w="12700">
            <a:solidFill>
              <a:srgbClr val="0891B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7662672" y="2157984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Report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347472" y="24871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End-to-End Data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347472" y="2798064"/>
            <a:ext cx="1152144" cy="34747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347472" y="2798064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Push 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1499616" y="2816352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1600200" y="2798064"/>
            <a:ext cx="1152144" cy="34747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1600200" y="2798064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CI Scan Runs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2752344" y="2816352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2852928" y="2798064"/>
            <a:ext cx="1152144" cy="34747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2852928" y="2798064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Webhook Fired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4005072" y="2816352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4105656" y="2798064"/>
            <a:ext cx="1152144" cy="34747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4105656" y="2798064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Issues Fetched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5257800" y="2816352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5358384" y="2798064"/>
            <a:ext cx="1152144" cy="34747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5358384" y="2798064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AI Fix Generated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6510528" y="2816352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6611112" y="2798064"/>
            <a:ext cx="1152144" cy="3474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6611112" y="2798064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Branch + PR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7763256" y="2816352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7863840" y="2798064"/>
            <a:ext cx="1152144" cy="34747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7863840" y="2798064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Dashboard Updated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347472" y="32918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Key Backend Files: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347472" y="3584448"/>
            <a:ext cx="102412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347472" y="358444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main.py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1444752" y="3584448"/>
            <a:ext cx="102412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1444752" y="358444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app_factory.py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2542032" y="3584448"/>
            <a:ext cx="102412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2542032" y="358444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webhook.py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3639312" y="3584448"/>
            <a:ext cx="102412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3639312" y="358444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llm_fix.py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4736592" y="3584448"/>
            <a:ext cx="102412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736592" y="358444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github_apply.py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5833872" y="3584448"/>
            <a:ext cx="102412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5833872" y="358444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fixes_service.py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6931152" y="3584448"/>
            <a:ext cx="102412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6931152" y="358444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sonar.py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8028432" y="3584448"/>
            <a:ext cx="102412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8028432" y="358444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github_context.py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347472" y="1078992"/>
            <a:ext cx="4187952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347472" y="1078992"/>
            <a:ext cx="50292" cy="178308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512064" y="1243584"/>
            <a:ext cx="475488" cy="47548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12064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1060704" y="1234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060704" y="151790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Developer-facing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93776" y="1792224"/>
            <a:ext cx="388620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493776" y="1883664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93776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1810512" y="1883664"/>
            <a:ext cx="1097280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1810512" y="188366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3127248" y="1883664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3127248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Vite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493776" y="226771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493776" y="226771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1810512" y="2267712"/>
            <a:ext cx="932688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1810512" y="226771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Recharts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3127248" y="2267712"/>
            <a:ext cx="1179576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3127248" y="2267712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html2canvas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493776" y="2651760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493776" y="265176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jsPDF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4718304" y="1078992"/>
            <a:ext cx="4187952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4718304" y="1078992"/>
            <a:ext cx="50292" cy="17830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4882896" y="1243584"/>
            <a:ext cx="475488" cy="475488"/>
          </a:xfrm>
          <a:prstGeom prst="ellipse">
            <a:avLst/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4882896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5431536" y="1234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5431536" y="151790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Automation and validation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4864608" y="1792224"/>
            <a:ext cx="388620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4864608" y="1883664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4864608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181344" y="1883664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6181344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7498080" y="1883664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7498080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4864608" y="2267712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4864608" y="226771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PyMongo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6181344" y="2267712"/>
            <a:ext cx="932688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6181344" y="226771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Requests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7498080" y="2267712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7498080" y="226771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PyJWT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4864608" y="2651760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4864608" y="265176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Cryptography/Fernet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347472" y="3017520"/>
            <a:ext cx="4187952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347472" y="3017520"/>
            <a:ext cx="50292" cy="17830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512064" y="3182112"/>
            <a:ext cx="475488" cy="47548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/>
          <p:nvPr/>
        </p:nvSpPr>
        <p:spPr>
          <a:xfrm>
            <a:off x="512064" y="31821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060704" y="31729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1060704" y="345643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Operational history and audit store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493776" y="3730752"/>
            <a:ext cx="388620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493776" y="3822192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493776" y="382219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1810512" y="3822192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1810512" y="382219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3127248" y="3822192"/>
            <a:ext cx="109728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3127248" y="382219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workspaces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493776" y="4206240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493776" y="420624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1810512" y="4206240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1810512" y="420624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fixes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3127248" y="4206240"/>
            <a:ext cx="91440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3127248" y="420624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scans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493776" y="4590288"/>
            <a:ext cx="1179576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493776" y="4590288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scan_events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4718304" y="3017520"/>
            <a:ext cx="4187952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4718304" y="3017520"/>
            <a:ext cx="50292" cy="17830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4882896" y="3182112"/>
            <a:ext cx="475488" cy="475488"/>
          </a:xfrm>
          <a:prstGeom prst="ellipse">
            <a:avLst/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4882896" y="31821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5431536" y="31729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5431536" y="345643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External DevSecOps ecosystem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864608" y="3730752"/>
            <a:ext cx="388620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4864608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4864608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SonarCloud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6181344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6181344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GitHub OAuth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7498080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7498080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GitHub App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4864608" y="4206240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"/>
          <p:cNvSpPr/>
          <p:nvPr/>
        </p:nvSpPr>
        <p:spPr>
          <a:xfrm>
            <a:off x="4864608" y="420624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GitHub Webhooks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6181344" y="4206240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0"/>
          <p:cNvSpPr/>
          <p:nvPr/>
        </p:nvSpPr>
        <p:spPr>
          <a:xfrm>
            <a:off x="6181344" y="420624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Contents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0"/>
          <p:cNvSpPr/>
          <p:nvPr/>
        </p:nvSpPr>
        <p:spPr>
          <a:xfrm>
            <a:off x="7498080" y="4206240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7498080" y="420624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OpenRouter LLM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1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User Workflow — End-to-End Journey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347472" y="1115568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347472" y="1115568"/>
            <a:ext cx="50292" cy="141732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493776" y="1234440"/>
            <a:ext cx="402336" cy="402336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"/>
          <p:cNvSpPr/>
          <p:nvPr/>
        </p:nvSpPr>
        <p:spPr>
          <a:xfrm>
            <a:off x="493776" y="12344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969264" y="1243584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OAuth Login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493776" y="1719072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JWT issued for session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2377440" y="14813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2523744" y="1115568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2523744" y="1115568"/>
            <a:ext cx="50292" cy="141732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"/>
          <p:cNvSpPr/>
          <p:nvPr/>
        </p:nvSpPr>
        <p:spPr>
          <a:xfrm>
            <a:off x="2670048" y="1234440"/>
            <a:ext cx="402336" cy="402336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1"/>
          <p:cNvSpPr/>
          <p:nvPr/>
        </p:nvSpPr>
        <p:spPr>
          <a:xfrm>
            <a:off x="2670048" y="12344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3145536" y="1243584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Create Workspace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2670048" y="1719072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Select GitHub installation + repo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4553712" y="14813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4700016" y="1115568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1"/>
          <p:cNvSpPr/>
          <p:nvPr/>
        </p:nvSpPr>
        <p:spPr>
          <a:xfrm>
            <a:off x="4700016" y="1115568"/>
            <a:ext cx="50292" cy="1417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4846320" y="1234440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4846320" y="12344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5321808" y="1243584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Connect SonarCloud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4846320" y="1719072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 project key, encrypt 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6729984" y="14813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6876288" y="1115568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6876288" y="1115568"/>
            <a:ext cx="50292" cy="1417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7022592" y="1234440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7022592" y="12344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7498080" y="1243584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Push Code / Run CI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7022592" y="1719072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 Actions + SonarCloud scan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4544568" y="2532888"/>
            <a:ext cx="50292" cy="29260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4462272" y="2715768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6876288" y="292608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6876288" y="2926080"/>
            <a:ext cx="50292" cy="14173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7022592" y="3044952"/>
            <a:ext cx="402336" cy="402336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1"/>
          <p:cNvSpPr/>
          <p:nvPr/>
        </p:nvSpPr>
        <p:spPr>
          <a:xfrm>
            <a:off x="7022592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7498080" y="3054096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Webhook Triggers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7022592" y="352958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 /webhook/github validated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6729984" y="33101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4700016" y="292608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4700016" y="2926080"/>
            <a:ext cx="50292" cy="14173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1"/>
          <p:cNvSpPr/>
          <p:nvPr/>
        </p:nvSpPr>
        <p:spPr>
          <a:xfrm>
            <a:off x="4846320" y="3044952"/>
            <a:ext cx="402336" cy="402336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1"/>
          <p:cNvSpPr/>
          <p:nvPr/>
        </p:nvSpPr>
        <p:spPr>
          <a:xfrm>
            <a:off x="4846320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5321808" y="3054096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Issues + AI Fixes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4846320" y="352958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 generates JSON patches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4553712" y="33101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2523744" y="292608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1"/>
          <p:cNvSpPr/>
          <p:nvPr/>
        </p:nvSpPr>
        <p:spPr>
          <a:xfrm>
            <a:off x="2523744" y="2926080"/>
            <a:ext cx="50292" cy="14173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1"/>
          <p:cNvSpPr/>
          <p:nvPr/>
        </p:nvSpPr>
        <p:spPr>
          <a:xfrm>
            <a:off x="2670048" y="3044952"/>
            <a:ext cx="402336" cy="40233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1"/>
          <p:cNvSpPr/>
          <p:nvPr/>
        </p:nvSpPr>
        <p:spPr>
          <a:xfrm>
            <a:off x="2670048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3145536" y="3054096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PR Created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2670048" y="352958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Branch shiftleft/fixes-* opened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2377440" y="33101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347472" y="292608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1"/>
          <p:cNvSpPr/>
          <p:nvPr/>
        </p:nvSpPr>
        <p:spPr>
          <a:xfrm>
            <a:off x="347472" y="2926080"/>
            <a:ext cx="50292" cy="14173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1"/>
          <p:cNvSpPr/>
          <p:nvPr/>
        </p:nvSpPr>
        <p:spPr>
          <a:xfrm>
            <a:off x="493776" y="3044952"/>
            <a:ext cx="402336" cy="40233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493776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969264" y="3054096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Review on Dashboard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493776" y="352958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Diff view, analytics, PDF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2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Backend Architecture — FastAPI Modules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347472" y="1078992"/>
            <a:ext cx="4187952" cy="17739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2"/>
          <p:cNvSpPr/>
          <p:nvPr/>
        </p:nvSpPr>
        <p:spPr>
          <a:xfrm>
            <a:off x="347472" y="1078992"/>
            <a:ext cx="50292" cy="1773936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2"/>
          <p:cNvSpPr/>
          <p:nvPr/>
        </p:nvSpPr>
        <p:spPr>
          <a:xfrm>
            <a:off x="512064" y="1243584"/>
            <a:ext cx="475488" cy="475488"/>
          </a:xfrm>
          <a:prstGeom prst="ellipse">
            <a:avLst/>
          </a:prstGeom>
          <a:solidFill>
            <a:srgbClr val="1D4ED8">
              <a:alpha val="85098"/>
            </a:srgbClr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>
            <a:off x="512064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1060704" y="12344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Routes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1060704" y="1517904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 endpoint handlers — one file per domain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493776" y="1810512"/>
            <a:ext cx="388620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2"/>
          <p:cNvSpPr/>
          <p:nvPr/>
        </p:nvSpPr>
        <p:spPr>
          <a:xfrm>
            <a:off x="493776" y="190195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493776" y="190195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webhook.py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1828800" y="190195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1828800" y="190195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3163824" y="190195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2"/>
          <p:cNvSpPr/>
          <p:nvPr/>
        </p:nvSpPr>
        <p:spPr>
          <a:xfrm>
            <a:off x="3163824" y="190195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493776" y="2286000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2"/>
          <p:cNvSpPr/>
          <p:nvPr/>
        </p:nvSpPr>
        <p:spPr>
          <a:xfrm>
            <a:off x="493776" y="228600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1828800" y="2286000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1828800" y="228600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workspaces.py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3163824" y="2286000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3163824" y="228600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auth_github.py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493776" y="2670048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/>
          <p:nvPr/>
        </p:nvSpPr>
        <p:spPr>
          <a:xfrm>
            <a:off x="493776" y="267004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github_install.py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4718304" y="1078992"/>
            <a:ext cx="4187952" cy="17739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4718304" y="1078992"/>
            <a:ext cx="50292" cy="17739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>
            <a:off x="4882896" y="1243584"/>
            <a:ext cx="475488" cy="475488"/>
          </a:xfrm>
          <a:prstGeom prst="ellipse">
            <a:avLst/>
          </a:prstGeom>
          <a:solidFill>
            <a:srgbClr val="0891B2">
              <a:alpha val="85098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4882896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5431536" y="12344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Clients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5431536" y="1517904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External API callers — SonarCloud &amp; 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4864608" y="1810512"/>
            <a:ext cx="388620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2"/>
          <p:cNvSpPr/>
          <p:nvPr/>
        </p:nvSpPr>
        <p:spPr>
          <a:xfrm>
            <a:off x="4864608" y="190195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4864608" y="190195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6199632" y="190195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6199632" y="190195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github_context.py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347472" y="2999232"/>
            <a:ext cx="4187952" cy="17739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2"/>
          <p:cNvSpPr/>
          <p:nvPr/>
        </p:nvSpPr>
        <p:spPr>
          <a:xfrm>
            <a:off x="347472" y="2999232"/>
            <a:ext cx="50292" cy="1773936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2"/>
          <p:cNvSpPr/>
          <p:nvPr/>
        </p:nvSpPr>
        <p:spPr>
          <a:xfrm>
            <a:off x="512064" y="3163824"/>
            <a:ext cx="475488" cy="475488"/>
          </a:xfrm>
          <a:prstGeom prst="ellipse">
            <a:avLst/>
          </a:prstGeom>
          <a:solidFill>
            <a:srgbClr val="059669">
              <a:alpha val="85098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512064" y="316382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1060704" y="31546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1060704" y="3438144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Core business logic — fix generation, apply, sanitize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493776" y="3730752"/>
            <a:ext cx="388620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493776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2"/>
          <p:cNvSpPr/>
          <p:nvPr/>
        </p:nvSpPr>
        <p:spPr>
          <a:xfrm>
            <a:off x="493776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llm_fix.py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1828800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2"/>
          <p:cNvSpPr/>
          <p:nvPr/>
        </p:nvSpPr>
        <p:spPr>
          <a:xfrm>
            <a:off x="1828800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fixes_service.py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3163824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/>
          <p:nvPr/>
        </p:nvSpPr>
        <p:spPr>
          <a:xfrm>
            <a:off x="3163824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github_apply.py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4718304" y="2999232"/>
            <a:ext cx="4187952" cy="17739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2"/>
          <p:cNvSpPr/>
          <p:nvPr/>
        </p:nvSpPr>
        <p:spPr>
          <a:xfrm>
            <a:off x="4718304" y="2999232"/>
            <a:ext cx="50292" cy="177393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2"/>
          <p:cNvSpPr/>
          <p:nvPr/>
        </p:nvSpPr>
        <p:spPr>
          <a:xfrm>
            <a:off x="4882896" y="3163824"/>
            <a:ext cx="475488" cy="475488"/>
          </a:xfrm>
          <a:prstGeom prst="ellipse">
            <a:avLst/>
          </a:prstGeom>
          <a:solidFill>
            <a:srgbClr val="7C3AED">
              <a:alpha val="85098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2"/>
          <p:cNvSpPr/>
          <p:nvPr/>
        </p:nvSpPr>
        <p:spPr>
          <a:xfrm>
            <a:off x="4882896" y="316382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5431536" y="31546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5431536" y="3438144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 bootstrap, config, DB connections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4864608" y="3730752"/>
            <a:ext cx="388620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2"/>
          <p:cNvSpPr/>
          <p:nvPr/>
        </p:nvSpPr>
        <p:spPr>
          <a:xfrm>
            <a:off x="4864608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2"/>
          <p:cNvSpPr/>
          <p:nvPr/>
        </p:nvSpPr>
        <p:spPr>
          <a:xfrm>
            <a:off x="4864608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6199632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2"/>
          <p:cNvSpPr/>
          <p:nvPr/>
        </p:nvSpPr>
        <p:spPr>
          <a:xfrm>
            <a:off x="6199632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7534656" y="3822192"/>
            <a:ext cx="1261872" cy="21945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2"/>
          <p:cNvSpPr/>
          <p:nvPr/>
        </p:nvSpPr>
        <p:spPr>
          <a:xfrm>
            <a:off x="7534656" y="382219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app_factory.py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3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Webhook Automation Pipeline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347472" y="1170432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347472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521208" y="1554480"/>
            <a:ext cx="36576" cy="2377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3"/>
          <p:cNvSpPr/>
          <p:nvPr/>
        </p:nvSpPr>
        <p:spPr>
          <a:xfrm>
            <a:off x="822960" y="1170432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Developer pushes code or opens PR in GitHub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3648456" y="1225296"/>
            <a:ext cx="777240" cy="219456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3648456" y="1225296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4754880" y="1170432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3"/>
          <p:cNvSpPr/>
          <p:nvPr/>
        </p:nvSpPr>
        <p:spPr>
          <a:xfrm>
            <a:off x="4754880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4928616" y="1554480"/>
            <a:ext cx="36576" cy="2377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5230368" y="1170432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Actions runs Build + SonarCloud scan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7765085" y="1225296"/>
            <a:ext cx="1068019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3"/>
          <p:cNvSpPr/>
          <p:nvPr/>
        </p:nvSpPr>
        <p:spPr>
          <a:xfrm>
            <a:off x="7765085" y="1225296"/>
            <a:ext cx="10680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CI Pipeline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347472" y="1865376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347472" y="1865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521208" y="2249424"/>
            <a:ext cx="36576" cy="2377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3"/>
          <p:cNvSpPr/>
          <p:nvPr/>
        </p:nvSpPr>
        <p:spPr>
          <a:xfrm>
            <a:off x="822960" y="1865376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Workflow completes → GitHub fires POST /webhook/github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3196742" y="1920240"/>
            <a:ext cx="1228954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3196742" y="1920240"/>
            <a:ext cx="122895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Webhook Event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4754880" y="1865376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4754880" y="1865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4928616" y="2249424"/>
            <a:ext cx="36576" cy="2377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5230368" y="1865376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 verifies HMAC-SHA256 webhook signature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7765085" y="1920240"/>
            <a:ext cx="1068019" cy="219456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3"/>
          <p:cNvSpPr/>
          <p:nvPr/>
        </p:nvSpPr>
        <p:spPr>
          <a:xfrm>
            <a:off x="7765085" y="1920240"/>
            <a:ext cx="10680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🔒 Security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347472" y="2560320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347472" y="2560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521208" y="2944368"/>
            <a:ext cx="36576" cy="2377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3"/>
          <p:cNvSpPr/>
          <p:nvPr/>
        </p:nvSpPr>
        <p:spPr>
          <a:xfrm>
            <a:off x="822960" y="2560320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Extracts repo, branch, commit SHA, workflow run 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3599078" y="2615184"/>
            <a:ext cx="826618" cy="219456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3599078" y="2615184"/>
            <a:ext cx="82661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4754880" y="2560320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3"/>
          <p:cNvSpPr/>
          <p:nvPr/>
        </p:nvSpPr>
        <p:spPr>
          <a:xfrm>
            <a:off x="4754880" y="2560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4928616" y="2944368"/>
            <a:ext cx="36576" cy="2377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3"/>
          <p:cNvSpPr/>
          <p:nvPr/>
        </p:nvSpPr>
        <p:spPr>
          <a:xfrm>
            <a:off x="5230368" y="2560320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App installation token obtained (no passwords stored)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8055864" y="2615184"/>
            <a:ext cx="777240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3"/>
          <p:cNvSpPr/>
          <p:nvPr/>
        </p:nvSpPr>
        <p:spPr>
          <a:xfrm>
            <a:off x="8055864" y="261518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🔑 Auth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347472" y="3255264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3"/>
          <p:cNvSpPr/>
          <p:nvPr/>
        </p:nvSpPr>
        <p:spPr>
          <a:xfrm>
            <a:off x="347472" y="3255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521208" y="3639312"/>
            <a:ext cx="36576" cy="2377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3"/>
          <p:cNvSpPr/>
          <p:nvPr/>
        </p:nvSpPr>
        <p:spPr>
          <a:xfrm>
            <a:off x="822960" y="3255264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Fetches current SonarCloud issues for the mapped project key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3277210" y="3310128"/>
            <a:ext cx="1148486" cy="219456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3"/>
          <p:cNvSpPr/>
          <p:nvPr/>
        </p:nvSpPr>
        <p:spPr>
          <a:xfrm>
            <a:off x="3277210" y="3310128"/>
            <a:ext cx="114848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Issues Fetch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4754880" y="3255264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3"/>
          <p:cNvSpPr/>
          <p:nvPr/>
        </p:nvSpPr>
        <p:spPr>
          <a:xfrm>
            <a:off x="4754880" y="3255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3"/>
          <p:cNvSpPr/>
          <p:nvPr/>
        </p:nvSpPr>
        <p:spPr>
          <a:xfrm>
            <a:off x="4928616" y="3639312"/>
            <a:ext cx="36576" cy="23774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3"/>
          <p:cNvSpPr/>
          <p:nvPr/>
        </p:nvSpPr>
        <p:spPr>
          <a:xfrm>
            <a:off x="5230368" y="3255264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Generates AI fixes → LLM returns structured JSON patches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3"/>
          <p:cNvSpPr/>
          <p:nvPr/>
        </p:nvSpPr>
        <p:spPr>
          <a:xfrm>
            <a:off x="7926019" y="3310128"/>
            <a:ext cx="907085" cy="219456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3"/>
          <p:cNvSpPr/>
          <p:nvPr/>
        </p:nvSpPr>
        <p:spPr>
          <a:xfrm>
            <a:off x="7926019" y="3310128"/>
            <a:ext cx="9070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🤖 AI Fix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3"/>
          <p:cNvSpPr/>
          <p:nvPr/>
        </p:nvSpPr>
        <p:spPr>
          <a:xfrm>
            <a:off x="347472" y="3950208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3"/>
          <p:cNvSpPr/>
          <p:nvPr/>
        </p:nvSpPr>
        <p:spPr>
          <a:xfrm>
            <a:off x="347472" y="3950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3"/>
          <p:cNvSpPr/>
          <p:nvPr/>
        </p:nvSpPr>
        <p:spPr>
          <a:xfrm>
            <a:off x="822960" y="3950208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Creates branch shiftleft/fixes-{sha} via GitHub Contents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3"/>
          <p:cNvSpPr/>
          <p:nvPr/>
        </p:nvSpPr>
        <p:spPr>
          <a:xfrm>
            <a:off x="3648456" y="4005072"/>
            <a:ext cx="777240" cy="219456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3"/>
          <p:cNvSpPr/>
          <p:nvPr/>
        </p:nvSpPr>
        <p:spPr>
          <a:xfrm>
            <a:off x="3648456" y="4005072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3"/>
          <p:cNvSpPr/>
          <p:nvPr/>
        </p:nvSpPr>
        <p:spPr>
          <a:xfrm>
            <a:off x="4754880" y="3950208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3"/>
          <p:cNvSpPr/>
          <p:nvPr/>
        </p:nvSpPr>
        <p:spPr>
          <a:xfrm>
            <a:off x="4754880" y="3950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5230368" y="3950208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Opens Pull Request with fix summary and Sonar issue links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7684618" y="4005072"/>
            <a:ext cx="1148486" cy="219456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3"/>
          <p:cNvSpPr/>
          <p:nvPr/>
        </p:nvSpPr>
        <p:spPr>
          <a:xfrm>
            <a:off x="7684618" y="4005072"/>
            <a:ext cx="114848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Pull Request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347472" y="4645152"/>
            <a:ext cx="384048" cy="384048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3"/>
          <p:cNvSpPr/>
          <p:nvPr/>
        </p:nvSpPr>
        <p:spPr>
          <a:xfrm>
            <a:off x="347472" y="46451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3"/>
          <p:cNvSpPr/>
          <p:nvPr/>
        </p:nvSpPr>
        <p:spPr>
          <a:xfrm>
            <a:off x="822960" y="4645152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Scan events, fix attempts, PR link stored in MongoDB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3518611" y="4700016"/>
            <a:ext cx="907085" cy="219456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3"/>
          <p:cNvSpPr/>
          <p:nvPr/>
        </p:nvSpPr>
        <p:spPr>
          <a:xfrm>
            <a:off x="3518611" y="4700016"/>
            <a:ext cx="90708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📦 Stored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4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SONARCLOUD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SonarCloud Integration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347472" y="1078992"/>
            <a:ext cx="4133088" cy="3767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4"/>
          <p:cNvSpPr/>
          <p:nvPr/>
        </p:nvSpPr>
        <p:spPr>
          <a:xfrm>
            <a:off x="347472" y="1078992"/>
            <a:ext cx="50292" cy="376732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475488" y="113385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📥  Data Fetched from SonarCloud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475488" y="1481328"/>
            <a:ext cx="384048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4"/>
          <p:cNvSpPr/>
          <p:nvPr/>
        </p:nvSpPr>
        <p:spPr>
          <a:xfrm>
            <a:off x="502920" y="1572768"/>
            <a:ext cx="329184" cy="329184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4"/>
          <p:cNvSpPr/>
          <p:nvPr/>
        </p:nvSpPr>
        <p:spPr>
          <a:xfrm>
            <a:off x="502920" y="15727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914400" y="157276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code quality issues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914400" y="177393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rule, message, file, 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4"/>
          <p:cNvSpPr/>
          <p:nvPr/>
        </p:nvSpPr>
        <p:spPr>
          <a:xfrm>
            <a:off x="502920" y="2212848"/>
            <a:ext cx="329184" cy="329184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4"/>
          <p:cNvSpPr/>
          <p:nvPr/>
        </p:nvSpPr>
        <p:spPr>
          <a:xfrm>
            <a:off x="502920" y="22128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4"/>
          <p:cNvSpPr/>
          <p:nvPr/>
        </p:nvSpPr>
        <p:spPr>
          <a:xfrm>
            <a:off x="914400" y="221284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hotspots pending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914400" y="241401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including security rule metadata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/>
          <p:nvPr/>
        </p:nvSpPr>
        <p:spPr>
          <a:xfrm>
            <a:off x="502920" y="2852928"/>
            <a:ext cx="329184" cy="329184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4"/>
          <p:cNvSpPr/>
          <p:nvPr/>
        </p:nvSpPr>
        <p:spPr>
          <a:xfrm>
            <a:off x="502920" y="28529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4"/>
          <p:cNvSpPr/>
          <p:nvPr/>
        </p:nvSpPr>
        <p:spPr>
          <a:xfrm>
            <a:off x="914400" y="28529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Issue severity levels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4"/>
          <p:cNvSpPr/>
          <p:nvPr/>
        </p:nvSpPr>
        <p:spPr>
          <a:xfrm>
            <a:off x="914400" y="305409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BLOCKER, CRITICAL, MAJOR, MINOR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4"/>
          <p:cNvSpPr/>
          <p:nvPr/>
        </p:nvSpPr>
        <p:spPr>
          <a:xfrm>
            <a:off x="502920" y="3493008"/>
            <a:ext cx="329184" cy="329184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4"/>
          <p:cNvSpPr/>
          <p:nvPr/>
        </p:nvSpPr>
        <p:spPr>
          <a:xfrm>
            <a:off x="502920" y="34930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4"/>
          <p:cNvSpPr/>
          <p:nvPr/>
        </p:nvSpPr>
        <p:spPr>
          <a:xfrm>
            <a:off x="914400" y="349300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Component file path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4"/>
          <p:cNvSpPr/>
          <p:nvPr/>
        </p:nvSpPr>
        <p:spPr>
          <a:xfrm>
            <a:off x="914400" y="369417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Sonar component → GitHub file path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/>
          <p:nvPr/>
        </p:nvSpPr>
        <p:spPr>
          <a:xfrm>
            <a:off x="502920" y="4133088"/>
            <a:ext cx="329184" cy="329184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4"/>
          <p:cNvSpPr/>
          <p:nvPr/>
        </p:nvSpPr>
        <p:spPr>
          <a:xfrm>
            <a:off x="502920" y="41330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914400" y="413308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Project key scoping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914400" y="433425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queries scoped per workspace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4"/>
          <p:cNvSpPr/>
          <p:nvPr/>
        </p:nvSpPr>
        <p:spPr>
          <a:xfrm>
            <a:off x="4663440" y="1078992"/>
            <a:ext cx="4133088" cy="3767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4"/>
          <p:cNvSpPr/>
          <p:nvPr/>
        </p:nvSpPr>
        <p:spPr>
          <a:xfrm>
            <a:off x="4663440" y="1078992"/>
            <a:ext cx="50292" cy="376732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4"/>
          <p:cNvSpPr/>
          <p:nvPr/>
        </p:nvSpPr>
        <p:spPr>
          <a:xfrm>
            <a:off x="4791456" y="113385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🎯  Targeted Java &amp; Security Rules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4"/>
          <p:cNvSpPr/>
          <p:nvPr/>
        </p:nvSpPr>
        <p:spPr>
          <a:xfrm>
            <a:off x="4791456" y="1481328"/>
            <a:ext cx="384048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4"/>
          <p:cNvSpPr/>
          <p:nvPr/>
        </p:nvSpPr>
        <p:spPr>
          <a:xfrm>
            <a:off x="4791456" y="1572768"/>
            <a:ext cx="384048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4"/>
          <p:cNvSpPr/>
          <p:nvPr/>
        </p:nvSpPr>
        <p:spPr>
          <a:xfrm>
            <a:off x="4882896" y="162763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java:S106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4"/>
          <p:cNvSpPr/>
          <p:nvPr/>
        </p:nvSpPr>
        <p:spPr>
          <a:xfrm>
            <a:off x="7680960" y="1645920"/>
            <a:ext cx="594360" cy="201168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4"/>
          <p:cNvSpPr/>
          <p:nvPr/>
        </p:nvSpPr>
        <p:spPr>
          <a:xfrm>
            <a:off x="7680960" y="164592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MAJOR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/>
          <p:nvPr/>
        </p:nvSpPr>
        <p:spPr>
          <a:xfrm>
            <a:off x="4882896" y="181965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SLF4J logger instead of System.out/err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4"/>
          <p:cNvSpPr/>
          <p:nvPr/>
        </p:nvSpPr>
        <p:spPr>
          <a:xfrm>
            <a:off x="4791456" y="2103120"/>
            <a:ext cx="384048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4"/>
          <p:cNvSpPr/>
          <p:nvPr/>
        </p:nvSpPr>
        <p:spPr>
          <a:xfrm>
            <a:off x="4882896" y="215798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java:S1192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7680960" y="2176272"/>
            <a:ext cx="594360" cy="201168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4"/>
          <p:cNvSpPr/>
          <p:nvPr/>
        </p:nvSpPr>
        <p:spPr>
          <a:xfrm>
            <a:off x="7680960" y="21762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MAJOR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4"/>
          <p:cNvSpPr/>
          <p:nvPr/>
        </p:nvSpPr>
        <p:spPr>
          <a:xfrm>
            <a:off x="4882896" y="235000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Extract duplicate string literals to constant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4"/>
          <p:cNvSpPr/>
          <p:nvPr/>
        </p:nvSpPr>
        <p:spPr>
          <a:xfrm>
            <a:off x="4791456" y="2633472"/>
            <a:ext cx="384048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4"/>
          <p:cNvSpPr/>
          <p:nvPr/>
        </p:nvSpPr>
        <p:spPr>
          <a:xfrm>
            <a:off x="4882896" y="268833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4"/>
          <p:cNvSpPr/>
          <p:nvPr/>
        </p:nvSpPr>
        <p:spPr>
          <a:xfrm>
            <a:off x="7680960" y="2706624"/>
            <a:ext cx="594360" cy="201168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4"/>
          <p:cNvSpPr/>
          <p:nvPr/>
        </p:nvSpPr>
        <p:spPr>
          <a:xfrm>
            <a:off x="7680960" y="2706624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MAJOR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4"/>
          <p:cNvSpPr/>
          <p:nvPr/>
        </p:nvSpPr>
        <p:spPr>
          <a:xfrm>
            <a:off x="4882896" y="288036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specific exception, not generic Exception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4"/>
          <p:cNvSpPr/>
          <p:nvPr/>
        </p:nvSpPr>
        <p:spPr>
          <a:xfrm>
            <a:off x="4791456" y="3163824"/>
            <a:ext cx="384048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4"/>
          <p:cNvSpPr/>
          <p:nvPr/>
        </p:nvSpPr>
        <p:spPr>
          <a:xfrm>
            <a:off x="4882896" y="321868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java:S1481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4"/>
          <p:cNvSpPr/>
          <p:nvPr/>
        </p:nvSpPr>
        <p:spPr>
          <a:xfrm>
            <a:off x="7680960" y="3236976"/>
            <a:ext cx="594360" cy="201168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4"/>
          <p:cNvSpPr/>
          <p:nvPr/>
        </p:nvSpPr>
        <p:spPr>
          <a:xfrm>
            <a:off x="7680960" y="3236976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4"/>
          <p:cNvSpPr/>
          <p:nvPr/>
        </p:nvSpPr>
        <p:spPr>
          <a:xfrm>
            <a:off x="4882896" y="341071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 unused local variables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4"/>
          <p:cNvSpPr/>
          <p:nvPr/>
        </p:nvSpPr>
        <p:spPr>
          <a:xfrm>
            <a:off x="4791456" y="3694176"/>
            <a:ext cx="384048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4"/>
          <p:cNvSpPr/>
          <p:nvPr/>
        </p:nvSpPr>
        <p:spPr>
          <a:xfrm>
            <a:off x="4882896" y="37490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java:S1172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4"/>
          <p:cNvSpPr/>
          <p:nvPr/>
        </p:nvSpPr>
        <p:spPr>
          <a:xfrm>
            <a:off x="7680960" y="3767328"/>
            <a:ext cx="594360" cy="201168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4"/>
          <p:cNvSpPr/>
          <p:nvPr/>
        </p:nvSpPr>
        <p:spPr>
          <a:xfrm>
            <a:off x="7680960" y="376732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4"/>
          <p:cNvSpPr/>
          <p:nvPr/>
        </p:nvSpPr>
        <p:spPr>
          <a:xfrm>
            <a:off x="4882896" y="394106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 unused method parameters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4"/>
          <p:cNvSpPr/>
          <p:nvPr/>
        </p:nvSpPr>
        <p:spPr>
          <a:xfrm>
            <a:off x="4791456" y="4224528"/>
            <a:ext cx="384048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4"/>
          <p:cNvSpPr/>
          <p:nvPr/>
        </p:nvSpPr>
        <p:spPr>
          <a:xfrm>
            <a:off x="4882896" y="4279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javasecurity:S6350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7434072" y="4297680"/>
            <a:ext cx="841248" cy="201168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4"/>
          <p:cNvSpPr/>
          <p:nvPr/>
        </p:nvSpPr>
        <p:spPr>
          <a:xfrm>
            <a:off x="7434072" y="4297680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4"/>
          <p:cNvSpPr/>
          <p:nvPr/>
        </p:nvSpPr>
        <p:spPr>
          <a:xfrm>
            <a:off x="4882896" y="447141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OS command injection — security hotspot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5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5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FIXES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Fix Generation — 8-Step Lifecycle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347472" y="1115568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5"/>
          <p:cNvSpPr/>
          <p:nvPr/>
        </p:nvSpPr>
        <p:spPr>
          <a:xfrm>
            <a:off x="347472" y="1115568"/>
            <a:ext cx="50292" cy="157276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5"/>
          <p:cNvSpPr/>
          <p:nvPr/>
        </p:nvSpPr>
        <p:spPr>
          <a:xfrm>
            <a:off x="493776" y="1243584"/>
            <a:ext cx="402336" cy="402336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5"/>
          <p:cNvSpPr/>
          <p:nvPr/>
        </p:nvSpPr>
        <p:spPr>
          <a:xfrm>
            <a:off x="493776" y="12435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1764792" y="1261872"/>
            <a:ext cx="566928" cy="201168"/>
          </a:xfrm>
          <a:prstGeom prst="roundRect">
            <a:avLst>
              <a:gd fmla="val 50000" name="adj"/>
            </a:avLst>
          </a:prstGeom>
          <a:solidFill>
            <a:srgbClr val="1D4ED8">
              <a:alpha val="20000"/>
            </a:srgbClr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5"/>
          <p:cNvSpPr/>
          <p:nvPr/>
        </p:nvSpPr>
        <p:spPr>
          <a:xfrm>
            <a:off x="1764792" y="126187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493776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Fetch Issue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493776" y="202996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Rule, message, severity from SonarCloud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2377440" y="170992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5"/>
          <p:cNvSpPr/>
          <p:nvPr/>
        </p:nvSpPr>
        <p:spPr>
          <a:xfrm>
            <a:off x="2523744" y="1115568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5"/>
          <p:cNvSpPr/>
          <p:nvPr/>
        </p:nvSpPr>
        <p:spPr>
          <a:xfrm>
            <a:off x="2523744" y="1115568"/>
            <a:ext cx="50292" cy="157276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5"/>
          <p:cNvSpPr/>
          <p:nvPr/>
        </p:nvSpPr>
        <p:spPr>
          <a:xfrm>
            <a:off x="2670048" y="1243584"/>
            <a:ext cx="402336" cy="402336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5"/>
          <p:cNvSpPr/>
          <p:nvPr/>
        </p:nvSpPr>
        <p:spPr>
          <a:xfrm>
            <a:off x="2670048" y="12435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5"/>
          <p:cNvSpPr/>
          <p:nvPr/>
        </p:nvSpPr>
        <p:spPr>
          <a:xfrm>
            <a:off x="3941064" y="1261872"/>
            <a:ext cx="566928" cy="201168"/>
          </a:xfrm>
          <a:prstGeom prst="roundRect">
            <a:avLst>
              <a:gd fmla="val 50000" name="adj"/>
            </a:avLst>
          </a:prstGeom>
          <a:solidFill>
            <a:srgbClr val="1D4ED8">
              <a:alpha val="20000"/>
            </a:srgbClr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5"/>
          <p:cNvSpPr/>
          <p:nvPr/>
        </p:nvSpPr>
        <p:spPr>
          <a:xfrm>
            <a:off x="3941064" y="126187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5"/>
          <p:cNvSpPr/>
          <p:nvPr/>
        </p:nvSpPr>
        <p:spPr>
          <a:xfrm>
            <a:off x="2670048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Map File 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5"/>
          <p:cNvSpPr/>
          <p:nvPr/>
        </p:nvSpPr>
        <p:spPr>
          <a:xfrm>
            <a:off x="2670048" y="202996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Sonar component → GitHub file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5"/>
          <p:cNvSpPr/>
          <p:nvPr/>
        </p:nvSpPr>
        <p:spPr>
          <a:xfrm>
            <a:off x="4553712" y="170992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5"/>
          <p:cNvSpPr/>
          <p:nvPr/>
        </p:nvSpPr>
        <p:spPr>
          <a:xfrm>
            <a:off x="4700016" y="1115568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5"/>
          <p:cNvSpPr/>
          <p:nvPr/>
        </p:nvSpPr>
        <p:spPr>
          <a:xfrm>
            <a:off x="4700016" y="1115568"/>
            <a:ext cx="50292" cy="15727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5"/>
          <p:cNvSpPr/>
          <p:nvPr/>
        </p:nvSpPr>
        <p:spPr>
          <a:xfrm>
            <a:off x="4846320" y="1243584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4846320" y="12435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5"/>
          <p:cNvSpPr/>
          <p:nvPr/>
        </p:nvSpPr>
        <p:spPr>
          <a:xfrm>
            <a:off x="6117336" y="1261872"/>
            <a:ext cx="566928" cy="201168"/>
          </a:xfrm>
          <a:prstGeom prst="roundRect">
            <a:avLst>
              <a:gd fmla="val 50000" name="adj"/>
            </a:avLst>
          </a:prstGeom>
          <a:solidFill>
            <a:srgbClr val="0891B2">
              <a:alpha val="20000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5"/>
          <p:cNvSpPr/>
          <p:nvPr/>
        </p:nvSpPr>
        <p:spPr>
          <a:xfrm>
            <a:off x="6117336" y="126187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5"/>
          <p:cNvSpPr/>
          <p:nvPr/>
        </p:nvSpPr>
        <p:spPr>
          <a:xfrm>
            <a:off x="4846320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Read Code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5"/>
          <p:cNvSpPr/>
          <p:nvPr/>
        </p:nvSpPr>
        <p:spPr>
          <a:xfrm>
            <a:off x="4846320" y="202996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~20 lines around issue from GitHub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5"/>
          <p:cNvSpPr/>
          <p:nvPr/>
        </p:nvSpPr>
        <p:spPr>
          <a:xfrm>
            <a:off x="6729984" y="170992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5"/>
          <p:cNvSpPr/>
          <p:nvPr/>
        </p:nvSpPr>
        <p:spPr>
          <a:xfrm>
            <a:off x="6876288" y="1115568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5"/>
          <p:cNvSpPr/>
          <p:nvPr/>
        </p:nvSpPr>
        <p:spPr>
          <a:xfrm>
            <a:off x="6876288" y="1115568"/>
            <a:ext cx="50292" cy="15727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5"/>
          <p:cNvSpPr/>
          <p:nvPr/>
        </p:nvSpPr>
        <p:spPr>
          <a:xfrm>
            <a:off x="7022592" y="1243584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5"/>
          <p:cNvSpPr/>
          <p:nvPr/>
        </p:nvSpPr>
        <p:spPr>
          <a:xfrm>
            <a:off x="7022592" y="12435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8293608" y="1261872"/>
            <a:ext cx="566928" cy="201168"/>
          </a:xfrm>
          <a:prstGeom prst="roundRect">
            <a:avLst>
              <a:gd fmla="val 50000" name="adj"/>
            </a:avLst>
          </a:prstGeom>
          <a:solidFill>
            <a:srgbClr val="0891B2">
              <a:alpha val="20000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5"/>
          <p:cNvSpPr/>
          <p:nvPr/>
        </p:nvSpPr>
        <p:spPr>
          <a:xfrm>
            <a:off x="8293608" y="126187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7022592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Build 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7022592" y="202996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Rule-specific guidance + JSON format spec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8165592" y="2688336"/>
            <a:ext cx="36576" cy="256032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5"/>
          <p:cNvSpPr/>
          <p:nvPr/>
        </p:nvSpPr>
        <p:spPr>
          <a:xfrm>
            <a:off x="8028432" y="2834640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5"/>
          <p:cNvSpPr/>
          <p:nvPr/>
        </p:nvSpPr>
        <p:spPr>
          <a:xfrm>
            <a:off x="6876288" y="3035808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5"/>
          <p:cNvSpPr/>
          <p:nvPr/>
        </p:nvSpPr>
        <p:spPr>
          <a:xfrm>
            <a:off x="6876288" y="3035808"/>
            <a:ext cx="50292" cy="157276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5"/>
          <p:cNvSpPr/>
          <p:nvPr/>
        </p:nvSpPr>
        <p:spPr>
          <a:xfrm>
            <a:off x="7022592" y="3163824"/>
            <a:ext cx="402336" cy="402336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5"/>
          <p:cNvSpPr/>
          <p:nvPr/>
        </p:nvSpPr>
        <p:spPr>
          <a:xfrm>
            <a:off x="7022592" y="3163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5"/>
          <p:cNvSpPr/>
          <p:nvPr/>
        </p:nvSpPr>
        <p:spPr>
          <a:xfrm>
            <a:off x="8293608" y="3182112"/>
            <a:ext cx="566928" cy="201168"/>
          </a:xfrm>
          <a:prstGeom prst="roundRect">
            <a:avLst>
              <a:gd fmla="val 50000" name="adj"/>
            </a:avLst>
          </a:prstGeom>
          <a:solidFill>
            <a:srgbClr val="059669">
              <a:alpha val="20000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5"/>
          <p:cNvSpPr/>
          <p:nvPr/>
        </p:nvSpPr>
        <p:spPr>
          <a:xfrm>
            <a:off x="8293608" y="31821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LLM Call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5"/>
          <p:cNvSpPr/>
          <p:nvPr/>
        </p:nvSpPr>
        <p:spPr>
          <a:xfrm>
            <a:off x="7022592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Call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7022592" y="395020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OpenRouter returns structured JSON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5"/>
          <p:cNvSpPr/>
          <p:nvPr/>
        </p:nvSpPr>
        <p:spPr>
          <a:xfrm>
            <a:off x="6729984" y="363016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4700016" y="3035808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5"/>
          <p:cNvSpPr/>
          <p:nvPr/>
        </p:nvSpPr>
        <p:spPr>
          <a:xfrm>
            <a:off x="4700016" y="3035808"/>
            <a:ext cx="50292" cy="157276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5"/>
          <p:cNvSpPr/>
          <p:nvPr/>
        </p:nvSpPr>
        <p:spPr>
          <a:xfrm>
            <a:off x="4846320" y="3163824"/>
            <a:ext cx="402336" cy="402336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5"/>
          <p:cNvSpPr/>
          <p:nvPr/>
        </p:nvSpPr>
        <p:spPr>
          <a:xfrm>
            <a:off x="4846320" y="3163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6117336" y="3182112"/>
            <a:ext cx="566928" cy="201168"/>
          </a:xfrm>
          <a:prstGeom prst="roundRect">
            <a:avLst>
              <a:gd fmla="val 50000" name="adj"/>
            </a:avLst>
          </a:prstGeom>
          <a:solidFill>
            <a:srgbClr val="059669">
              <a:alpha val="20000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5"/>
          <p:cNvSpPr/>
          <p:nvPr/>
        </p:nvSpPr>
        <p:spPr>
          <a:xfrm>
            <a:off x="6117336" y="31821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4846320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Validate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4846320" y="395020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 fields, op type, old_code match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5"/>
          <p:cNvSpPr/>
          <p:nvPr/>
        </p:nvSpPr>
        <p:spPr>
          <a:xfrm>
            <a:off x="4553712" y="363016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5"/>
          <p:cNvSpPr/>
          <p:nvPr/>
        </p:nvSpPr>
        <p:spPr>
          <a:xfrm>
            <a:off x="2523744" y="3035808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5"/>
          <p:cNvSpPr/>
          <p:nvPr/>
        </p:nvSpPr>
        <p:spPr>
          <a:xfrm>
            <a:off x="2523744" y="3035808"/>
            <a:ext cx="50292" cy="157276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5"/>
          <p:cNvSpPr/>
          <p:nvPr/>
        </p:nvSpPr>
        <p:spPr>
          <a:xfrm>
            <a:off x="2670048" y="3163824"/>
            <a:ext cx="402336" cy="40233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5"/>
          <p:cNvSpPr/>
          <p:nvPr/>
        </p:nvSpPr>
        <p:spPr>
          <a:xfrm>
            <a:off x="2670048" y="3163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5"/>
          <p:cNvSpPr/>
          <p:nvPr/>
        </p:nvSpPr>
        <p:spPr>
          <a:xfrm>
            <a:off x="3941064" y="3182112"/>
            <a:ext cx="566928" cy="201168"/>
          </a:xfrm>
          <a:prstGeom prst="roundRect">
            <a:avLst>
              <a:gd fmla="val 50000" name="adj"/>
            </a:avLst>
          </a:prstGeom>
          <a:solidFill>
            <a:srgbClr val="D97706">
              <a:alpha val="20000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5"/>
          <p:cNvSpPr/>
          <p:nvPr/>
        </p:nvSpPr>
        <p:spPr>
          <a:xfrm>
            <a:off x="3941064" y="31821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5"/>
          <p:cNvSpPr/>
          <p:nvPr/>
        </p:nvSpPr>
        <p:spPr>
          <a:xfrm>
            <a:off x="2670048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Cache in MongoDB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5"/>
          <p:cNvSpPr/>
          <p:nvPr/>
        </p:nvSpPr>
        <p:spPr>
          <a:xfrm>
            <a:off x="2670048" y="395020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Avoid repeated LLM calls for same issue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5"/>
          <p:cNvSpPr/>
          <p:nvPr/>
        </p:nvSpPr>
        <p:spPr>
          <a:xfrm>
            <a:off x="2377440" y="363016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5"/>
          <p:cNvSpPr/>
          <p:nvPr/>
        </p:nvSpPr>
        <p:spPr>
          <a:xfrm>
            <a:off x="347472" y="3035808"/>
            <a:ext cx="2029968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5"/>
          <p:cNvSpPr/>
          <p:nvPr/>
        </p:nvSpPr>
        <p:spPr>
          <a:xfrm>
            <a:off x="347472" y="3035808"/>
            <a:ext cx="50292" cy="157276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5"/>
          <p:cNvSpPr/>
          <p:nvPr/>
        </p:nvSpPr>
        <p:spPr>
          <a:xfrm>
            <a:off x="493776" y="3163824"/>
            <a:ext cx="402336" cy="40233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5"/>
          <p:cNvSpPr/>
          <p:nvPr/>
        </p:nvSpPr>
        <p:spPr>
          <a:xfrm>
            <a:off x="493776" y="3163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b="1" i="0" lang="en" sz="5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5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5"/>
          <p:cNvSpPr/>
          <p:nvPr/>
        </p:nvSpPr>
        <p:spPr>
          <a:xfrm>
            <a:off x="1764792" y="3182112"/>
            <a:ext cx="566928" cy="201168"/>
          </a:xfrm>
          <a:prstGeom prst="roundRect">
            <a:avLst>
              <a:gd fmla="val 50000" name="adj"/>
            </a:avLst>
          </a:prstGeom>
          <a:solidFill>
            <a:srgbClr val="D97706">
              <a:alpha val="20000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5"/>
          <p:cNvSpPr/>
          <p:nvPr/>
        </p:nvSpPr>
        <p:spPr>
          <a:xfrm>
            <a:off x="1764792" y="31821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5"/>
          <p:cNvSpPr/>
          <p:nvPr/>
        </p:nvSpPr>
        <p:spPr>
          <a:xfrm>
            <a:off x="493776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Apply via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5"/>
          <p:cNvSpPr/>
          <p:nvPr/>
        </p:nvSpPr>
        <p:spPr>
          <a:xfrm>
            <a:off x="493776" y="395020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Branch → patch → PR → build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6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6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6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Prompt Engineering for Sonar Rule Fixes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347472" y="1078992"/>
            <a:ext cx="516636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6"/>
          <p:cNvSpPr/>
          <p:nvPr/>
        </p:nvSpPr>
        <p:spPr>
          <a:xfrm>
            <a:off x="347472" y="1078992"/>
            <a:ext cx="5166360" cy="2743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6"/>
          <p:cNvSpPr/>
          <p:nvPr/>
        </p:nvSpPr>
        <p:spPr>
          <a:xfrm>
            <a:off x="347472" y="1078992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onsolas"/>
              <a:buNone/>
            </a:pPr>
            <a:r>
              <a:rPr b="1" i="0" lang="en" sz="8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PROMPT STRUCTURE  (java:S106 example)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6"/>
          <p:cNvSpPr/>
          <p:nvPr/>
        </p:nvSpPr>
        <p:spPr>
          <a:xfrm>
            <a:off x="457200" y="1389888"/>
            <a:ext cx="4919472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You are fixing a Java SonarCloud issue.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Rule:     java:S106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Message:  Replace System.out with a logger.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File:     .../service/UserService.java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Line:     42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Code Context (lines 38–42):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public void processUser(String name) {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System.out.println("Processing: "+name);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Guidance: Replace with SLF4J logger.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Add logger field if missing. Add imports.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Return ONLY valid JSON: { "problem":"...",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"code_changes":[{"op":"replace","line":42,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880"/>
              <a:buFont typeface="Consolas"/>
              <a:buNone/>
            </a:pPr>
            <a:r>
              <a:rPr b="0" i="0" lang="en" sz="88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"old_code":"System.out...","new_code":"logger.info..."}]}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5687568" y="1078992"/>
            <a:ext cx="31089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6"/>
          <p:cNvSpPr/>
          <p:nvPr/>
        </p:nvSpPr>
        <p:spPr>
          <a:xfrm>
            <a:off x="5687568" y="1078992"/>
            <a:ext cx="50292" cy="37490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6"/>
          <p:cNvSpPr/>
          <p:nvPr/>
        </p:nvSpPr>
        <p:spPr>
          <a:xfrm>
            <a:off x="5833872" y="115214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Why Structured JSON?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6"/>
          <p:cNvSpPr/>
          <p:nvPr/>
        </p:nvSpPr>
        <p:spPr>
          <a:xfrm>
            <a:off x="5833872" y="1463040"/>
            <a:ext cx="279806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6"/>
          <p:cNvSpPr/>
          <p:nvPr/>
        </p:nvSpPr>
        <p:spPr>
          <a:xfrm>
            <a:off x="5833872" y="1554480"/>
            <a:ext cx="274320" cy="274320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6"/>
          <p:cNvSpPr/>
          <p:nvPr/>
        </p:nvSpPr>
        <p:spPr>
          <a:xfrm>
            <a:off x="5833872" y="1554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6"/>
          <p:cNvSpPr/>
          <p:nvPr/>
        </p:nvSpPr>
        <p:spPr>
          <a:xfrm>
            <a:off x="6181344" y="1554480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Machine-readable — no parsing ambiguity or freetext issues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6"/>
          <p:cNvSpPr/>
          <p:nvPr/>
        </p:nvSpPr>
        <p:spPr>
          <a:xfrm>
            <a:off x="5833872" y="2048256"/>
            <a:ext cx="274320" cy="274320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6"/>
          <p:cNvSpPr/>
          <p:nvPr/>
        </p:nvSpPr>
        <p:spPr>
          <a:xfrm>
            <a:off x="5833872" y="20482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6181344" y="2048256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field (op, file, line, old_code) validated before apply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5833872" y="2542032"/>
            <a:ext cx="274320" cy="274320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6"/>
          <p:cNvSpPr/>
          <p:nvPr/>
        </p:nvSpPr>
        <p:spPr>
          <a:xfrm>
            <a:off x="5833872" y="25420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6"/>
          <p:cNvSpPr/>
          <p:nvPr/>
        </p:nvSpPr>
        <p:spPr>
          <a:xfrm>
            <a:off x="6181344" y="2542032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Supports ops: replace, insert_before, insert_after, delete, move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6"/>
          <p:cNvSpPr/>
          <p:nvPr/>
        </p:nvSpPr>
        <p:spPr>
          <a:xfrm>
            <a:off x="5833872" y="3035808"/>
            <a:ext cx="274320" cy="274320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6"/>
          <p:cNvSpPr/>
          <p:nvPr/>
        </p:nvSpPr>
        <p:spPr>
          <a:xfrm>
            <a:off x="5833872" y="30358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6"/>
          <p:cNvSpPr/>
          <p:nvPr/>
        </p:nvSpPr>
        <p:spPr>
          <a:xfrm>
            <a:off x="6181344" y="3035808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Hallucinated or malformed output automatically rejected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6"/>
          <p:cNvSpPr/>
          <p:nvPr/>
        </p:nvSpPr>
        <p:spPr>
          <a:xfrm>
            <a:off x="5833872" y="3529584"/>
            <a:ext cx="274320" cy="274320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6"/>
          <p:cNvSpPr/>
          <p:nvPr/>
        </p:nvSpPr>
        <p:spPr>
          <a:xfrm>
            <a:off x="5833872" y="35295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6"/>
          <p:cNvSpPr/>
          <p:nvPr/>
        </p:nvSpPr>
        <p:spPr>
          <a:xfrm>
            <a:off x="6181344" y="3529584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Enables atomic, traceable patch application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6"/>
          <p:cNvSpPr/>
          <p:nvPr/>
        </p:nvSpPr>
        <p:spPr>
          <a:xfrm>
            <a:off x="5833872" y="4023360"/>
            <a:ext cx="274320" cy="274320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6"/>
          <p:cNvSpPr/>
          <p:nvPr/>
        </p:nvSpPr>
        <p:spPr>
          <a:xfrm>
            <a:off x="5833872" y="4023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6"/>
          <p:cNvSpPr/>
          <p:nvPr/>
        </p:nvSpPr>
        <p:spPr>
          <a:xfrm>
            <a:off x="6181344" y="4023360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is treated as an assistant, not a trusted code committer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7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7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CONTEXT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7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Why Code Context Matters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7"/>
          <p:cNvSpPr/>
          <p:nvPr/>
        </p:nvSpPr>
        <p:spPr>
          <a:xfrm>
            <a:off x="347472" y="1078992"/>
            <a:ext cx="4133088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7"/>
          <p:cNvSpPr/>
          <p:nvPr/>
        </p:nvSpPr>
        <p:spPr>
          <a:xfrm>
            <a:off x="347472" y="1078992"/>
            <a:ext cx="50292" cy="37033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7"/>
          <p:cNvSpPr/>
          <p:nvPr/>
        </p:nvSpPr>
        <p:spPr>
          <a:xfrm>
            <a:off x="475488" y="1170432"/>
            <a:ext cx="402336" cy="402336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7"/>
          <p:cNvSpPr/>
          <p:nvPr/>
        </p:nvSpPr>
        <p:spPr>
          <a:xfrm>
            <a:off x="475488" y="11704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7"/>
          <p:cNvSpPr/>
          <p:nvPr/>
        </p:nvSpPr>
        <p:spPr>
          <a:xfrm>
            <a:off x="950976" y="1188720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Without Code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7"/>
          <p:cNvSpPr/>
          <p:nvPr/>
        </p:nvSpPr>
        <p:spPr>
          <a:xfrm>
            <a:off x="475488" y="1609344"/>
            <a:ext cx="384048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7"/>
          <p:cNvSpPr/>
          <p:nvPr/>
        </p:nvSpPr>
        <p:spPr>
          <a:xfrm>
            <a:off x="475488" y="1691640"/>
            <a:ext cx="237744" cy="237744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7"/>
          <p:cNvSpPr/>
          <p:nvPr/>
        </p:nvSpPr>
        <p:spPr>
          <a:xfrm>
            <a:off x="475488" y="169164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786384" y="169164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may hallucinate the wrong class 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7"/>
          <p:cNvSpPr/>
          <p:nvPr/>
        </p:nvSpPr>
        <p:spPr>
          <a:xfrm>
            <a:off x="475488" y="2167128"/>
            <a:ext cx="237744" cy="237744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7"/>
          <p:cNvSpPr/>
          <p:nvPr/>
        </p:nvSpPr>
        <p:spPr>
          <a:xfrm>
            <a:off x="475488" y="216712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786384" y="2167128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Wrong method signature assumed from training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475488" y="2642616"/>
            <a:ext cx="237744" cy="237744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7"/>
          <p:cNvSpPr/>
          <p:nvPr/>
        </p:nvSpPr>
        <p:spPr>
          <a:xfrm>
            <a:off x="475488" y="264261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786384" y="2642616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Incorrect indentation style used in patch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475488" y="3118104"/>
            <a:ext cx="237744" cy="237744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475488" y="311810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7"/>
          <p:cNvSpPr/>
          <p:nvPr/>
        </p:nvSpPr>
        <p:spPr>
          <a:xfrm>
            <a:off x="786384" y="3118104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Existing import duplicated — causing compile error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7"/>
          <p:cNvSpPr/>
          <p:nvPr/>
        </p:nvSpPr>
        <p:spPr>
          <a:xfrm>
            <a:off x="475488" y="3593592"/>
            <a:ext cx="237744" cy="237744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7"/>
          <p:cNvSpPr/>
          <p:nvPr/>
        </p:nvSpPr>
        <p:spPr>
          <a:xfrm>
            <a:off x="475488" y="35935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7"/>
          <p:cNvSpPr/>
          <p:nvPr/>
        </p:nvSpPr>
        <p:spPr>
          <a:xfrm>
            <a:off x="786384" y="3593592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old_code field doesn't match actual source → patch rejected entirely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7"/>
          <p:cNvSpPr/>
          <p:nvPr/>
        </p:nvSpPr>
        <p:spPr>
          <a:xfrm>
            <a:off x="475488" y="4069080"/>
            <a:ext cx="237744" cy="237744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7"/>
          <p:cNvSpPr/>
          <p:nvPr/>
        </p:nvSpPr>
        <p:spPr>
          <a:xfrm>
            <a:off x="475488" y="406908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7"/>
          <p:cNvSpPr/>
          <p:nvPr/>
        </p:nvSpPr>
        <p:spPr>
          <a:xfrm>
            <a:off x="786384" y="406908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 is generic and not applicable to the actual repository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7"/>
          <p:cNvSpPr/>
          <p:nvPr/>
        </p:nvSpPr>
        <p:spPr>
          <a:xfrm>
            <a:off x="4663440" y="1078992"/>
            <a:ext cx="4133088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7"/>
          <p:cNvSpPr/>
          <p:nvPr/>
        </p:nvSpPr>
        <p:spPr>
          <a:xfrm>
            <a:off x="4663440" y="1078992"/>
            <a:ext cx="50292" cy="37033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7"/>
          <p:cNvSpPr/>
          <p:nvPr/>
        </p:nvSpPr>
        <p:spPr>
          <a:xfrm>
            <a:off x="4791456" y="1170432"/>
            <a:ext cx="402336" cy="402336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7"/>
          <p:cNvSpPr/>
          <p:nvPr/>
        </p:nvSpPr>
        <p:spPr>
          <a:xfrm>
            <a:off x="4791456" y="11704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7"/>
          <p:cNvSpPr/>
          <p:nvPr/>
        </p:nvSpPr>
        <p:spPr>
          <a:xfrm>
            <a:off x="5266944" y="1188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With Code Context (our approach)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4791456" y="1609344"/>
            <a:ext cx="384048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7"/>
          <p:cNvSpPr/>
          <p:nvPr/>
        </p:nvSpPr>
        <p:spPr>
          <a:xfrm>
            <a:off x="4791456" y="1691640"/>
            <a:ext cx="237744" cy="237744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7"/>
          <p:cNvSpPr/>
          <p:nvPr/>
        </p:nvSpPr>
        <p:spPr>
          <a:xfrm>
            <a:off x="4791456" y="169164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5102352" y="169164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~20 lines around the issue fetched from GitHub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7"/>
          <p:cNvSpPr/>
          <p:nvPr/>
        </p:nvSpPr>
        <p:spPr>
          <a:xfrm>
            <a:off x="4791456" y="2167128"/>
            <a:ext cx="237744" cy="237744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7"/>
          <p:cNvSpPr/>
          <p:nvPr/>
        </p:nvSpPr>
        <p:spPr>
          <a:xfrm>
            <a:off x="4791456" y="216712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5102352" y="2167128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class name, method signature embedded in prompt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4791456" y="2642616"/>
            <a:ext cx="237744" cy="237744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7"/>
          <p:cNvSpPr/>
          <p:nvPr/>
        </p:nvSpPr>
        <p:spPr>
          <a:xfrm>
            <a:off x="4791456" y="264261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7"/>
          <p:cNvSpPr/>
          <p:nvPr/>
        </p:nvSpPr>
        <p:spPr>
          <a:xfrm>
            <a:off x="5102352" y="2642616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generates old_code matching actual source exactly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4791456" y="3118104"/>
            <a:ext cx="237744" cy="237744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7"/>
          <p:cNvSpPr/>
          <p:nvPr/>
        </p:nvSpPr>
        <p:spPr>
          <a:xfrm>
            <a:off x="4791456" y="311810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7"/>
          <p:cNvSpPr/>
          <p:nvPr/>
        </p:nvSpPr>
        <p:spPr>
          <a:xfrm>
            <a:off x="5102352" y="3118104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 performs tolerant match (whitespace normalized)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7"/>
          <p:cNvSpPr/>
          <p:nvPr/>
        </p:nvSpPr>
        <p:spPr>
          <a:xfrm>
            <a:off x="4791456" y="3593592"/>
            <a:ext cx="237744" cy="237744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7"/>
          <p:cNvSpPr/>
          <p:nvPr/>
        </p:nvSpPr>
        <p:spPr>
          <a:xfrm>
            <a:off x="4791456" y="35935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7"/>
          <p:cNvSpPr/>
          <p:nvPr/>
        </p:nvSpPr>
        <p:spPr>
          <a:xfrm>
            <a:off x="5102352" y="3593592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 is repository-aware, rule-aware, and context-aware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7"/>
          <p:cNvSpPr/>
          <p:nvPr/>
        </p:nvSpPr>
        <p:spPr>
          <a:xfrm>
            <a:off x="4791456" y="4069080"/>
            <a:ext cx="237744" cy="237744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7"/>
          <p:cNvSpPr/>
          <p:nvPr/>
        </p:nvSpPr>
        <p:spPr>
          <a:xfrm>
            <a:off x="4791456" y="406908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5102352" y="406908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Applied patch has high confidence of success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1" lang="en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Code context makes AI fixes repository-aware, rule-aware, and safer to apply.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8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8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8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Java Fix Safety Rules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8"/>
          <p:cNvSpPr/>
          <p:nvPr/>
        </p:nvSpPr>
        <p:spPr>
          <a:xfrm>
            <a:off x="347472" y="1042416"/>
            <a:ext cx="8449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 output is never blindly trusted — every patch passes through a multi-rule safety gate before touching the repository.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8"/>
          <p:cNvSpPr/>
          <p:nvPr/>
        </p:nvSpPr>
        <p:spPr>
          <a:xfrm>
            <a:off x="347472" y="138988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8"/>
          <p:cNvSpPr/>
          <p:nvPr/>
        </p:nvSpPr>
        <p:spPr>
          <a:xfrm>
            <a:off x="347472" y="1389888"/>
            <a:ext cx="50292" cy="10972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8"/>
          <p:cNvSpPr/>
          <p:nvPr/>
        </p:nvSpPr>
        <p:spPr>
          <a:xfrm>
            <a:off x="512064" y="1527048"/>
            <a:ext cx="457200" cy="457200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8"/>
          <p:cNvSpPr/>
          <p:nvPr/>
        </p:nvSpPr>
        <p:spPr>
          <a:xfrm>
            <a:off x="512064" y="1527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8"/>
          <p:cNvSpPr/>
          <p:nvPr/>
        </p:nvSpPr>
        <p:spPr>
          <a:xfrm>
            <a:off x="1042416" y="150876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Duplicate Constants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8"/>
          <p:cNvSpPr/>
          <p:nvPr/>
        </p:nvSpPr>
        <p:spPr>
          <a:xfrm>
            <a:off x="493776" y="1810512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8"/>
          <p:cNvSpPr/>
          <p:nvPr/>
        </p:nvSpPr>
        <p:spPr>
          <a:xfrm>
            <a:off x="493776" y="1883664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Checks if the constant already exists in the class scope before inserting. Duplicate field declarations break compilation.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8"/>
          <p:cNvSpPr/>
          <p:nvPr/>
        </p:nvSpPr>
        <p:spPr>
          <a:xfrm>
            <a:off x="4718304" y="138988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8"/>
          <p:cNvSpPr/>
          <p:nvPr/>
        </p:nvSpPr>
        <p:spPr>
          <a:xfrm>
            <a:off x="4718304" y="1389888"/>
            <a:ext cx="50292" cy="10972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8"/>
          <p:cNvSpPr/>
          <p:nvPr/>
        </p:nvSpPr>
        <p:spPr>
          <a:xfrm>
            <a:off x="4882896" y="1527048"/>
            <a:ext cx="457200" cy="457200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8"/>
          <p:cNvSpPr/>
          <p:nvPr/>
        </p:nvSpPr>
        <p:spPr>
          <a:xfrm>
            <a:off x="4882896" y="1527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8"/>
          <p:cNvSpPr/>
          <p:nvPr/>
        </p:nvSpPr>
        <p:spPr>
          <a:xfrm>
            <a:off x="5413248" y="150876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Fields Inside Methods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8"/>
          <p:cNvSpPr/>
          <p:nvPr/>
        </p:nvSpPr>
        <p:spPr>
          <a:xfrm>
            <a:off x="4864608" y="1810512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8"/>
          <p:cNvSpPr/>
          <p:nvPr/>
        </p:nvSpPr>
        <p:spPr>
          <a:xfrm>
            <a:off x="4864608" y="1883664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Logger fields must be added at class level. Inserting a field declaration inside a method body produces a syntax error.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8"/>
          <p:cNvSpPr/>
          <p:nvPr/>
        </p:nvSpPr>
        <p:spPr>
          <a:xfrm>
            <a:off x="347472" y="262432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8"/>
          <p:cNvSpPr/>
          <p:nvPr/>
        </p:nvSpPr>
        <p:spPr>
          <a:xfrm>
            <a:off x="347472" y="2624328"/>
            <a:ext cx="50292" cy="10972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8"/>
          <p:cNvSpPr/>
          <p:nvPr/>
        </p:nvSpPr>
        <p:spPr>
          <a:xfrm>
            <a:off x="512064" y="2761488"/>
            <a:ext cx="457200" cy="457200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8"/>
          <p:cNvSpPr/>
          <p:nvPr/>
        </p:nvSpPr>
        <p:spPr>
          <a:xfrm>
            <a:off x="512064" y="27614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8"/>
          <p:cNvSpPr/>
          <p:nvPr/>
        </p:nvSpPr>
        <p:spPr>
          <a:xfrm>
            <a:off x="1042416" y="274320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java.lang Imports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8"/>
          <p:cNvSpPr/>
          <p:nvPr/>
        </p:nvSpPr>
        <p:spPr>
          <a:xfrm>
            <a:off x="493776" y="3044952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8"/>
          <p:cNvSpPr/>
          <p:nvPr/>
        </p:nvSpPr>
        <p:spPr>
          <a:xfrm>
            <a:off x="493776" y="3118104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java.lang is automatically imported by the JVM. Adding explicit imports creates unnecessary warnings.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8"/>
          <p:cNvSpPr/>
          <p:nvPr/>
        </p:nvSpPr>
        <p:spPr>
          <a:xfrm>
            <a:off x="4718304" y="262432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8"/>
          <p:cNvSpPr/>
          <p:nvPr/>
        </p:nvSpPr>
        <p:spPr>
          <a:xfrm>
            <a:off x="4718304" y="2624328"/>
            <a:ext cx="50292" cy="10972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8"/>
          <p:cNvSpPr/>
          <p:nvPr/>
        </p:nvSpPr>
        <p:spPr>
          <a:xfrm>
            <a:off x="4882896" y="2761488"/>
            <a:ext cx="457200" cy="457200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8"/>
          <p:cNvSpPr/>
          <p:nvPr/>
        </p:nvSpPr>
        <p:spPr>
          <a:xfrm>
            <a:off x="4882896" y="27614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8"/>
          <p:cNvSpPr/>
          <p:nvPr/>
        </p:nvSpPr>
        <p:spPr>
          <a:xfrm>
            <a:off x="5413248" y="274320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Ambiguous Single-Line Patches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8"/>
          <p:cNvSpPr/>
          <p:nvPr/>
        </p:nvSpPr>
        <p:spPr>
          <a:xfrm>
            <a:off x="4864608" y="3044952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8"/>
          <p:cNvSpPr/>
          <p:nvPr/>
        </p:nvSpPr>
        <p:spPr>
          <a:xfrm>
            <a:off x="4864608" y="3118104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 old_code matches more than one location in the file, the patch is skipped — wrong-line replacement would corrupt logic.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8"/>
          <p:cNvSpPr/>
          <p:nvPr/>
        </p:nvSpPr>
        <p:spPr>
          <a:xfrm>
            <a:off x="347472" y="385876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8"/>
          <p:cNvSpPr/>
          <p:nvPr/>
        </p:nvSpPr>
        <p:spPr>
          <a:xfrm>
            <a:off x="347472" y="3858768"/>
            <a:ext cx="50292" cy="109728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8"/>
          <p:cNvSpPr/>
          <p:nvPr/>
        </p:nvSpPr>
        <p:spPr>
          <a:xfrm>
            <a:off x="512064" y="3995928"/>
            <a:ext cx="457200" cy="457200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8"/>
          <p:cNvSpPr/>
          <p:nvPr/>
        </p:nvSpPr>
        <p:spPr>
          <a:xfrm>
            <a:off x="512064" y="3995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8"/>
          <p:cNvSpPr/>
          <p:nvPr/>
        </p:nvSpPr>
        <p:spPr>
          <a:xfrm>
            <a:off x="1042416" y="397764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Exact old_code Replacement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8"/>
          <p:cNvSpPr/>
          <p:nvPr/>
        </p:nvSpPr>
        <p:spPr>
          <a:xfrm>
            <a:off x="493776" y="4279392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8"/>
          <p:cNvSpPr/>
          <p:nvPr/>
        </p:nvSpPr>
        <p:spPr>
          <a:xfrm>
            <a:off x="493776" y="4352544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Tolerant whitespace normalization applied. If old_code cannot be found after normalization, the patch is rejected.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8"/>
          <p:cNvSpPr/>
          <p:nvPr/>
        </p:nvSpPr>
        <p:spPr>
          <a:xfrm>
            <a:off x="4718304" y="385876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8"/>
          <p:cNvSpPr/>
          <p:nvPr/>
        </p:nvSpPr>
        <p:spPr>
          <a:xfrm>
            <a:off x="4718304" y="3858768"/>
            <a:ext cx="50292" cy="10972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8"/>
          <p:cNvSpPr/>
          <p:nvPr/>
        </p:nvSpPr>
        <p:spPr>
          <a:xfrm>
            <a:off x="4882896" y="3995928"/>
            <a:ext cx="457200" cy="457200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8"/>
          <p:cNvSpPr/>
          <p:nvPr/>
        </p:nvSpPr>
        <p:spPr>
          <a:xfrm>
            <a:off x="4882896" y="3995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↷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8"/>
          <p:cNvSpPr/>
          <p:nvPr/>
        </p:nvSpPr>
        <p:spPr>
          <a:xfrm>
            <a:off x="5413248" y="397764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Skip Unsafe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8"/>
          <p:cNvSpPr/>
          <p:nvPr/>
        </p:nvSpPr>
        <p:spPr>
          <a:xfrm>
            <a:off x="4864608" y="4279392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8"/>
          <p:cNvSpPr/>
          <p:nvPr/>
        </p:nvSpPr>
        <p:spPr>
          <a:xfrm>
            <a:off x="4864608" y="4352544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Applied / Skipped / Error counters tracked per scan run. Partial failures do not block safe patches from applying.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8"/>
          <p:cNvSpPr/>
          <p:nvPr/>
        </p:nvSpPr>
        <p:spPr>
          <a:xfrm>
            <a:off x="347472" y="4846320"/>
            <a:ext cx="8449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is treated as an assistant — the system gates every change through safety checks before it reaches the repository.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9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9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9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Validation Pipeline — 6-Layer Defense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9"/>
          <p:cNvSpPr/>
          <p:nvPr/>
        </p:nvSpPr>
        <p:spPr>
          <a:xfrm>
            <a:off x="347472" y="1170432"/>
            <a:ext cx="420624" cy="420624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9"/>
          <p:cNvSpPr/>
          <p:nvPr/>
        </p:nvSpPr>
        <p:spPr>
          <a:xfrm>
            <a:off x="347472" y="11704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9"/>
          <p:cNvSpPr/>
          <p:nvPr/>
        </p:nvSpPr>
        <p:spPr>
          <a:xfrm>
            <a:off x="539496" y="1591056"/>
            <a:ext cx="36576" cy="14630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9"/>
          <p:cNvSpPr/>
          <p:nvPr/>
        </p:nvSpPr>
        <p:spPr>
          <a:xfrm>
            <a:off x="877824" y="1115568"/>
            <a:ext cx="79187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9"/>
          <p:cNvSpPr/>
          <p:nvPr/>
        </p:nvSpPr>
        <p:spPr>
          <a:xfrm>
            <a:off x="877824" y="1115568"/>
            <a:ext cx="45720" cy="56692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9"/>
          <p:cNvSpPr/>
          <p:nvPr/>
        </p:nvSpPr>
        <p:spPr>
          <a:xfrm>
            <a:off x="1005840" y="115214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SonarCloud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9"/>
          <p:cNvSpPr/>
          <p:nvPr/>
        </p:nvSpPr>
        <p:spPr>
          <a:xfrm>
            <a:off x="1005840" y="13898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Fetch open issues and hotspots; scope to project key; store severity metadata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9"/>
          <p:cNvSpPr/>
          <p:nvPr/>
        </p:nvSpPr>
        <p:spPr>
          <a:xfrm>
            <a:off x="5669280" y="1170432"/>
            <a:ext cx="3035808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9"/>
          <p:cNvSpPr/>
          <p:nvPr/>
        </p:nvSpPr>
        <p:spPr>
          <a:xfrm>
            <a:off x="5742432" y="1170432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Skip if SonarCloud API unavailable; retry via quality_gate_retries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9"/>
          <p:cNvSpPr/>
          <p:nvPr/>
        </p:nvSpPr>
        <p:spPr>
          <a:xfrm>
            <a:off x="347472" y="1792224"/>
            <a:ext cx="420624" cy="420624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9"/>
          <p:cNvSpPr/>
          <p:nvPr/>
        </p:nvSpPr>
        <p:spPr>
          <a:xfrm>
            <a:off x="347472" y="17922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9"/>
          <p:cNvSpPr/>
          <p:nvPr/>
        </p:nvSpPr>
        <p:spPr>
          <a:xfrm>
            <a:off x="539496" y="2212848"/>
            <a:ext cx="36576" cy="14630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9"/>
          <p:cNvSpPr/>
          <p:nvPr/>
        </p:nvSpPr>
        <p:spPr>
          <a:xfrm>
            <a:off x="877824" y="1737360"/>
            <a:ext cx="79187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9"/>
          <p:cNvSpPr/>
          <p:nvPr/>
        </p:nvSpPr>
        <p:spPr>
          <a:xfrm>
            <a:off x="877824" y="1737360"/>
            <a:ext cx="45720" cy="56692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9"/>
          <p:cNvSpPr/>
          <p:nvPr/>
        </p:nvSpPr>
        <p:spPr>
          <a:xfrm>
            <a:off x="1005840" y="177393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AI Output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9"/>
          <p:cNvSpPr/>
          <p:nvPr/>
        </p:nvSpPr>
        <p:spPr>
          <a:xfrm>
            <a:off x="1005840" y="201168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LLM must return valid JSON with problem, solution, code_changes array; validate op types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9"/>
          <p:cNvSpPr/>
          <p:nvPr/>
        </p:nvSpPr>
        <p:spPr>
          <a:xfrm>
            <a:off x="5669280" y="1792224"/>
            <a:ext cx="3035808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9"/>
          <p:cNvSpPr/>
          <p:nvPr/>
        </p:nvSpPr>
        <p:spPr>
          <a:xfrm>
            <a:off x="5742432" y="1792224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Malformed or missing JSON output is discarded entirely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9"/>
          <p:cNvSpPr/>
          <p:nvPr/>
        </p:nvSpPr>
        <p:spPr>
          <a:xfrm>
            <a:off x="347472" y="2414016"/>
            <a:ext cx="420624" cy="420624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9"/>
          <p:cNvSpPr/>
          <p:nvPr/>
        </p:nvSpPr>
        <p:spPr>
          <a:xfrm>
            <a:off x="347472" y="2414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9"/>
          <p:cNvSpPr/>
          <p:nvPr/>
        </p:nvSpPr>
        <p:spPr>
          <a:xfrm>
            <a:off x="539496" y="2834640"/>
            <a:ext cx="36576" cy="14630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9"/>
          <p:cNvSpPr/>
          <p:nvPr/>
        </p:nvSpPr>
        <p:spPr>
          <a:xfrm>
            <a:off x="877824" y="2359152"/>
            <a:ext cx="79187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9"/>
          <p:cNvSpPr/>
          <p:nvPr/>
        </p:nvSpPr>
        <p:spPr>
          <a:xfrm>
            <a:off x="877824" y="2359152"/>
            <a:ext cx="45720" cy="56692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9"/>
          <p:cNvSpPr/>
          <p:nvPr/>
        </p:nvSpPr>
        <p:spPr>
          <a:xfrm>
            <a:off x="1005840" y="239572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Patch Safety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9"/>
          <p:cNvSpPr/>
          <p:nvPr/>
        </p:nvSpPr>
        <p:spPr>
          <a:xfrm>
            <a:off x="1005840" y="2633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old_code must match source (tolerant); Java safety rules applied; ambiguous patches skipped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9"/>
          <p:cNvSpPr/>
          <p:nvPr/>
        </p:nvSpPr>
        <p:spPr>
          <a:xfrm>
            <a:off x="5669280" y="2414016"/>
            <a:ext cx="3035808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9"/>
          <p:cNvSpPr/>
          <p:nvPr/>
        </p:nvSpPr>
        <p:spPr>
          <a:xfrm>
            <a:off x="5742432" y="2414016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Unsafe patch logged as SKIPPED with reason; others continue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9"/>
          <p:cNvSpPr/>
          <p:nvPr/>
        </p:nvSpPr>
        <p:spPr>
          <a:xfrm>
            <a:off x="347472" y="3035808"/>
            <a:ext cx="420624" cy="420624"/>
          </a:xfrm>
          <a:prstGeom prst="ellipse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9"/>
          <p:cNvSpPr/>
          <p:nvPr/>
        </p:nvSpPr>
        <p:spPr>
          <a:xfrm>
            <a:off x="347472" y="303580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9"/>
          <p:cNvSpPr/>
          <p:nvPr/>
        </p:nvSpPr>
        <p:spPr>
          <a:xfrm>
            <a:off x="539496" y="3456432"/>
            <a:ext cx="36576" cy="14630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9"/>
          <p:cNvSpPr/>
          <p:nvPr/>
        </p:nvSpPr>
        <p:spPr>
          <a:xfrm>
            <a:off x="877824" y="2980944"/>
            <a:ext cx="79187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9"/>
          <p:cNvSpPr/>
          <p:nvPr/>
        </p:nvSpPr>
        <p:spPr>
          <a:xfrm>
            <a:off x="877824" y="2980944"/>
            <a:ext cx="45720" cy="566928"/>
          </a:xfrm>
          <a:prstGeom prst="rect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9"/>
          <p:cNvSpPr/>
          <p:nvPr/>
        </p:nvSpPr>
        <p:spPr>
          <a:xfrm>
            <a:off x="1005840" y="301752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Apply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9"/>
          <p:cNvSpPr/>
          <p:nvPr/>
        </p:nvSpPr>
        <p:spPr>
          <a:xfrm>
            <a:off x="1005840" y="325526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Changes applied through GitHub Contents API; applied/skipped/error counters tracked per 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9"/>
          <p:cNvSpPr/>
          <p:nvPr/>
        </p:nvSpPr>
        <p:spPr>
          <a:xfrm>
            <a:off x="5669280" y="3035808"/>
            <a:ext cx="3035808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9"/>
          <p:cNvSpPr/>
          <p:nvPr/>
        </p:nvSpPr>
        <p:spPr>
          <a:xfrm>
            <a:off x="5742432" y="3035808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Atomic application prevents partial unsafe state where possible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9"/>
          <p:cNvSpPr/>
          <p:nvPr/>
        </p:nvSpPr>
        <p:spPr>
          <a:xfrm>
            <a:off x="347472" y="3657600"/>
            <a:ext cx="420624" cy="420624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9"/>
          <p:cNvSpPr/>
          <p:nvPr/>
        </p:nvSpPr>
        <p:spPr>
          <a:xfrm>
            <a:off x="347472" y="3657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9"/>
          <p:cNvSpPr/>
          <p:nvPr/>
        </p:nvSpPr>
        <p:spPr>
          <a:xfrm>
            <a:off x="539496" y="4078224"/>
            <a:ext cx="36576" cy="146304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9"/>
          <p:cNvSpPr/>
          <p:nvPr/>
        </p:nvSpPr>
        <p:spPr>
          <a:xfrm>
            <a:off x="877824" y="3602736"/>
            <a:ext cx="79187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9"/>
          <p:cNvSpPr/>
          <p:nvPr/>
        </p:nvSpPr>
        <p:spPr>
          <a:xfrm>
            <a:off x="877824" y="3602736"/>
            <a:ext cx="45720" cy="56692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9"/>
          <p:cNvSpPr/>
          <p:nvPr/>
        </p:nvSpPr>
        <p:spPr>
          <a:xfrm>
            <a:off x="1005840" y="363931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Build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9"/>
          <p:cNvSpPr/>
          <p:nvPr/>
        </p:nvSpPr>
        <p:spPr>
          <a:xfrm>
            <a:off x="1005840" y="387705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Clone fix branch; run Maven build; auto-fix missing imports/logger; re-validate after 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9"/>
          <p:cNvSpPr/>
          <p:nvPr/>
        </p:nvSpPr>
        <p:spPr>
          <a:xfrm>
            <a:off x="5669280" y="3657600"/>
            <a:ext cx="3035808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9"/>
          <p:cNvSpPr/>
          <p:nvPr/>
        </p:nvSpPr>
        <p:spPr>
          <a:xfrm>
            <a:off x="5742432" y="3657600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Build failure triggers low-risk auto-fix attempt then re-run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9"/>
          <p:cNvSpPr/>
          <p:nvPr/>
        </p:nvSpPr>
        <p:spPr>
          <a:xfrm>
            <a:off x="347472" y="4279392"/>
            <a:ext cx="420624" cy="420624"/>
          </a:xfrm>
          <a:prstGeom prst="ellipse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9"/>
          <p:cNvSpPr/>
          <p:nvPr/>
        </p:nvSpPr>
        <p:spPr>
          <a:xfrm>
            <a:off x="347472" y="42793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9"/>
          <p:cNvSpPr/>
          <p:nvPr/>
        </p:nvSpPr>
        <p:spPr>
          <a:xfrm>
            <a:off x="877824" y="4224528"/>
            <a:ext cx="79187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9"/>
          <p:cNvSpPr/>
          <p:nvPr/>
        </p:nvSpPr>
        <p:spPr>
          <a:xfrm>
            <a:off x="877824" y="4224528"/>
            <a:ext cx="45720" cy="56692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9"/>
          <p:cNvSpPr/>
          <p:nvPr/>
        </p:nvSpPr>
        <p:spPr>
          <a:xfrm>
            <a:off x="1005840" y="426110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 &amp; Dashboard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9"/>
          <p:cNvSpPr/>
          <p:nvPr/>
        </p:nvSpPr>
        <p:spPr>
          <a:xfrm>
            <a:off x="1005840" y="44988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PR created only when useful changes exist; PR link, number, merge state and scan result tracked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9"/>
          <p:cNvSpPr/>
          <p:nvPr/>
        </p:nvSpPr>
        <p:spPr>
          <a:xfrm>
            <a:off x="5669280" y="4279392"/>
            <a:ext cx="3035808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9"/>
          <p:cNvSpPr/>
          <p:nvPr/>
        </p:nvSpPr>
        <p:spPr>
          <a:xfrm>
            <a:off x="5742432" y="4279392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Dashboard shows applied/skipped/error count for every scan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0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0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React Dashboard — Feature Panels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0"/>
          <p:cNvSpPr/>
          <p:nvPr/>
        </p:nvSpPr>
        <p:spPr>
          <a:xfrm>
            <a:off x="347472" y="1078992"/>
            <a:ext cx="2029968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0"/>
          <p:cNvSpPr/>
          <p:nvPr/>
        </p:nvSpPr>
        <p:spPr>
          <a:xfrm>
            <a:off x="347472" y="1078992"/>
            <a:ext cx="50292" cy="17373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0"/>
          <p:cNvSpPr/>
          <p:nvPr/>
        </p:nvSpPr>
        <p:spPr>
          <a:xfrm>
            <a:off x="493776" y="1225296"/>
            <a:ext cx="420624" cy="420624"/>
          </a:xfrm>
          <a:prstGeom prst="ellipse">
            <a:avLst/>
          </a:prstGeom>
          <a:solidFill>
            <a:srgbClr val="1D4ED8">
              <a:alpha val="14901"/>
            </a:srgbClr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0"/>
          <p:cNvSpPr/>
          <p:nvPr/>
        </p:nvSpPr>
        <p:spPr>
          <a:xfrm>
            <a:off x="493776" y="12252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0"/>
          <p:cNvSpPr/>
          <p:nvPr/>
        </p:nvSpPr>
        <p:spPr>
          <a:xfrm>
            <a:off x="987552" y="123444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Overview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0"/>
          <p:cNvSpPr/>
          <p:nvPr/>
        </p:nvSpPr>
        <p:spPr>
          <a:xfrm>
            <a:off x="475488" y="1682496"/>
            <a:ext cx="179222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0"/>
          <p:cNvSpPr/>
          <p:nvPr/>
        </p:nvSpPr>
        <p:spPr>
          <a:xfrm>
            <a:off x="475488" y="1755648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issues, active fixes, PR count, severity breakdown by 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0"/>
          <p:cNvSpPr/>
          <p:nvPr/>
        </p:nvSpPr>
        <p:spPr>
          <a:xfrm>
            <a:off x="475488" y="2523744"/>
            <a:ext cx="1792224" cy="201168"/>
          </a:xfrm>
          <a:prstGeom prst="roundRect">
            <a:avLst>
              <a:gd fmla="val 272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0"/>
          <p:cNvSpPr/>
          <p:nvPr/>
        </p:nvSpPr>
        <p:spPr>
          <a:xfrm>
            <a:off x="475488" y="2523744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OverviewPanel.tsx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0"/>
          <p:cNvSpPr/>
          <p:nvPr/>
        </p:nvSpPr>
        <p:spPr>
          <a:xfrm>
            <a:off x="2542032" y="1078992"/>
            <a:ext cx="2029968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0"/>
          <p:cNvSpPr/>
          <p:nvPr/>
        </p:nvSpPr>
        <p:spPr>
          <a:xfrm>
            <a:off x="2542032" y="1078992"/>
            <a:ext cx="50292" cy="17373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0"/>
          <p:cNvSpPr/>
          <p:nvPr/>
        </p:nvSpPr>
        <p:spPr>
          <a:xfrm>
            <a:off x="2688336" y="1225296"/>
            <a:ext cx="420624" cy="420624"/>
          </a:xfrm>
          <a:prstGeom prst="ellipse">
            <a:avLst/>
          </a:prstGeom>
          <a:solidFill>
            <a:srgbClr val="DC2626">
              <a:alpha val="14901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0"/>
          <p:cNvSpPr/>
          <p:nvPr/>
        </p:nvSpPr>
        <p:spPr>
          <a:xfrm>
            <a:off x="2688336" y="12252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🐛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0"/>
          <p:cNvSpPr/>
          <p:nvPr/>
        </p:nvSpPr>
        <p:spPr>
          <a:xfrm>
            <a:off x="3182112" y="123444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Issue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0"/>
          <p:cNvSpPr/>
          <p:nvPr/>
        </p:nvSpPr>
        <p:spPr>
          <a:xfrm>
            <a:off x="2670048" y="1682496"/>
            <a:ext cx="179222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0"/>
          <p:cNvSpPr/>
          <p:nvPr/>
        </p:nvSpPr>
        <p:spPr>
          <a:xfrm>
            <a:off x="2670048" y="1755648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Filterable list: rule, severity, file path, line number, 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0"/>
          <p:cNvSpPr/>
          <p:nvPr/>
        </p:nvSpPr>
        <p:spPr>
          <a:xfrm>
            <a:off x="2670048" y="2523744"/>
            <a:ext cx="1792224" cy="201168"/>
          </a:xfrm>
          <a:prstGeom prst="roundRect">
            <a:avLst>
              <a:gd fmla="val 272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0"/>
          <p:cNvSpPr/>
          <p:nvPr/>
        </p:nvSpPr>
        <p:spPr>
          <a:xfrm>
            <a:off x="2670048" y="2523744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IssuePanel.tsx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0"/>
          <p:cNvSpPr/>
          <p:nvPr/>
        </p:nvSpPr>
        <p:spPr>
          <a:xfrm>
            <a:off x="4736592" y="1078992"/>
            <a:ext cx="2029968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0"/>
          <p:cNvSpPr/>
          <p:nvPr/>
        </p:nvSpPr>
        <p:spPr>
          <a:xfrm>
            <a:off x="4736592" y="1078992"/>
            <a:ext cx="50292" cy="1737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0"/>
          <p:cNvSpPr/>
          <p:nvPr/>
        </p:nvSpPr>
        <p:spPr>
          <a:xfrm>
            <a:off x="4882896" y="1225296"/>
            <a:ext cx="420624" cy="420624"/>
          </a:xfrm>
          <a:prstGeom prst="ellipse">
            <a:avLst/>
          </a:prstGeom>
          <a:solidFill>
            <a:srgbClr val="0891B2">
              <a:alpha val="14901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0"/>
          <p:cNvSpPr/>
          <p:nvPr/>
        </p:nvSpPr>
        <p:spPr>
          <a:xfrm>
            <a:off x="4882896" y="12252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0"/>
          <p:cNvSpPr/>
          <p:nvPr/>
        </p:nvSpPr>
        <p:spPr>
          <a:xfrm>
            <a:off x="5376672" y="123444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Fix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0"/>
          <p:cNvSpPr/>
          <p:nvPr/>
        </p:nvSpPr>
        <p:spPr>
          <a:xfrm>
            <a:off x="4864608" y="1682496"/>
            <a:ext cx="179222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0"/>
          <p:cNvSpPr/>
          <p:nvPr/>
        </p:nvSpPr>
        <p:spPr>
          <a:xfrm>
            <a:off x="4864608" y="1755648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View LLM-generated fix explanation and code patch per issue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0"/>
          <p:cNvSpPr/>
          <p:nvPr/>
        </p:nvSpPr>
        <p:spPr>
          <a:xfrm>
            <a:off x="4864608" y="2523744"/>
            <a:ext cx="1792224" cy="201168"/>
          </a:xfrm>
          <a:prstGeom prst="roundRect">
            <a:avLst>
              <a:gd fmla="val 272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0"/>
          <p:cNvSpPr/>
          <p:nvPr/>
        </p:nvSpPr>
        <p:spPr>
          <a:xfrm>
            <a:off x="4864608" y="2523744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FixPanel.tsx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0"/>
          <p:cNvSpPr/>
          <p:nvPr/>
        </p:nvSpPr>
        <p:spPr>
          <a:xfrm>
            <a:off x="6931152" y="1078992"/>
            <a:ext cx="2029968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0"/>
          <p:cNvSpPr/>
          <p:nvPr/>
        </p:nvSpPr>
        <p:spPr>
          <a:xfrm>
            <a:off x="6931152" y="1078992"/>
            <a:ext cx="50292" cy="1737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0"/>
          <p:cNvSpPr/>
          <p:nvPr/>
        </p:nvSpPr>
        <p:spPr>
          <a:xfrm>
            <a:off x="7077456" y="1225296"/>
            <a:ext cx="420624" cy="420624"/>
          </a:xfrm>
          <a:prstGeom prst="ellipse">
            <a:avLst/>
          </a:prstGeom>
          <a:solidFill>
            <a:srgbClr val="0891B2">
              <a:alpha val="14901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0"/>
          <p:cNvSpPr/>
          <p:nvPr/>
        </p:nvSpPr>
        <p:spPr>
          <a:xfrm>
            <a:off x="7077456" y="12252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0"/>
          <p:cNvSpPr/>
          <p:nvPr/>
        </p:nvSpPr>
        <p:spPr>
          <a:xfrm>
            <a:off x="7571232" y="123444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Diff 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0"/>
          <p:cNvSpPr/>
          <p:nvPr/>
        </p:nvSpPr>
        <p:spPr>
          <a:xfrm>
            <a:off x="7059168" y="1682496"/>
            <a:ext cx="179222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0"/>
          <p:cNvSpPr/>
          <p:nvPr/>
        </p:nvSpPr>
        <p:spPr>
          <a:xfrm>
            <a:off x="7059168" y="1755648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GitHub-style old/new code comparison with color-coded 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0"/>
          <p:cNvSpPr/>
          <p:nvPr/>
        </p:nvSpPr>
        <p:spPr>
          <a:xfrm>
            <a:off x="7059168" y="2523744"/>
            <a:ext cx="1792224" cy="201168"/>
          </a:xfrm>
          <a:prstGeom prst="roundRect">
            <a:avLst>
              <a:gd fmla="val 272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0"/>
          <p:cNvSpPr/>
          <p:nvPr/>
        </p:nvSpPr>
        <p:spPr>
          <a:xfrm>
            <a:off x="7059168" y="2523744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FixPanel.tsx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0"/>
          <p:cNvSpPr/>
          <p:nvPr/>
        </p:nvSpPr>
        <p:spPr>
          <a:xfrm>
            <a:off x="347472" y="2980944"/>
            <a:ext cx="2029968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0"/>
          <p:cNvSpPr/>
          <p:nvPr/>
        </p:nvSpPr>
        <p:spPr>
          <a:xfrm>
            <a:off x="347472" y="2980944"/>
            <a:ext cx="50292" cy="17373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0"/>
          <p:cNvSpPr/>
          <p:nvPr/>
        </p:nvSpPr>
        <p:spPr>
          <a:xfrm>
            <a:off x="493776" y="3127248"/>
            <a:ext cx="420624" cy="420624"/>
          </a:xfrm>
          <a:prstGeom prst="ellipse">
            <a:avLst/>
          </a:prstGeom>
          <a:solidFill>
            <a:srgbClr val="059669">
              <a:alpha val="14901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0"/>
          <p:cNvSpPr/>
          <p:nvPr/>
        </p:nvSpPr>
        <p:spPr>
          <a:xfrm>
            <a:off x="493776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0"/>
          <p:cNvSpPr/>
          <p:nvPr/>
        </p:nvSpPr>
        <p:spPr>
          <a:xfrm>
            <a:off x="987552" y="3136392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Scan Timeline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0"/>
          <p:cNvSpPr/>
          <p:nvPr/>
        </p:nvSpPr>
        <p:spPr>
          <a:xfrm>
            <a:off x="475488" y="3584448"/>
            <a:ext cx="179222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0"/>
          <p:cNvSpPr/>
          <p:nvPr/>
        </p:nvSpPr>
        <p:spPr>
          <a:xfrm>
            <a:off x="475488" y="3657600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Chronological scan history: branch, PR link, build 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0"/>
          <p:cNvSpPr/>
          <p:nvPr/>
        </p:nvSpPr>
        <p:spPr>
          <a:xfrm>
            <a:off x="475488" y="4425696"/>
            <a:ext cx="1792224" cy="201168"/>
          </a:xfrm>
          <a:prstGeom prst="roundRect">
            <a:avLst>
              <a:gd fmla="val 272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0"/>
          <p:cNvSpPr/>
          <p:nvPr/>
        </p:nvSpPr>
        <p:spPr>
          <a:xfrm>
            <a:off x="475488" y="4425696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ScansPanel.tsx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0"/>
          <p:cNvSpPr/>
          <p:nvPr/>
        </p:nvSpPr>
        <p:spPr>
          <a:xfrm>
            <a:off x="2542032" y="2980944"/>
            <a:ext cx="2029968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0"/>
          <p:cNvSpPr/>
          <p:nvPr/>
        </p:nvSpPr>
        <p:spPr>
          <a:xfrm>
            <a:off x="2542032" y="2980944"/>
            <a:ext cx="50292" cy="1737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0"/>
          <p:cNvSpPr/>
          <p:nvPr/>
        </p:nvSpPr>
        <p:spPr>
          <a:xfrm>
            <a:off x="2688336" y="3127248"/>
            <a:ext cx="420624" cy="420624"/>
          </a:xfrm>
          <a:prstGeom prst="ellipse">
            <a:avLst/>
          </a:prstGeom>
          <a:solidFill>
            <a:srgbClr val="D97706">
              <a:alpha val="14901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0"/>
          <p:cNvSpPr/>
          <p:nvPr/>
        </p:nvSpPr>
        <p:spPr>
          <a:xfrm>
            <a:off x="2688336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0"/>
          <p:cNvSpPr/>
          <p:nvPr/>
        </p:nvSpPr>
        <p:spPr>
          <a:xfrm>
            <a:off x="3182112" y="3136392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Analytics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0"/>
          <p:cNvSpPr/>
          <p:nvPr/>
        </p:nvSpPr>
        <p:spPr>
          <a:xfrm>
            <a:off x="2670048" y="3584448"/>
            <a:ext cx="179222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0"/>
          <p:cNvSpPr/>
          <p:nvPr/>
        </p:nvSpPr>
        <p:spPr>
          <a:xfrm>
            <a:off x="2670048" y="3657600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Recharts: severity trend, fix rate, issue type breakdown over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0"/>
          <p:cNvSpPr/>
          <p:nvPr/>
        </p:nvSpPr>
        <p:spPr>
          <a:xfrm>
            <a:off x="2670048" y="4425696"/>
            <a:ext cx="1792224" cy="201168"/>
          </a:xfrm>
          <a:prstGeom prst="roundRect">
            <a:avLst>
              <a:gd fmla="val 272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0"/>
          <p:cNvSpPr/>
          <p:nvPr/>
        </p:nvSpPr>
        <p:spPr>
          <a:xfrm>
            <a:off x="2670048" y="4425696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AnalyticsPanel.tsx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0"/>
          <p:cNvSpPr/>
          <p:nvPr/>
        </p:nvSpPr>
        <p:spPr>
          <a:xfrm>
            <a:off x="4736592" y="2980944"/>
            <a:ext cx="2029968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0"/>
          <p:cNvSpPr/>
          <p:nvPr/>
        </p:nvSpPr>
        <p:spPr>
          <a:xfrm>
            <a:off x="4736592" y="2980944"/>
            <a:ext cx="50292" cy="1737360"/>
          </a:xfrm>
          <a:prstGeom prst="rect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0"/>
          <p:cNvSpPr/>
          <p:nvPr/>
        </p:nvSpPr>
        <p:spPr>
          <a:xfrm>
            <a:off x="4882896" y="3127248"/>
            <a:ext cx="420624" cy="420624"/>
          </a:xfrm>
          <a:prstGeom prst="ellipse">
            <a:avLst/>
          </a:prstGeom>
          <a:solidFill>
            <a:srgbClr val="0F2D52">
              <a:alpha val="14901"/>
            </a:srgbClr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0"/>
          <p:cNvSpPr/>
          <p:nvPr/>
        </p:nvSpPr>
        <p:spPr>
          <a:xfrm>
            <a:off x="4882896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0"/>
          <p:cNvSpPr/>
          <p:nvPr/>
        </p:nvSpPr>
        <p:spPr>
          <a:xfrm>
            <a:off x="5376672" y="3136392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Connect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0"/>
          <p:cNvSpPr/>
          <p:nvPr/>
        </p:nvSpPr>
        <p:spPr>
          <a:xfrm>
            <a:off x="4864608" y="3584448"/>
            <a:ext cx="179222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0"/>
          <p:cNvSpPr/>
          <p:nvPr/>
        </p:nvSpPr>
        <p:spPr>
          <a:xfrm>
            <a:off x="4864608" y="3657600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App installation flow, workspace and repository selection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0"/>
          <p:cNvSpPr/>
          <p:nvPr/>
        </p:nvSpPr>
        <p:spPr>
          <a:xfrm>
            <a:off x="4864608" y="4425696"/>
            <a:ext cx="1792224" cy="201168"/>
          </a:xfrm>
          <a:prstGeom prst="roundRect">
            <a:avLst>
              <a:gd fmla="val 272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0"/>
          <p:cNvSpPr/>
          <p:nvPr/>
        </p:nvSpPr>
        <p:spPr>
          <a:xfrm>
            <a:off x="4864608" y="4425696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GitHubConnectPanel.tsx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0"/>
          <p:cNvSpPr/>
          <p:nvPr/>
        </p:nvSpPr>
        <p:spPr>
          <a:xfrm>
            <a:off x="6931152" y="2980944"/>
            <a:ext cx="2029968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0"/>
          <p:cNvSpPr/>
          <p:nvPr/>
        </p:nvSpPr>
        <p:spPr>
          <a:xfrm>
            <a:off x="6931152" y="2980944"/>
            <a:ext cx="50292" cy="17373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0"/>
          <p:cNvSpPr/>
          <p:nvPr/>
        </p:nvSpPr>
        <p:spPr>
          <a:xfrm>
            <a:off x="7077456" y="3127248"/>
            <a:ext cx="420624" cy="420624"/>
          </a:xfrm>
          <a:prstGeom prst="ellipse">
            <a:avLst/>
          </a:prstGeom>
          <a:solidFill>
            <a:srgbClr val="7C3AED">
              <a:alpha val="1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0"/>
          <p:cNvSpPr/>
          <p:nvPr/>
        </p:nvSpPr>
        <p:spPr>
          <a:xfrm>
            <a:off x="7077456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0"/>
          <p:cNvSpPr/>
          <p:nvPr/>
        </p:nvSpPr>
        <p:spPr>
          <a:xfrm>
            <a:off x="7571232" y="3136392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PDF Report Export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0"/>
          <p:cNvSpPr/>
          <p:nvPr/>
        </p:nvSpPr>
        <p:spPr>
          <a:xfrm>
            <a:off x="7059168" y="3584448"/>
            <a:ext cx="1792224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0"/>
          <p:cNvSpPr/>
          <p:nvPr/>
        </p:nvSpPr>
        <p:spPr>
          <a:xfrm>
            <a:off x="7059168" y="3657600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html2canvas + jsPDF: one-click export of dashboard scan summary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0"/>
          <p:cNvSpPr/>
          <p:nvPr/>
        </p:nvSpPr>
        <p:spPr>
          <a:xfrm>
            <a:off x="7059168" y="4425696"/>
            <a:ext cx="1792224" cy="201168"/>
          </a:xfrm>
          <a:prstGeom prst="roundRect">
            <a:avLst>
              <a:gd fmla="val 272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0"/>
          <p:cNvSpPr/>
          <p:nvPr/>
        </p:nvSpPr>
        <p:spPr>
          <a:xfrm>
            <a:off x="7059168" y="4425696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App.tsx (export fn)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1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1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Database Design — MongoDB (12 Collections)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1"/>
          <p:cNvSpPr/>
          <p:nvPr/>
        </p:nvSpPr>
        <p:spPr>
          <a:xfrm>
            <a:off x="8046720" y="502920"/>
            <a:ext cx="749808" cy="347472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1"/>
          <p:cNvSpPr/>
          <p:nvPr/>
        </p:nvSpPr>
        <p:spPr>
          <a:xfrm>
            <a:off x="8046720" y="502920"/>
            <a:ext cx="749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12 Collections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1"/>
          <p:cNvSpPr/>
          <p:nvPr/>
        </p:nvSpPr>
        <p:spPr>
          <a:xfrm>
            <a:off x="347472" y="1078992"/>
            <a:ext cx="4187952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31"/>
          <p:cNvSpPr/>
          <p:nvPr/>
        </p:nvSpPr>
        <p:spPr>
          <a:xfrm>
            <a:off x="347472" y="1078992"/>
            <a:ext cx="50292" cy="120700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31"/>
          <p:cNvSpPr/>
          <p:nvPr/>
        </p:nvSpPr>
        <p:spPr>
          <a:xfrm>
            <a:off x="512064" y="1170432"/>
            <a:ext cx="384048" cy="384048"/>
          </a:xfrm>
          <a:prstGeom prst="ellipse">
            <a:avLst/>
          </a:prstGeom>
          <a:solidFill>
            <a:srgbClr val="1D4ED8">
              <a:alpha val="20000"/>
            </a:srgbClr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1"/>
          <p:cNvSpPr/>
          <p:nvPr/>
        </p:nvSpPr>
        <p:spPr>
          <a:xfrm>
            <a:off x="512064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1"/>
          <p:cNvSpPr/>
          <p:nvPr/>
        </p:nvSpPr>
        <p:spPr>
          <a:xfrm>
            <a:off x="987552" y="1188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Auth &amp; Identity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1"/>
          <p:cNvSpPr/>
          <p:nvPr/>
        </p:nvSpPr>
        <p:spPr>
          <a:xfrm>
            <a:off x="493776" y="1499616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1"/>
          <p:cNvSpPr/>
          <p:nvPr/>
        </p:nvSpPr>
        <p:spPr>
          <a:xfrm>
            <a:off x="493776" y="1572768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1"/>
          <p:cNvSpPr/>
          <p:nvPr/>
        </p:nvSpPr>
        <p:spPr>
          <a:xfrm>
            <a:off x="548640" y="1636776"/>
            <a:ext cx="1188720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1"/>
          <p:cNvSpPr/>
          <p:nvPr/>
        </p:nvSpPr>
        <p:spPr>
          <a:xfrm>
            <a:off x="548640" y="163677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1"/>
          <p:cNvSpPr/>
          <p:nvPr/>
        </p:nvSpPr>
        <p:spPr>
          <a:xfrm>
            <a:off x="1901952" y="16459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 OAuth profile, JWT info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1"/>
          <p:cNvSpPr/>
          <p:nvPr/>
        </p:nvSpPr>
        <p:spPr>
          <a:xfrm>
            <a:off x="493776" y="1993392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1"/>
          <p:cNvSpPr/>
          <p:nvPr/>
        </p:nvSpPr>
        <p:spPr>
          <a:xfrm>
            <a:off x="548640" y="2057400"/>
            <a:ext cx="2468880" cy="219456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31"/>
          <p:cNvSpPr/>
          <p:nvPr/>
        </p:nvSpPr>
        <p:spPr>
          <a:xfrm>
            <a:off x="548640" y="20574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github_app_installations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1"/>
          <p:cNvSpPr/>
          <p:nvPr/>
        </p:nvSpPr>
        <p:spPr>
          <a:xfrm>
            <a:off x="1901952" y="2066544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 install ID per org/user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1"/>
          <p:cNvSpPr/>
          <p:nvPr/>
        </p:nvSpPr>
        <p:spPr>
          <a:xfrm>
            <a:off x="4718304" y="1078992"/>
            <a:ext cx="4187952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1"/>
          <p:cNvSpPr/>
          <p:nvPr/>
        </p:nvSpPr>
        <p:spPr>
          <a:xfrm>
            <a:off x="4718304" y="1078992"/>
            <a:ext cx="50292" cy="12070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1"/>
          <p:cNvSpPr/>
          <p:nvPr/>
        </p:nvSpPr>
        <p:spPr>
          <a:xfrm>
            <a:off x="4882896" y="1170432"/>
            <a:ext cx="384048" cy="384048"/>
          </a:xfrm>
          <a:prstGeom prst="ellipse">
            <a:avLst/>
          </a:prstGeom>
          <a:solidFill>
            <a:srgbClr val="0891B2">
              <a:alpha val="20000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1"/>
          <p:cNvSpPr/>
          <p:nvPr/>
        </p:nvSpPr>
        <p:spPr>
          <a:xfrm>
            <a:off x="4882896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1"/>
          <p:cNvSpPr/>
          <p:nvPr/>
        </p:nvSpPr>
        <p:spPr>
          <a:xfrm>
            <a:off x="5358384" y="1188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Repository Setup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1"/>
          <p:cNvSpPr/>
          <p:nvPr/>
        </p:nvSpPr>
        <p:spPr>
          <a:xfrm>
            <a:off x="4864608" y="1499616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1"/>
          <p:cNvSpPr/>
          <p:nvPr/>
        </p:nvSpPr>
        <p:spPr>
          <a:xfrm>
            <a:off x="4864608" y="1572768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1"/>
          <p:cNvSpPr/>
          <p:nvPr/>
        </p:nvSpPr>
        <p:spPr>
          <a:xfrm>
            <a:off x="4919472" y="1636776"/>
            <a:ext cx="1188720" cy="219456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1"/>
          <p:cNvSpPr/>
          <p:nvPr/>
        </p:nvSpPr>
        <p:spPr>
          <a:xfrm>
            <a:off x="4919472" y="163677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workspaces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1"/>
          <p:cNvSpPr/>
          <p:nvPr/>
        </p:nvSpPr>
        <p:spPr>
          <a:xfrm>
            <a:off x="6272784" y="16459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Repo + GitHub install mapping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1"/>
          <p:cNvSpPr/>
          <p:nvPr/>
        </p:nvSpPr>
        <p:spPr>
          <a:xfrm>
            <a:off x="4864608" y="1993392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31"/>
          <p:cNvSpPr/>
          <p:nvPr/>
        </p:nvSpPr>
        <p:spPr>
          <a:xfrm>
            <a:off x="4919472" y="2057400"/>
            <a:ext cx="1828800" cy="219456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1"/>
          <p:cNvSpPr/>
          <p:nvPr/>
        </p:nvSpPr>
        <p:spPr>
          <a:xfrm>
            <a:off x="4919472" y="20574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sonar_connections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1"/>
          <p:cNvSpPr/>
          <p:nvPr/>
        </p:nvSpPr>
        <p:spPr>
          <a:xfrm>
            <a:off x="6272784" y="2066544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Encrypted SonarCloud tokens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1"/>
          <p:cNvSpPr/>
          <p:nvPr/>
        </p:nvSpPr>
        <p:spPr>
          <a:xfrm>
            <a:off x="347472" y="2953512"/>
            <a:ext cx="4187952" cy="19751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1"/>
          <p:cNvSpPr/>
          <p:nvPr/>
        </p:nvSpPr>
        <p:spPr>
          <a:xfrm>
            <a:off x="347472" y="2953512"/>
            <a:ext cx="50292" cy="197510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1"/>
          <p:cNvSpPr/>
          <p:nvPr/>
        </p:nvSpPr>
        <p:spPr>
          <a:xfrm>
            <a:off x="512064" y="3044952"/>
            <a:ext cx="384048" cy="384048"/>
          </a:xfrm>
          <a:prstGeom prst="ellipse">
            <a:avLst/>
          </a:prstGeom>
          <a:solidFill>
            <a:srgbClr val="D97706">
              <a:alpha val="20000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1"/>
          <p:cNvSpPr/>
          <p:nvPr/>
        </p:nvSpPr>
        <p:spPr>
          <a:xfrm>
            <a:off x="512064" y="30449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1"/>
          <p:cNvSpPr/>
          <p:nvPr/>
        </p:nvSpPr>
        <p:spPr>
          <a:xfrm>
            <a:off x="987552" y="3063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Scan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1"/>
          <p:cNvSpPr/>
          <p:nvPr/>
        </p:nvSpPr>
        <p:spPr>
          <a:xfrm>
            <a:off x="493776" y="3374136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1"/>
          <p:cNvSpPr/>
          <p:nvPr/>
        </p:nvSpPr>
        <p:spPr>
          <a:xfrm>
            <a:off x="493776" y="3447288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1"/>
          <p:cNvSpPr/>
          <p:nvPr/>
        </p:nvSpPr>
        <p:spPr>
          <a:xfrm>
            <a:off x="548640" y="3511296"/>
            <a:ext cx="1188720" cy="219456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1"/>
          <p:cNvSpPr/>
          <p:nvPr/>
        </p:nvSpPr>
        <p:spPr>
          <a:xfrm>
            <a:off x="548640" y="351129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1"/>
          <p:cNvSpPr/>
          <p:nvPr/>
        </p:nvSpPr>
        <p:spPr>
          <a:xfrm>
            <a:off x="1901952" y="35204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Scan run metadata + PR link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1"/>
          <p:cNvSpPr/>
          <p:nvPr/>
        </p:nvSpPr>
        <p:spPr>
          <a:xfrm>
            <a:off x="493776" y="3867912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1"/>
          <p:cNvSpPr/>
          <p:nvPr/>
        </p:nvSpPr>
        <p:spPr>
          <a:xfrm>
            <a:off x="548640" y="3931920"/>
            <a:ext cx="1280160" cy="219456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1"/>
          <p:cNvSpPr/>
          <p:nvPr/>
        </p:nvSpPr>
        <p:spPr>
          <a:xfrm>
            <a:off x="548640" y="393192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scan_events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1"/>
          <p:cNvSpPr/>
          <p:nvPr/>
        </p:nvSpPr>
        <p:spPr>
          <a:xfrm>
            <a:off x="1901952" y="3941064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Webhook event 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1"/>
          <p:cNvSpPr/>
          <p:nvPr/>
        </p:nvSpPr>
        <p:spPr>
          <a:xfrm>
            <a:off x="493776" y="4288536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1"/>
          <p:cNvSpPr/>
          <p:nvPr/>
        </p:nvSpPr>
        <p:spPr>
          <a:xfrm>
            <a:off x="548640" y="4352544"/>
            <a:ext cx="1280160" cy="219456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1"/>
          <p:cNvSpPr/>
          <p:nvPr/>
        </p:nvSpPr>
        <p:spPr>
          <a:xfrm>
            <a:off x="548640" y="435254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scan_issues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1"/>
          <p:cNvSpPr/>
          <p:nvPr/>
        </p:nvSpPr>
        <p:spPr>
          <a:xfrm>
            <a:off x="1901952" y="436168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Issue snapshot per scan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1"/>
          <p:cNvSpPr/>
          <p:nvPr/>
        </p:nvSpPr>
        <p:spPr>
          <a:xfrm>
            <a:off x="493776" y="4709160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1"/>
          <p:cNvSpPr/>
          <p:nvPr/>
        </p:nvSpPr>
        <p:spPr>
          <a:xfrm>
            <a:off x="548640" y="4773168"/>
            <a:ext cx="2103120" cy="219456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1"/>
          <p:cNvSpPr/>
          <p:nvPr/>
        </p:nvSpPr>
        <p:spPr>
          <a:xfrm>
            <a:off x="548640" y="47731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quality_gate_retries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1"/>
          <p:cNvSpPr/>
          <p:nvPr/>
        </p:nvSpPr>
        <p:spPr>
          <a:xfrm>
            <a:off x="1901952" y="478231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Retry attempts tracking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1"/>
          <p:cNvSpPr/>
          <p:nvPr/>
        </p:nvSpPr>
        <p:spPr>
          <a:xfrm>
            <a:off x="4718304" y="2953512"/>
            <a:ext cx="4187952" cy="19751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1"/>
          <p:cNvSpPr/>
          <p:nvPr/>
        </p:nvSpPr>
        <p:spPr>
          <a:xfrm>
            <a:off x="4718304" y="2953512"/>
            <a:ext cx="50292" cy="1975104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31"/>
          <p:cNvSpPr/>
          <p:nvPr/>
        </p:nvSpPr>
        <p:spPr>
          <a:xfrm>
            <a:off x="4882896" y="3044952"/>
            <a:ext cx="384048" cy="384048"/>
          </a:xfrm>
          <a:prstGeom prst="ellipse">
            <a:avLst/>
          </a:prstGeom>
          <a:solidFill>
            <a:srgbClr val="059669">
              <a:alpha val="20000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1"/>
          <p:cNvSpPr/>
          <p:nvPr/>
        </p:nvSpPr>
        <p:spPr>
          <a:xfrm>
            <a:off x="4882896" y="30449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1"/>
          <p:cNvSpPr/>
          <p:nvPr/>
        </p:nvSpPr>
        <p:spPr>
          <a:xfrm>
            <a:off x="5358384" y="3063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Fix Pipeline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1"/>
          <p:cNvSpPr/>
          <p:nvPr/>
        </p:nvSpPr>
        <p:spPr>
          <a:xfrm>
            <a:off x="4864608" y="3374136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1"/>
          <p:cNvSpPr/>
          <p:nvPr/>
        </p:nvSpPr>
        <p:spPr>
          <a:xfrm>
            <a:off x="4864608" y="3447288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31"/>
          <p:cNvSpPr/>
          <p:nvPr/>
        </p:nvSpPr>
        <p:spPr>
          <a:xfrm>
            <a:off x="4919472" y="3511296"/>
            <a:ext cx="1188720" cy="219456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1"/>
          <p:cNvSpPr/>
          <p:nvPr/>
        </p:nvSpPr>
        <p:spPr>
          <a:xfrm>
            <a:off x="4919472" y="351129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31"/>
          <p:cNvSpPr/>
          <p:nvPr/>
        </p:nvSpPr>
        <p:spPr>
          <a:xfrm>
            <a:off x="6272784" y="35204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SonarCloud issue metadata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1"/>
          <p:cNvSpPr/>
          <p:nvPr/>
        </p:nvSpPr>
        <p:spPr>
          <a:xfrm>
            <a:off x="4864608" y="3867912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1"/>
          <p:cNvSpPr/>
          <p:nvPr/>
        </p:nvSpPr>
        <p:spPr>
          <a:xfrm>
            <a:off x="4919472" y="3931920"/>
            <a:ext cx="1188720" cy="219456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1"/>
          <p:cNvSpPr/>
          <p:nvPr/>
        </p:nvSpPr>
        <p:spPr>
          <a:xfrm>
            <a:off x="4919472" y="393192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1"/>
          <p:cNvSpPr/>
          <p:nvPr/>
        </p:nvSpPr>
        <p:spPr>
          <a:xfrm>
            <a:off x="6272784" y="3941064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Validated JSON patch 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1"/>
          <p:cNvSpPr/>
          <p:nvPr/>
        </p:nvSpPr>
        <p:spPr>
          <a:xfrm>
            <a:off x="4864608" y="4288536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1"/>
          <p:cNvSpPr/>
          <p:nvPr/>
        </p:nvSpPr>
        <p:spPr>
          <a:xfrm>
            <a:off x="4919472" y="4352544"/>
            <a:ext cx="1188720" cy="219456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1"/>
          <p:cNvSpPr/>
          <p:nvPr/>
        </p:nvSpPr>
        <p:spPr>
          <a:xfrm>
            <a:off x="4919472" y="435254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1"/>
          <p:cNvSpPr/>
          <p:nvPr/>
        </p:nvSpPr>
        <p:spPr>
          <a:xfrm>
            <a:off x="6272784" y="436168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 prompt cache per issue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1"/>
          <p:cNvSpPr/>
          <p:nvPr/>
        </p:nvSpPr>
        <p:spPr>
          <a:xfrm>
            <a:off x="4864608" y="4709160"/>
            <a:ext cx="3877056" cy="34747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31"/>
          <p:cNvSpPr/>
          <p:nvPr/>
        </p:nvSpPr>
        <p:spPr>
          <a:xfrm>
            <a:off x="4919472" y="4773168"/>
            <a:ext cx="1828800" cy="219456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1"/>
          <p:cNvSpPr/>
          <p:nvPr/>
        </p:nvSpPr>
        <p:spPr>
          <a:xfrm>
            <a:off x="4919472" y="4773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scan_fix_attempts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1"/>
          <p:cNvSpPr/>
          <p:nvPr/>
        </p:nvSpPr>
        <p:spPr>
          <a:xfrm>
            <a:off x="6272784" y="478231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Applied/skipped/error 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32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2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Security Considerations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2"/>
          <p:cNvSpPr/>
          <p:nvPr/>
        </p:nvSpPr>
        <p:spPr>
          <a:xfrm>
            <a:off x="347472" y="1078992"/>
            <a:ext cx="4187952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32"/>
          <p:cNvSpPr/>
          <p:nvPr/>
        </p:nvSpPr>
        <p:spPr>
          <a:xfrm>
            <a:off x="347472" y="1078992"/>
            <a:ext cx="50292" cy="117043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32"/>
          <p:cNvSpPr/>
          <p:nvPr/>
        </p:nvSpPr>
        <p:spPr>
          <a:xfrm>
            <a:off x="512064" y="1243584"/>
            <a:ext cx="438912" cy="438912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32"/>
          <p:cNvSpPr/>
          <p:nvPr/>
        </p:nvSpPr>
        <p:spPr>
          <a:xfrm>
            <a:off x="512064" y="12435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2"/>
          <p:cNvSpPr/>
          <p:nvPr/>
        </p:nvSpPr>
        <p:spPr>
          <a:xfrm>
            <a:off x="1024128" y="122529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OAuth 2.0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2"/>
          <p:cNvSpPr/>
          <p:nvPr/>
        </p:nvSpPr>
        <p:spPr>
          <a:xfrm>
            <a:off x="493776" y="1554480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32"/>
          <p:cNvSpPr/>
          <p:nvPr/>
        </p:nvSpPr>
        <p:spPr>
          <a:xfrm>
            <a:off x="493776" y="1627632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login via GitHub OAuth 2.0. JWT token issued for frontend session. No passwords stored in the database.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2"/>
          <p:cNvSpPr/>
          <p:nvPr/>
        </p:nvSpPr>
        <p:spPr>
          <a:xfrm>
            <a:off x="4718304" y="1078992"/>
            <a:ext cx="4187952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2"/>
          <p:cNvSpPr/>
          <p:nvPr/>
        </p:nvSpPr>
        <p:spPr>
          <a:xfrm>
            <a:off x="4718304" y="1078992"/>
            <a:ext cx="50292" cy="1170432"/>
          </a:xfrm>
          <a:prstGeom prst="rect">
            <a:avLst/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2"/>
          <p:cNvSpPr/>
          <p:nvPr/>
        </p:nvSpPr>
        <p:spPr>
          <a:xfrm>
            <a:off x="4882896" y="1243584"/>
            <a:ext cx="438912" cy="438912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32"/>
          <p:cNvSpPr/>
          <p:nvPr/>
        </p:nvSpPr>
        <p:spPr>
          <a:xfrm>
            <a:off x="4882896" y="12435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32"/>
          <p:cNvSpPr/>
          <p:nvPr/>
        </p:nvSpPr>
        <p:spPr>
          <a:xfrm>
            <a:off x="5394960" y="122529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JWT Session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2"/>
          <p:cNvSpPr/>
          <p:nvPr/>
        </p:nvSpPr>
        <p:spPr>
          <a:xfrm>
            <a:off x="4864608" y="1554480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2"/>
          <p:cNvSpPr/>
          <p:nvPr/>
        </p:nvSpPr>
        <p:spPr>
          <a:xfrm>
            <a:off x="4864608" y="1627632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frontend API calls carry a signed JWT. Backend validates token on protected routes using PyJWT and secret key.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2"/>
          <p:cNvSpPr/>
          <p:nvPr/>
        </p:nvSpPr>
        <p:spPr>
          <a:xfrm>
            <a:off x="347472" y="2404872"/>
            <a:ext cx="4187952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2"/>
          <p:cNvSpPr/>
          <p:nvPr/>
        </p:nvSpPr>
        <p:spPr>
          <a:xfrm>
            <a:off x="347472" y="2404872"/>
            <a:ext cx="50292" cy="11704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32"/>
          <p:cNvSpPr/>
          <p:nvPr/>
        </p:nvSpPr>
        <p:spPr>
          <a:xfrm>
            <a:off x="512064" y="2569464"/>
            <a:ext cx="438912" cy="438912"/>
          </a:xfrm>
          <a:prstGeom prst="ellipse">
            <a:avLst/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32"/>
          <p:cNvSpPr/>
          <p:nvPr/>
        </p:nvSpPr>
        <p:spPr>
          <a:xfrm>
            <a:off x="512064" y="25694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2"/>
          <p:cNvSpPr/>
          <p:nvPr/>
        </p:nvSpPr>
        <p:spPr>
          <a:xfrm>
            <a:off x="1024128" y="255117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App Installation Token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2"/>
          <p:cNvSpPr/>
          <p:nvPr/>
        </p:nvSpPr>
        <p:spPr>
          <a:xfrm>
            <a:off x="493776" y="2880360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2"/>
          <p:cNvSpPr/>
          <p:nvPr/>
        </p:nvSpPr>
        <p:spPr>
          <a:xfrm>
            <a:off x="493776" y="2953512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Short-lived, scoped installation tokens used for repo access. No user PATs or passwords stored or transmitted.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32"/>
          <p:cNvSpPr/>
          <p:nvPr/>
        </p:nvSpPr>
        <p:spPr>
          <a:xfrm>
            <a:off x="4718304" y="2404872"/>
            <a:ext cx="4187952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2"/>
          <p:cNvSpPr/>
          <p:nvPr/>
        </p:nvSpPr>
        <p:spPr>
          <a:xfrm>
            <a:off x="4718304" y="2404872"/>
            <a:ext cx="50292" cy="117043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2"/>
          <p:cNvSpPr/>
          <p:nvPr/>
        </p:nvSpPr>
        <p:spPr>
          <a:xfrm>
            <a:off x="4882896" y="2569464"/>
            <a:ext cx="438912" cy="438912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2"/>
          <p:cNvSpPr/>
          <p:nvPr/>
        </p:nvSpPr>
        <p:spPr>
          <a:xfrm>
            <a:off x="4882896" y="25694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2"/>
          <p:cNvSpPr/>
          <p:nvPr/>
        </p:nvSpPr>
        <p:spPr>
          <a:xfrm>
            <a:off x="5394960" y="255117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Webhook Signature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2"/>
          <p:cNvSpPr/>
          <p:nvPr/>
        </p:nvSpPr>
        <p:spPr>
          <a:xfrm>
            <a:off x="4864608" y="2880360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32"/>
          <p:cNvSpPr/>
          <p:nvPr/>
        </p:nvSpPr>
        <p:spPr>
          <a:xfrm>
            <a:off x="4864608" y="2953512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incoming webhook POST verified via HMAC-SHA256 using the GitHub webhook secret. Fake calls rejected immediately.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2"/>
          <p:cNvSpPr/>
          <p:nvPr/>
        </p:nvSpPr>
        <p:spPr>
          <a:xfrm>
            <a:off x="347472" y="3730752"/>
            <a:ext cx="4187952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2"/>
          <p:cNvSpPr/>
          <p:nvPr/>
        </p:nvSpPr>
        <p:spPr>
          <a:xfrm>
            <a:off x="347472" y="3730752"/>
            <a:ext cx="50292" cy="117043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32"/>
          <p:cNvSpPr/>
          <p:nvPr/>
        </p:nvSpPr>
        <p:spPr>
          <a:xfrm>
            <a:off x="512064" y="3895344"/>
            <a:ext cx="438912" cy="438912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2"/>
          <p:cNvSpPr/>
          <p:nvPr/>
        </p:nvSpPr>
        <p:spPr>
          <a:xfrm>
            <a:off x="512064" y="38953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2"/>
          <p:cNvSpPr/>
          <p:nvPr/>
        </p:nvSpPr>
        <p:spPr>
          <a:xfrm>
            <a:off x="1024128" y="387705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Encrypted SonarCloud Token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2"/>
          <p:cNvSpPr/>
          <p:nvPr/>
        </p:nvSpPr>
        <p:spPr>
          <a:xfrm>
            <a:off x="493776" y="4206240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32"/>
          <p:cNvSpPr/>
          <p:nvPr/>
        </p:nvSpPr>
        <p:spPr>
          <a:xfrm>
            <a:off x="493776" y="4279392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SonarCloud tokens encrypted at rest using Fernet (AES-128) before storage. Decrypted only at scan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2"/>
          <p:cNvSpPr/>
          <p:nvPr/>
        </p:nvSpPr>
        <p:spPr>
          <a:xfrm>
            <a:off x="4718304" y="3730752"/>
            <a:ext cx="4187952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32"/>
          <p:cNvSpPr/>
          <p:nvPr/>
        </p:nvSpPr>
        <p:spPr>
          <a:xfrm>
            <a:off x="4718304" y="3730752"/>
            <a:ext cx="50292" cy="117043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32"/>
          <p:cNvSpPr/>
          <p:nvPr/>
        </p:nvSpPr>
        <p:spPr>
          <a:xfrm>
            <a:off x="4882896" y="3895344"/>
            <a:ext cx="438912" cy="438912"/>
          </a:xfrm>
          <a:prstGeom prst="ellipse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32"/>
          <p:cNvSpPr/>
          <p:nvPr/>
        </p:nvSpPr>
        <p:spPr>
          <a:xfrm>
            <a:off x="4882896" y="38953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2"/>
          <p:cNvSpPr/>
          <p:nvPr/>
        </p:nvSpPr>
        <p:spPr>
          <a:xfrm>
            <a:off x="5394960" y="387705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Output Gating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2"/>
          <p:cNvSpPr/>
          <p:nvPr/>
        </p:nvSpPr>
        <p:spPr>
          <a:xfrm>
            <a:off x="4864608" y="4206240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32"/>
          <p:cNvSpPr/>
          <p:nvPr/>
        </p:nvSpPr>
        <p:spPr>
          <a:xfrm>
            <a:off x="4864608" y="4279392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LLM-generated code passes through 6-layer validation pipeline. Selected endpoints validate API keys through request headers.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33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33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3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Demo Flow &amp; Key Challenges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3"/>
          <p:cNvSpPr/>
          <p:nvPr/>
        </p:nvSpPr>
        <p:spPr>
          <a:xfrm>
            <a:off x="347472" y="1078992"/>
            <a:ext cx="42976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3"/>
          <p:cNvSpPr/>
          <p:nvPr/>
        </p:nvSpPr>
        <p:spPr>
          <a:xfrm>
            <a:off x="347472" y="1078992"/>
            <a:ext cx="50292" cy="384048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33"/>
          <p:cNvSpPr/>
          <p:nvPr/>
        </p:nvSpPr>
        <p:spPr>
          <a:xfrm>
            <a:off x="475488" y="11430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🎬  Live Demo Sequence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3"/>
          <p:cNvSpPr/>
          <p:nvPr/>
        </p:nvSpPr>
        <p:spPr>
          <a:xfrm>
            <a:off x="475488" y="1463040"/>
            <a:ext cx="4023360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33"/>
          <p:cNvSpPr/>
          <p:nvPr/>
        </p:nvSpPr>
        <p:spPr>
          <a:xfrm>
            <a:off x="475488" y="1554480"/>
            <a:ext cx="201168" cy="20116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33"/>
          <p:cNvSpPr/>
          <p:nvPr/>
        </p:nvSpPr>
        <p:spPr>
          <a:xfrm>
            <a:off x="475488" y="15544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3"/>
          <p:cNvSpPr/>
          <p:nvPr/>
        </p:nvSpPr>
        <p:spPr>
          <a:xfrm>
            <a:off x="731520" y="155448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 Open dashboard → click Login with GitHub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3"/>
          <p:cNvSpPr/>
          <p:nvPr/>
        </p:nvSpPr>
        <p:spPr>
          <a:xfrm>
            <a:off x="475488" y="1847088"/>
            <a:ext cx="201168" cy="20116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33"/>
          <p:cNvSpPr/>
          <p:nvPr/>
        </p:nvSpPr>
        <p:spPr>
          <a:xfrm>
            <a:off x="475488" y="18470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3"/>
          <p:cNvSpPr/>
          <p:nvPr/>
        </p:nvSpPr>
        <p:spPr>
          <a:xfrm>
            <a:off x="731520" y="1847088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 Complete GitHub OAuth → session JWT issued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3"/>
          <p:cNvSpPr/>
          <p:nvPr/>
        </p:nvSpPr>
        <p:spPr>
          <a:xfrm>
            <a:off x="475488" y="2139696"/>
            <a:ext cx="201168" cy="20116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3"/>
          <p:cNvSpPr/>
          <p:nvPr/>
        </p:nvSpPr>
        <p:spPr>
          <a:xfrm>
            <a:off x="475488" y="21396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3"/>
          <p:cNvSpPr/>
          <p:nvPr/>
        </p:nvSpPr>
        <p:spPr>
          <a:xfrm>
            <a:off x="731520" y="2139696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 Select / create workspace (GitHub installation)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3"/>
          <p:cNvSpPr/>
          <p:nvPr/>
        </p:nvSpPr>
        <p:spPr>
          <a:xfrm>
            <a:off x="475488" y="2432304"/>
            <a:ext cx="201168" cy="20116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3"/>
          <p:cNvSpPr/>
          <p:nvPr/>
        </p:nvSpPr>
        <p:spPr>
          <a:xfrm>
            <a:off x="475488" y="24323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3"/>
          <p:cNvSpPr/>
          <p:nvPr/>
        </p:nvSpPr>
        <p:spPr>
          <a:xfrm>
            <a:off x="731520" y="2432304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 Select GitHub repository to monitor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3"/>
          <p:cNvSpPr/>
          <p:nvPr/>
        </p:nvSpPr>
        <p:spPr>
          <a:xfrm>
            <a:off x="475488" y="2724912"/>
            <a:ext cx="201168" cy="20116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3"/>
          <p:cNvSpPr/>
          <p:nvPr/>
        </p:nvSpPr>
        <p:spPr>
          <a:xfrm>
            <a:off x="475488" y="27249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3"/>
          <p:cNvSpPr/>
          <p:nvPr/>
        </p:nvSpPr>
        <p:spPr>
          <a:xfrm>
            <a:off x="731520" y="2724912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 Connect SonarCloud token and project key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3"/>
          <p:cNvSpPr/>
          <p:nvPr/>
        </p:nvSpPr>
        <p:spPr>
          <a:xfrm>
            <a:off x="475488" y="3017520"/>
            <a:ext cx="201168" cy="201168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3"/>
          <p:cNvSpPr/>
          <p:nvPr/>
        </p:nvSpPr>
        <p:spPr>
          <a:xfrm>
            <a:off x="475488" y="301752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3"/>
          <p:cNvSpPr/>
          <p:nvPr/>
        </p:nvSpPr>
        <p:spPr>
          <a:xfrm>
            <a:off x="731520" y="301752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6.  Fetch issues → severity dashboard loads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3"/>
          <p:cNvSpPr/>
          <p:nvPr/>
        </p:nvSpPr>
        <p:spPr>
          <a:xfrm>
            <a:off x="475488" y="3310128"/>
            <a:ext cx="201168" cy="20116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3"/>
          <p:cNvSpPr/>
          <p:nvPr/>
        </p:nvSpPr>
        <p:spPr>
          <a:xfrm>
            <a:off x="475488" y="33101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3"/>
          <p:cNvSpPr/>
          <p:nvPr/>
        </p:nvSpPr>
        <p:spPr>
          <a:xfrm>
            <a:off x="731520" y="3310128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7.  Open an individual issue → view details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3"/>
          <p:cNvSpPr/>
          <p:nvPr/>
        </p:nvSpPr>
        <p:spPr>
          <a:xfrm>
            <a:off x="475488" y="3602736"/>
            <a:ext cx="201168" cy="20116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3"/>
          <p:cNvSpPr/>
          <p:nvPr/>
        </p:nvSpPr>
        <p:spPr>
          <a:xfrm>
            <a:off x="475488" y="36027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3"/>
          <p:cNvSpPr/>
          <p:nvPr/>
        </p:nvSpPr>
        <p:spPr>
          <a:xfrm>
            <a:off x="731520" y="3602736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8.  View AI-generated fix and code patch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3"/>
          <p:cNvSpPr/>
          <p:nvPr/>
        </p:nvSpPr>
        <p:spPr>
          <a:xfrm>
            <a:off x="475488" y="3895344"/>
            <a:ext cx="201168" cy="20116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3"/>
          <p:cNvSpPr/>
          <p:nvPr/>
        </p:nvSpPr>
        <p:spPr>
          <a:xfrm>
            <a:off x="475488" y="389534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33"/>
          <p:cNvSpPr/>
          <p:nvPr/>
        </p:nvSpPr>
        <p:spPr>
          <a:xfrm>
            <a:off x="731520" y="3895344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9.  Show GitHub-style diff preview (old vs new)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3"/>
          <p:cNvSpPr/>
          <p:nvPr/>
        </p:nvSpPr>
        <p:spPr>
          <a:xfrm>
            <a:off x="475488" y="4187952"/>
            <a:ext cx="201168" cy="20116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3"/>
          <p:cNvSpPr/>
          <p:nvPr/>
        </p:nvSpPr>
        <p:spPr>
          <a:xfrm>
            <a:off x="475488" y="418795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3"/>
          <p:cNvSpPr/>
          <p:nvPr/>
        </p:nvSpPr>
        <p:spPr>
          <a:xfrm>
            <a:off x="731520" y="4187952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10. Show scan history timeline and PR link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33"/>
          <p:cNvSpPr/>
          <p:nvPr/>
        </p:nvSpPr>
        <p:spPr>
          <a:xfrm>
            <a:off x="475488" y="4480560"/>
            <a:ext cx="201168" cy="20116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33"/>
          <p:cNvSpPr/>
          <p:nvPr/>
        </p:nvSpPr>
        <p:spPr>
          <a:xfrm>
            <a:off x="475488" y="448056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3"/>
          <p:cNvSpPr/>
          <p:nvPr/>
        </p:nvSpPr>
        <p:spPr>
          <a:xfrm>
            <a:off x="731520" y="448056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11. Export PDF scan 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3"/>
          <p:cNvSpPr/>
          <p:nvPr/>
        </p:nvSpPr>
        <p:spPr>
          <a:xfrm>
            <a:off x="4846320" y="1078992"/>
            <a:ext cx="3950208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33"/>
          <p:cNvSpPr/>
          <p:nvPr/>
        </p:nvSpPr>
        <p:spPr>
          <a:xfrm>
            <a:off x="4846320" y="1078992"/>
            <a:ext cx="50292" cy="38404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33"/>
          <p:cNvSpPr/>
          <p:nvPr/>
        </p:nvSpPr>
        <p:spPr>
          <a:xfrm>
            <a:off x="4974336" y="1143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⚡  Key Challenges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3"/>
          <p:cNvSpPr/>
          <p:nvPr/>
        </p:nvSpPr>
        <p:spPr>
          <a:xfrm>
            <a:off x="4974336" y="1463040"/>
            <a:ext cx="3639312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33"/>
          <p:cNvSpPr/>
          <p:nvPr/>
        </p:nvSpPr>
        <p:spPr>
          <a:xfrm>
            <a:off x="4974336" y="1554480"/>
            <a:ext cx="256032" cy="256032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33"/>
          <p:cNvSpPr/>
          <p:nvPr/>
        </p:nvSpPr>
        <p:spPr>
          <a:xfrm>
            <a:off x="4974336" y="15544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3"/>
          <p:cNvSpPr/>
          <p:nvPr/>
        </p:nvSpPr>
        <p:spPr>
          <a:xfrm>
            <a:off x="5303520" y="1554480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Mapping GitHub repos ↔ SonarCloud project keys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33"/>
          <p:cNvSpPr/>
          <p:nvPr/>
        </p:nvSpPr>
        <p:spPr>
          <a:xfrm>
            <a:off x="4974336" y="1883664"/>
            <a:ext cx="256032" cy="256032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33"/>
          <p:cNvSpPr/>
          <p:nvPr/>
        </p:nvSpPr>
        <p:spPr>
          <a:xfrm>
            <a:off x="4974336" y="18836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3"/>
          <p:cNvSpPr/>
          <p:nvPr/>
        </p:nvSpPr>
        <p:spPr>
          <a:xfrm>
            <a:off x="5303520" y="1883664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Handling LLM hallucinated or incorrect code patches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3"/>
          <p:cNvSpPr/>
          <p:nvPr/>
        </p:nvSpPr>
        <p:spPr>
          <a:xfrm>
            <a:off x="4974336" y="2212848"/>
            <a:ext cx="256032" cy="256032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33"/>
          <p:cNvSpPr/>
          <p:nvPr/>
        </p:nvSpPr>
        <p:spPr>
          <a:xfrm>
            <a:off x="4974336" y="22128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3"/>
          <p:cNvSpPr/>
          <p:nvPr/>
        </p:nvSpPr>
        <p:spPr>
          <a:xfrm>
            <a:off x="5303520" y="2212848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Safely applying patches without breaking Java 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3"/>
          <p:cNvSpPr/>
          <p:nvPr/>
        </p:nvSpPr>
        <p:spPr>
          <a:xfrm>
            <a:off x="4974336" y="2542032"/>
            <a:ext cx="256032" cy="256032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33"/>
          <p:cNvSpPr/>
          <p:nvPr/>
        </p:nvSpPr>
        <p:spPr>
          <a:xfrm>
            <a:off x="4974336" y="25420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3"/>
          <p:cNvSpPr/>
          <p:nvPr/>
        </p:nvSpPr>
        <p:spPr>
          <a:xfrm>
            <a:off x="5303520" y="2542032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Managing GitHub App permissions and webhook security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3"/>
          <p:cNvSpPr/>
          <p:nvPr/>
        </p:nvSpPr>
        <p:spPr>
          <a:xfrm>
            <a:off x="4974336" y="2871216"/>
            <a:ext cx="256032" cy="256032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33"/>
          <p:cNvSpPr/>
          <p:nvPr/>
        </p:nvSpPr>
        <p:spPr>
          <a:xfrm>
            <a:off x="4974336" y="28712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3"/>
          <p:cNvSpPr/>
          <p:nvPr/>
        </p:nvSpPr>
        <p:spPr>
          <a:xfrm>
            <a:off x="5303520" y="2871216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Keeping dashboard in sync with live scan events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3"/>
          <p:cNvSpPr/>
          <p:nvPr/>
        </p:nvSpPr>
        <p:spPr>
          <a:xfrm>
            <a:off x="4974336" y="3200400"/>
            <a:ext cx="256032" cy="256032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33"/>
          <p:cNvSpPr/>
          <p:nvPr/>
        </p:nvSpPr>
        <p:spPr>
          <a:xfrm>
            <a:off x="4974336" y="32004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3"/>
          <p:cNvSpPr/>
          <p:nvPr/>
        </p:nvSpPr>
        <p:spPr>
          <a:xfrm>
            <a:off x="5303520" y="3200400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Handling missing imports after auto-fix application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3"/>
          <p:cNvSpPr/>
          <p:nvPr/>
        </p:nvSpPr>
        <p:spPr>
          <a:xfrm>
            <a:off x="4974336" y="3529584"/>
            <a:ext cx="256032" cy="256032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3"/>
          <p:cNvSpPr/>
          <p:nvPr/>
        </p:nvSpPr>
        <p:spPr>
          <a:xfrm>
            <a:off x="4974336" y="35295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33"/>
          <p:cNvSpPr/>
          <p:nvPr/>
        </p:nvSpPr>
        <p:spPr>
          <a:xfrm>
            <a:off x="5303520" y="3529584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Avoiding duplicate LLM calls via MongoDB prompt cache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2"/>
        </a:solidFill>
      </p:bgPr>
    </p:bg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4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4"/>
          <p:cNvSpPr/>
          <p:nvPr/>
        </p:nvSpPr>
        <p:spPr>
          <a:xfrm>
            <a:off x="59436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4"/>
          <p:cNvSpPr/>
          <p:nvPr/>
        </p:nvSpPr>
        <p:spPr>
          <a:xfrm>
            <a:off x="594360" y="841248"/>
            <a:ext cx="8229600" cy="1005840"/>
          </a:xfrm>
          <a:prstGeom prst="rect">
            <a:avLst/>
          </a:prstGeom>
          <a:solidFill>
            <a:srgbClr val="0A1F3D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34"/>
          <p:cNvSpPr/>
          <p:nvPr/>
        </p:nvSpPr>
        <p:spPr>
          <a:xfrm>
            <a:off x="749808" y="877824"/>
            <a:ext cx="79095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project demonstrates a real-world DevSecOps shift-left workflow by connecting code scanning, AI-assisted remediation, GitHub automation, build validation, and dashboard analytics into one integrated system.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4"/>
          <p:cNvSpPr/>
          <p:nvPr/>
        </p:nvSpPr>
        <p:spPr>
          <a:xfrm>
            <a:off x="594360" y="1956816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4"/>
          <p:cNvSpPr/>
          <p:nvPr/>
        </p:nvSpPr>
        <p:spPr>
          <a:xfrm>
            <a:off x="594360" y="2322576"/>
            <a:ext cx="2651760" cy="768096"/>
          </a:xfrm>
          <a:prstGeom prst="rect">
            <a:avLst/>
          </a:prstGeom>
          <a:solidFill>
            <a:srgbClr val="0A1F3D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34"/>
          <p:cNvSpPr/>
          <p:nvPr/>
        </p:nvSpPr>
        <p:spPr>
          <a:xfrm>
            <a:off x="685800" y="24140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4"/>
          <p:cNvSpPr/>
          <p:nvPr/>
        </p:nvSpPr>
        <p:spPr>
          <a:xfrm>
            <a:off x="1143000" y="24140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Multi-language support (Python, JavaScript, Go)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4"/>
          <p:cNvSpPr/>
          <p:nvPr/>
        </p:nvSpPr>
        <p:spPr>
          <a:xfrm>
            <a:off x="3355848" y="2322576"/>
            <a:ext cx="2651760" cy="768096"/>
          </a:xfrm>
          <a:prstGeom prst="rect">
            <a:avLst/>
          </a:prstGeom>
          <a:solidFill>
            <a:srgbClr val="0A1F3D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4"/>
          <p:cNvSpPr/>
          <p:nvPr/>
        </p:nvSpPr>
        <p:spPr>
          <a:xfrm>
            <a:off x="3447288" y="24140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4"/>
          <p:cNvSpPr/>
          <p:nvPr/>
        </p:nvSpPr>
        <p:spPr>
          <a:xfrm>
            <a:off x="3904488" y="24140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Policy-as-code compliance rule configuration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4"/>
          <p:cNvSpPr/>
          <p:nvPr/>
        </p:nvSpPr>
        <p:spPr>
          <a:xfrm>
            <a:off x="6117336" y="2322576"/>
            <a:ext cx="2651760" cy="768096"/>
          </a:xfrm>
          <a:prstGeom prst="rect">
            <a:avLst/>
          </a:prstGeom>
          <a:solidFill>
            <a:srgbClr val="0A1F3D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34"/>
          <p:cNvSpPr/>
          <p:nvPr/>
        </p:nvSpPr>
        <p:spPr>
          <a:xfrm>
            <a:off x="6208776" y="24140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4"/>
          <p:cNvSpPr/>
          <p:nvPr/>
        </p:nvSpPr>
        <p:spPr>
          <a:xfrm>
            <a:off x="6665976" y="24140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Role-based access control (RBAC) for teams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4"/>
          <p:cNvSpPr/>
          <p:nvPr/>
        </p:nvSpPr>
        <p:spPr>
          <a:xfrm>
            <a:off x="594360" y="3236976"/>
            <a:ext cx="2651760" cy="768096"/>
          </a:xfrm>
          <a:prstGeom prst="rect">
            <a:avLst/>
          </a:prstGeom>
          <a:solidFill>
            <a:srgbClr val="0A1F3D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4"/>
          <p:cNvSpPr/>
          <p:nvPr/>
        </p:nvSpPr>
        <p:spPr>
          <a:xfrm>
            <a:off x="685800" y="33284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4"/>
          <p:cNvSpPr/>
          <p:nvPr/>
        </p:nvSpPr>
        <p:spPr>
          <a:xfrm>
            <a:off x="1143000" y="33284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Deeper CI/CD pipeline and Jira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4"/>
          <p:cNvSpPr/>
          <p:nvPr/>
        </p:nvSpPr>
        <p:spPr>
          <a:xfrm>
            <a:off x="3355848" y="3236976"/>
            <a:ext cx="2651760" cy="768096"/>
          </a:xfrm>
          <a:prstGeom prst="rect">
            <a:avLst/>
          </a:prstGeom>
          <a:solidFill>
            <a:srgbClr val="0A1F3D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4"/>
          <p:cNvSpPr/>
          <p:nvPr/>
        </p:nvSpPr>
        <p:spPr>
          <a:xfrm>
            <a:off x="3447288" y="33284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4"/>
          <p:cNvSpPr/>
          <p:nvPr/>
        </p:nvSpPr>
        <p:spPr>
          <a:xfrm>
            <a:off x="3904488" y="33284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test generation per applied fix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4"/>
          <p:cNvSpPr/>
          <p:nvPr/>
        </p:nvSpPr>
        <p:spPr>
          <a:xfrm>
            <a:off x="6117336" y="3236976"/>
            <a:ext cx="2651760" cy="768096"/>
          </a:xfrm>
          <a:prstGeom prst="rect">
            <a:avLst/>
          </a:prstGeom>
          <a:solidFill>
            <a:srgbClr val="0A1F3D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34"/>
          <p:cNvSpPr/>
          <p:nvPr/>
        </p:nvSpPr>
        <p:spPr>
          <a:xfrm>
            <a:off x="6208776" y="33284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4"/>
          <p:cNvSpPr/>
          <p:nvPr/>
        </p:nvSpPr>
        <p:spPr>
          <a:xfrm>
            <a:off x="6665976" y="33284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approval workflow before AI fix is applied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4"/>
          <p:cNvSpPr/>
          <p:nvPr/>
        </p:nvSpPr>
        <p:spPr>
          <a:xfrm>
            <a:off x="594360" y="47365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Thank you  ·  Questions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35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35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PREPARATION ONLY — DO NOT PRESENT  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5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fmla="val 50000" name="adj"/>
            </a:avLst>
          </a:prstGeom>
          <a:solidFill>
            <a:srgbClr val="0F2D52"/>
          </a:solidFill>
          <a:ln cap="flat" cmpd="sng" w="1270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5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Q&amp;A PREP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5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Viva Preparation — Likely Panel Questions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5"/>
          <p:cNvSpPr/>
          <p:nvPr/>
        </p:nvSpPr>
        <p:spPr>
          <a:xfrm>
            <a:off x="347472" y="120700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5"/>
          <p:cNvSpPr/>
          <p:nvPr/>
        </p:nvSpPr>
        <p:spPr>
          <a:xfrm>
            <a:off x="347472" y="1207008"/>
            <a:ext cx="50292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35"/>
          <p:cNvSpPr/>
          <p:nvPr/>
        </p:nvSpPr>
        <p:spPr>
          <a:xfrm>
            <a:off x="493776" y="129844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Q: Why not use Dependabot or Renovate?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35"/>
          <p:cNvSpPr/>
          <p:nvPr/>
        </p:nvSpPr>
        <p:spPr>
          <a:xfrm>
            <a:off x="493776" y="1664208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35"/>
          <p:cNvSpPr/>
          <p:nvPr/>
        </p:nvSpPr>
        <p:spPr>
          <a:xfrm>
            <a:off x="493776" y="173736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A: Those handle dependency updates only. This targets code-quality and security rule violations inside your own source code.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5"/>
          <p:cNvSpPr/>
          <p:nvPr/>
        </p:nvSpPr>
        <p:spPr>
          <a:xfrm>
            <a:off x="4718304" y="120700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35"/>
          <p:cNvSpPr/>
          <p:nvPr/>
        </p:nvSpPr>
        <p:spPr>
          <a:xfrm>
            <a:off x="4718304" y="1207008"/>
            <a:ext cx="50292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35"/>
          <p:cNvSpPr/>
          <p:nvPr/>
        </p:nvSpPr>
        <p:spPr>
          <a:xfrm>
            <a:off x="4864608" y="129844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Q: How do you prevent bad AI code from merging?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5"/>
          <p:cNvSpPr/>
          <p:nvPr/>
        </p:nvSpPr>
        <p:spPr>
          <a:xfrm>
            <a:off x="4864608" y="1664208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5"/>
          <p:cNvSpPr/>
          <p:nvPr/>
        </p:nvSpPr>
        <p:spPr>
          <a:xfrm>
            <a:off x="4864608" y="173736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A: 6-layer validation + PRs require human review. AI never auto-merges. Applied/skipped/error tracked per scan.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5"/>
          <p:cNvSpPr/>
          <p:nvPr/>
        </p:nvSpPr>
        <p:spPr>
          <a:xfrm>
            <a:off x="347472" y="244144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5"/>
          <p:cNvSpPr/>
          <p:nvPr/>
        </p:nvSpPr>
        <p:spPr>
          <a:xfrm>
            <a:off x="347472" y="2441448"/>
            <a:ext cx="50292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35"/>
          <p:cNvSpPr/>
          <p:nvPr/>
        </p:nvSpPr>
        <p:spPr>
          <a:xfrm>
            <a:off x="493776" y="253288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Q: What if SonarCloud API is down?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5"/>
          <p:cNvSpPr/>
          <p:nvPr/>
        </p:nvSpPr>
        <p:spPr>
          <a:xfrm>
            <a:off x="493776" y="2898648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35"/>
          <p:cNvSpPr/>
          <p:nvPr/>
        </p:nvSpPr>
        <p:spPr>
          <a:xfrm>
            <a:off x="493776" y="297180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A: Webhook pipeline logs failure; retry logic via quality_gate_retries collection; dashboard shows last-known state.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5"/>
          <p:cNvSpPr/>
          <p:nvPr/>
        </p:nvSpPr>
        <p:spPr>
          <a:xfrm>
            <a:off x="4718304" y="244144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5"/>
          <p:cNvSpPr/>
          <p:nvPr/>
        </p:nvSpPr>
        <p:spPr>
          <a:xfrm>
            <a:off x="4718304" y="2441448"/>
            <a:ext cx="50292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35"/>
          <p:cNvSpPr/>
          <p:nvPr/>
        </p:nvSpPr>
        <p:spPr>
          <a:xfrm>
            <a:off x="4864608" y="253288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Q: Why MongoDB over PostgreSQL?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5"/>
          <p:cNvSpPr/>
          <p:nvPr/>
        </p:nvSpPr>
        <p:spPr>
          <a:xfrm>
            <a:off x="4864608" y="2898648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5"/>
          <p:cNvSpPr/>
          <p:nvPr/>
        </p:nvSpPr>
        <p:spPr>
          <a:xfrm>
            <a:off x="4864608" y="297180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A: Sonar issues and fix documents have variable schemas per rule type. MongoDB avoids frequent schema migrations.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35"/>
          <p:cNvSpPr/>
          <p:nvPr/>
        </p:nvSpPr>
        <p:spPr>
          <a:xfrm>
            <a:off x="347472" y="367588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5"/>
          <p:cNvSpPr/>
          <p:nvPr/>
        </p:nvSpPr>
        <p:spPr>
          <a:xfrm>
            <a:off x="347472" y="3675888"/>
            <a:ext cx="50292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5"/>
          <p:cNvSpPr/>
          <p:nvPr/>
        </p:nvSpPr>
        <p:spPr>
          <a:xfrm>
            <a:off x="493776" y="376732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Q: How does webhook security work?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5"/>
          <p:cNvSpPr/>
          <p:nvPr/>
        </p:nvSpPr>
        <p:spPr>
          <a:xfrm>
            <a:off x="493776" y="4133088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35"/>
          <p:cNvSpPr/>
          <p:nvPr/>
        </p:nvSpPr>
        <p:spPr>
          <a:xfrm>
            <a:off x="493776" y="42062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A: GitHub signs each POST with HMAC-SHA256. Backend verifies signature using shared webhook secret before processing.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35"/>
          <p:cNvSpPr/>
          <p:nvPr/>
        </p:nvSpPr>
        <p:spPr>
          <a:xfrm>
            <a:off x="4718304" y="3675888"/>
            <a:ext cx="4187952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5"/>
          <p:cNvSpPr/>
          <p:nvPr/>
        </p:nvSpPr>
        <p:spPr>
          <a:xfrm>
            <a:off x="4718304" y="3675888"/>
            <a:ext cx="50292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5"/>
          <p:cNvSpPr/>
          <p:nvPr/>
        </p:nvSpPr>
        <p:spPr>
          <a:xfrm>
            <a:off x="4864608" y="376732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Q: Can this work for Python or JS projects?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35"/>
          <p:cNvSpPr/>
          <p:nvPr/>
        </p:nvSpPr>
        <p:spPr>
          <a:xfrm>
            <a:off x="4864608" y="4133088"/>
            <a:ext cx="3877056" cy="1371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35"/>
          <p:cNvSpPr/>
          <p:nvPr/>
        </p:nvSpPr>
        <p:spPr>
          <a:xfrm>
            <a:off x="4864608" y="42062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A: Currently Java-focused (Maven build validation, Java safety rules). Multi-language is the primary future scope item.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